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61" r:id="rId6"/>
  </p:sldMasterIdLst>
  <p:notesMasterIdLst>
    <p:notesMasterId r:id="rId9"/>
  </p:notesMasterIdLst>
  <p:sldIdLst>
    <p:sldId id="258" r:id="rId7"/>
    <p:sldId id="311" r:id="rId8"/>
    <p:sldId id="31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74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8858F5-D1AE-7179-FEBE-A4E040C90DB2}" v="49" dt="2025-07-08T13:51:20.1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24"/>
    <p:restoredTop sz="94583"/>
  </p:normalViewPr>
  <p:slideViewPr>
    <p:cSldViewPr snapToGrid="0">
      <p:cViewPr varScale="1">
        <p:scale>
          <a:sx n="133" d="100"/>
          <a:sy n="133" d="100"/>
        </p:scale>
        <p:origin x="1680" y="184"/>
      </p:cViewPr>
      <p:guideLst>
        <p:guide orient="horz" pos="3748"/>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microsoft.com/office/2015/10/relationships/revisionInfo" Target="revisionInfo.xml"/>  <Relationship Id="rId15" Type="http://schemas.openxmlformats.org/officeDocument/2006/relationships/slide" Target="slides/slide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AAD14-9C34-4AA5-B94E-6692F6349C36}" type="datetimeFigureOut">
              <a:rPr lang="en-US" smtClean="0"/>
              <a:t>8/3/26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7F935-64E3-4FF9-8DEF-2D51FA78877D}" type="slidenum">
              <a:rPr lang="en-US" smtClean="0"/>
              <a:t>‹Nr.›</a:t>
            </a:fld>
            <a:endParaRPr lang="en-US"/>
          </a:p>
        </p:txBody>
      </p:sp>
    </p:spTree>
    <p:extLst>
      <p:ext uri="{BB962C8B-B14F-4D97-AF65-F5344CB8AC3E}">
        <p14:creationId xmlns:p14="http://schemas.microsoft.com/office/powerpoint/2010/main" val="133659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FF6E-C83F-8F6D-FAA9-6348B152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E8F5D-804C-7604-621C-F5AE2DB48B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25E436-ADB7-2B04-1BDC-4FC761F28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0AF706-5D86-E111-E475-8AC1DAB960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7774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High-level scenario, based on the POS analytics use case from the blog (blog.alexandermartens.de / github.com/martensa/solace-sam-demos, sam-retail). Retail stores stream POSLOG receipts through the Solace event mesh into MongoDB; PDM, OMS and CRM stay in Postgres and are reached through dynamic DB agents.</a:t>
            </a:r>
          </a:p>
          <a:p>
            <a:endParaRPr/>
          </a:p>
          <a:p>
            <a:r>
              <a:t>Demo flow: (1) the browser shop publishes an order event onto the same mesh (sam VPN), (2) the event-mesh entrypoint triggers the order-incident-report workflow, (3) OMS, PDM, CRM and the newly built POS agent analyze in parallel, (4) the Incident Reporter merges everything into an artifact and the result is published back as an event - visible in the shop, in the SAM UI for the OMS team and through the MCP entrypoint in Claude Code for the developers.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6.svg"/><Relationship Id="rId5" Type="http://schemas.openxmlformats.org/officeDocument/2006/relationships/image" Target="../media/image8.svg"/><Relationship Id="rId4" Type="http://schemas.openxmlformats.org/officeDocument/2006/relationships/image" Target="../media/image5.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openxmlformats.org/officeDocument/2006/relationships/image" Target="../media/image10.svg"/><Relationship Id="rId4"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2.xml"/><Relationship Id="rId5" Type="http://schemas.openxmlformats.org/officeDocument/2006/relationships/image" Target="../media/image6.svg"/><Relationship Id="rId4" Type="http://schemas.openxmlformats.org/officeDocument/2006/relationships/image" Target="../media/image5.svg"/></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Master" Target="../slideMasters/slideMaster3.xml"/><Relationship Id="rId4" Type="http://schemas.openxmlformats.org/officeDocument/2006/relationships/image" Target="../media/image16.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8871569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ov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2" y="4581000"/>
            <a:ext cx="4681137" cy="143394"/>
          </a:xfrm>
        </p:spPr>
        <p:txBody>
          <a:bodyPr>
            <a:noAutofit/>
          </a:bodyPr>
          <a:lstStyle>
            <a:lvl1pPr algn="l">
              <a:lnSpc>
                <a:spcPct val="100000"/>
              </a:lnSpc>
              <a:spcAft>
                <a:spcPts val="0"/>
              </a:spcAft>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B59E6556-57B1-B408-D804-9FA5BC1308C4}"/>
              </a:ext>
            </a:extLst>
          </p:cNvPr>
          <p:cNvGrpSpPr/>
          <p:nvPr userDrawn="1"/>
        </p:nvGrpSpPr>
        <p:grpSpPr>
          <a:xfrm>
            <a:off x="5797318" y="332656"/>
            <a:ext cx="6276674" cy="5843298"/>
            <a:chOff x="5797318" y="332656"/>
            <a:chExt cx="6276674" cy="5843298"/>
          </a:xfrm>
        </p:grpSpPr>
        <p:sp>
          <p:nvSpPr>
            <p:cNvPr id="43" name="Graphic 41">
              <a:extLst>
                <a:ext uri="{FF2B5EF4-FFF2-40B4-BE49-F238E27FC236}">
                  <a16:creationId xmlns:a16="http://schemas.microsoft.com/office/drawing/2014/main" id="{969F7A7C-F56B-5EA2-CEDB-C3018FB3E56D}"/>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17" name="Graphic 4">
              <a:extLst>
                <a:ext uri="{FF2B5EF4-FFF2-40B4-BE49-F238E27FC236}">
                  <a16:creationId xmlns:a16="http://schemas.microsoft.com/office/drawing/2014/main" id="{026AA2B3-ADD5-9E91-EE90-8CA8079DF07E}"/>
                </a:ext>
              </a:extLst>
            </p:cNvPr>
            <p:cNvGrpSpPr/>
            <p:nvPr userDrawn="1"/>
          </p:nvGrpSpPr>
          <p:grpSpPr>
            <a:xfrm>
              <a:off x="5797318" y="2132856"/>
              <a:ext cx="4043098" cy="4043098"/>
              <a:chOff x="8800171" y="698369"/>
              <a:chExt cx="2346990" cy="2346990"/>
            </a:xfrm>
            <a:noFill/>
          </p:grpSpPr>
          <p:sp>
            <p:nvSpPr>
              <p:cNvPr id="18" name="Freeform: Shape 17">
                <a:extLst>
                  <a:ext uri="{FF2B5EF4-FFF2-40B4-BE49-F238E27FC236}">
                    <a16:creationId xmlns:a16="http://schemas.microsoft.com/office/drawing/2014/main" id="{446F980C-D371-51A4-BFAF-0D988442E896}"/>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24D33AA-17A5-AD3C-47CB-C235523F6E95}"/>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BEC3E93C-3A6F-6643-610C-12296CC8C6D9}"/>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094DF1C-A969-A8D9-6C37-6553A2B71AFC}"/>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03329D2-BC94-696A-4C35-CDDD8197EB39}"/>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6A3591DD-F3A8-A03D-EB5B-A0EB18871B7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78196927-BBB7-FF95-A5F7-090E1F89D514}"/>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25" name="Graphic 4">
              <a:extLst>
                <a:ext uri="{FF2B5EF4-FFF2-40B4-BE49-F238E27FC236}">
                  <a16:creationId xmlns:a16="http://schemas.microsoft.com/office/drawing/2014/main" id="{9BD377A2-FF86-B752-6A7B-0C7B42F2A65E}"/>
                </a:ext>
              </a:extLst>
            </p:cNvPr>
            <p:cNvGrpSpPr/>
            <p:nvPr userDrawn="1"/>
          </p:nvGrpSpPr>
          <p:grpSpPr>
            <a:xfrm>
              <a:off x="8439748" y="332656"/>
              <a:ext cx="1568431" cy="1568431"/>
              <a:chOff x="6737333" y="3172458"/>
              <a:chExt cx="1303316" cy="1303316"/>
            </a:xfrm>
            <a:noFill/>
          </p:grpSpPr>
          <p:sp>
            <p:nvSpPr>
              <p:cNvPr id="26" name="Freeform: Shape 25">
                <a:extLst>
                  <a:ext uri="{FF2B5EF4-FFF2-40B4-BE49-F238E27FC236}">
                    <a16:creationId xmlns:a16="http://schemas.microsoft.com/office/drawing/2014/main" id="{FA819162-4F92-9CE1-266D-C3036C094DBE}"/>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228DA33-39B2-4FAA-AE60-99CB558A6DCB}"/>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766673F-117F-B1A0-5E0C-011B96A80452}"/>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BB9DD75-E623-1063-4AF7-B388B7C36A44}"/>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0A0E295-63B7-6BCC-483C-4BC95EFEE61C}"/>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45A4E385-FF66-6719-4CB5-DC19293047E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37082CB-E60C-66BA-112C-7E110A2EF0B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45" name="Graphic 44">
              <a:extLst>
                <a:ext uri="{FF2B5EF4-FFF2-40B4-BE49-F238E27FC236}">
                  <a16:creationId xmlns:a16="http://schemas.microsoft.com/office/drawing/2014/main" id="{94426DAB-EC49-97B6-8BAA-250B2F3420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6" name="Footer Placeholder 5">
            <a:extLst>
              <a:ext uri="{FF2B5EF4-FFF2-40B4-BE49-F238E27FC236}">
                <a16:creationId xmlns:a16="http://schemas.microsoft.com/office/drawing/2014/main" id="{593EFF8D-C896-9FCB-CCD9-055E2DEAA1D1}"/>
              </a:ext>
            </a:extLst>
          </p:cNvPr>
          <p:cNvSpPr>
            <a:spLocks noGrp="1"/>
          </p:cNvSpPr>
          <p:nvPr>
            <p:ph type="ftr" sz="quarter" idx="11"/>
          </p:nvPr>
        </p:nvSpPr>
        <p:spPr/>
        <p:txBody>
          <a:bodyPr/>
          <a:lstStyle/>
          <a:p>
            <a:r>
              <a:rPr lang="en-US"/>
              <a:t>© Solace   |   Proprietary &amp; Confidential</a:t>
            </a:r>
          </a:p>
        </p:txBody>
      </p:sp>
      <p:sp>
        <p:nvSpPr>
          <p:cNvPr id="9" name="Slide Number Placeholder 8">
            <a:extLst>
              <a:ext uri="{FF2B5EF4-FFF2-40B4-BE49-F238E27FC236}">
                <a16:creationId xmlns:a16="http://schemas.microsoft.com/office/drawing/2014/main" id="{BD2438CF-A668-47D4-D56F-CEE9B5219C5E}"/>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BA3311E4-A084-8644-4A2C-81E8B32124A6}"/>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3665759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ue Cov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4"/>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91E14C4D-992C-08AD-7433-20C760BC8A78}"/>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B164F4FA-2BB1-E76D-62AA-FDCD0FCA0873}"/>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ED44CC65-E1B1-5D09-E60C-9501318FFDE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989867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ite Cov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0"/>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8C9A80E0-3E50-3DF4-4445-AE338350123C}"/>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DA93DA5D-C211-08C0-E0A0-CB9651D538C9}"/>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011F7999-AF75-0EA8-FBAC-B1B74CC6CE42}"/>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825438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40"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cxnSp>
        <p:nvCxnSpPr>
          <p:cNvPr id="4" name="Straight Connector 3">
            <a:extLst>
              <a:ext uri="{FF2B5EF4-FFF2-40B4-BE49-F238E27FC236}">
                <a16:creationId xmlns:a16="http://schemas.microsoft.com/office/drawing/2014/main" id="{A4E443BB-51E7-DCF5-FEEB-985CCD23F574}"/>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5" name="Footer Placeholder 4">
            <a:extLst>
              <a:ext uri="{FF2B5EF4-FFF2-40B4-BE49-F238E27FC236}">
                <a16:creationId xmlns:a16="http://schemas.microsoft.com/office/drawing/2014/main" id="{E37EDB31-4921-CA49-6DA3-58F3042736A5}"/>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404C5DF-A694-0B09-FE66-2795919627BD}"/>
              </a:ext>
            </a:extLst>
          </p:cNvPr>
          <p:cNvSpPr>
            <a:spLocks noGrp="1"/>
          </p:cNvSpPr>
          <p:nvPr>
            <p:ph type="sldNum" sz="quarter" idx="13"/>
          </p:nvPr>
        </p:nvSpPr>
        <p:spPr/>
        <p:txBody>
          <a:bodyPr/>
          <a:lstStyle/>
          <a:p>
            <a:fld id="{059D0BDF-8BE7-4C3F-9009-83FAF1F2140A}" type="slidenum">
              <a:rPr lang="en-US" smtClean="0"/>
              <a:pPr/>
              <a:t>‹Nr.›</a:t>
            </a:fld>
            <a:endParaRPr lang="en-US"/>
          </a:p>
        </p:txBody>
      </p:sp>
    </p:spTree>
    <p:extLst>
      <p:ext uri="{BB962C8B-B14F-4D97-AF65-F5344CB8AC3E}">
        <p14:creationId xmlns:p14="http://schemas.microsoft.com/office/powerpoint/2010/main" val="45579025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5" y="4940969"/>
            <a:ext cx="4681538"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24CE7AE-58CE-96AA-2526-1BF47A40356F}"/>
              </a:ext>
            </a:extLst>
          </p:cNvPr>
          <p:cNvGrpSpPr/>
          <p:nvPr userDrawn="1"/>
        </p:nvGrpSpPr>
        <p:grpSpPr>
          <a:xfrm>
            <a:off x="6737333" y="698369"/>
            <a:ext cx="4474935" cy="4874457"/>
            <a:chOff x="6737333" y="698369"/>
            <a:chExt cx="4474935" cy="4874457"/>
          </a:xfrm>
        </p:grpSpPr>
        <p:grpSp>
          <p:nvGrpSpPr>
            <p:cNvPr id="6" name="Graphic 4">
              <a:extLst>
                <a:ext uri="{FF2B5EF4-FFF2-40B4-BE49-F238E27FC236}">
                  <a16:creationId xmlns:a16="http://schemas.microsoft.com/office/drawing/2014/main" id="{6EB65E8F-9CA9-71F0-D8F5-FC29B043F334}"/>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27" name="Freeform: Shape 26">
                <a:extLst>
                  <a:ext uri="{FF2B5EF4-FFF2-40B4-BE49-F238E27FC236}">
                    <a16:creationId xmlns:a16="http://schemas.microsoft.com/office/drawing/2014/main" id="{95ACC53D-4BEE-AF60-5546-66484D659290}"/>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89411C5-A6F5-99D2-3BDC-5C3CFF34ED65}"/>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AA1BD2F-9C96-DE17-0088-89B7F888387A}"/>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2F1C5AF-4D3A-56CE-4C75-36C68FDF2DBE}"/>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1A5563-412F-07A3-64A6-BA1F4855709D}"/>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41675E5-1421-9250-2206-0488152261E1}"/>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8EA3808-935F-D778-9C15-1CBBE02D9CEC}"/>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9" name="Graphic 4">
              <a:extLst>
                <a:ext uri="{FF2B5EF4-FFF2-40B4-BE49-F238E27FC236}">
                  <a16:creationId xmlns:a16="http://schemas.microsoft.com/office/drawing/2014/main" id="{5A035051-F97B-FA8D-40FB-E532C67F6D8D}"/>
                </a:ext>
              </a:extLst>
            </p:cNvPr>
            <p:cNvGrpSpPr/>
            <p:nvPr/>
          </p:nvGrpSpPr>
          <p:grpSpPr>
            <a:xfrm>
              <a:off x="8800171" y="698369"/>
              <a:ext cx="2346990" cy="2346990"/>
              <a:chOff x="8800171" y="698369"/>
              <a:chExt cx="2346990" cy="2346990"/>
            </a:xfrm>
            <a:noFill/>
          </p:grpSpPr>
          <p:sp>
            <p:nvSpPr>
              <p:cNvPr id="20" name="Freeform: Shape 19">
                <a:extLst>
                  <a:ext uri="{FF2B5EF4-FFF2-40B4-BE49-F238E27FC236}">
                    <a16:creationId xmlns:a16="http://schemas.microsoft.com/office/drawing/2014/main" id="{91B42713-5ECC-8BEE-8009-11345F43396E}"/>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358644B3-4F92-30F4-EC10-670E2BE38857}"/>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577E4B5-D893-1D5E-669C-6ED12171ED5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F15FC91-0296-2B22-C397-D09390596468}"/>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172C320-CA9E-AE83-770E-4FDEE7129954}"/>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5794F540-E0D1-FD97-1FC6-99443EE8606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9D301E-9BC1-7C89-5422-AF1C6AE4EBD2}"/>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F908A56D-7EC7-11ED-1838-7E47227B0ED5}"/>
                </a:ext>
              </a:extLst>
            </p:cNvPr>
            <p:cNvGrpSpPr/>
            <p:nvPr/>
          </p:nvGrpSpPr>
          <p:grpSpPr>
            <a:xfrm>
              <a:off x="6737333" y="3172458"/>
              <a:ext cx="1303316" cy="1303316"/>
              <a:chOff x="6737333" y="3172458"/>
              <a:chExt cx="1303316" cy="1303316"/>
            </a:xfrm>
            <a:noFill/>
          </p:grpSpPr>
          <p:sp>
            <p:nvSpPr>
              <p:cNvPr id="12" name="Freeform: Shape 11">
                <a:extLst>
                  <a:ext uri="{FF2B5EF4-FFF2-40B4-BE49-F238E27FC236}">
                    <a16:creationId xmlns:a16="http://schemas.microsoft.com/office/drawing/2014/main" id="{F528C196-0211-E2A6-5E71-1D5663AE1962}"/>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0F084FA-C7F7-D6A2-E20A-05C2A383E5B8}"/>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A381927-5B6B-931B-B2AF-84E024B4958C}"/>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5617A130-F3C7-5FA9-8ACD-12B33D9C98CC}"/>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8D4D623D-9E3A-F172-BBD7-4407133986C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72E8E86D-96BA-DFEE-6031-9E75779DEF7E}"/>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C13650FE-10A1-0101-9CB9-E78D91E6D78D}"/>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sp>
        <p:nvSpPr>
          <p:cNvPr id="14" name="Footer Placeholder 13">
            <a:extLst>
              <a:ext uri="{FF2B5EF4-FFF2-40B4-BE49-F238E27FC236}">
                <a16:creationId xmlns:a16="http://schemas.microsoft.com/office/drawing/2014/main" id="{8B1BFACE-16C4-8D5F-D215-24FB73160742}"/>
              </a:ext>
            </a:extLst>
          </p:cNvPr>
          <p:cNvSpPr>
            <a:spLocks noGrp="1"/>
          </p:cNvSpPr>
          <p:nvPr>
            <p:ph type="ftr" sz="quarter" idx="11"/>
          </p:nvPr>
        </p:nvSpPr>
        <p:spPr/>
        <p:txBody>
          <a:bodyPr/>
          <a:lstStyle/>
          <a:p>
            <a:r>
              <a:rPr lang="en-US"/>
              <a:t>© Solace   |   Proprietary &amp; Confidential</a:t>
            </a:r>
          </a:p>
        </p:txBody>
      </p:sp>
      <p:sp>
        <p:nvSpPr>
          <p:cNvPr id="34" name="Slide Number Placeholder 33">
            <a:extLst>
              <a:ext uri="{FF2B5EF4-FFF2-40B4-BE49-F238E27FC236}">
                <a16:creationId xmlns:a16="http://schemas.microsoft.com/office/drawing/2014/main" id="{5985F65F-C79E-326A-2CDA-4BD9345DFD52}"/>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36" name="Straight Connector 35">
            <a:extLst>
              <a:ext uri="{FF2B5EF4-FFF2-40B4-BE49-F238E27FC236}">
                <a16:creationId xmlns:a16="http://schemas.microsoft.com/office/drawing/2014/main" id="{99E720A2-8E73-02A2-9CD1-B84C8DEDA97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05707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sp>
        <p:nvSpPr>
          <p:cNvPr id="5" name="Footer Placeholder 4">
            <a:extLst>
              <a:ext uri="{FF2B5EF4-FFF2-40B4-BE49-F238E27FC236}">
                <a16:creationId xmlns:a16="http://schemas.microsoft.com/office/drawing/2014/main" id="{4807A176-DCF7-5B9F-9B5B-5EB7CBACB73E}"/>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6DCED80-8344-2C03-8D60-01696E11AB6D}"/>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480E6B12-F1B2-16E3-6D92-6C94E647C03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0696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CD92BFD-36C4-49A1-D690-5237D9655006}"/>
              </a:ext>
            </a:extLst>
          </p:cNvPr>
          <p:cNvGrpSpPr/>
          <p:nvPr userDrawn="1"/>
        </p:nvGrpSpPr>
        <p:grpSpPr>
          <a:xfrm>
            <a:off x="6672064" y="764704"/>
            <a:ext cx="5193362" cy="4834784"/>
            <a:chOff x="5797318" y="332656"/>
            <a:chExt cx="6276674" cy="5843298"/>
          </a:xfrm>
        </p:grpSpPr>
        <p:sp>
          <p:nvSpPr>
            <p:cNvPr id="6" name="Graphic 41">
              <a:extLst>
                <a:ext uri="{FF2B5EF4-FFF2-40B4-BE49-F238E27FC236}">
                  <a16:creationId xmlns:a16="http://schemas.microsoft.com/office/drawing/2014/main" id="{4B582EBD-573E-70FB-47B4-2585AF28624A}"/>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9" name="Graphic 4">
              <a:extLst>
                <a:ext uri="{FF2B5EF4-FFF2-40B4-BE49-F238E27FC236}">
                  <a16:creationId xmlns:a16="http://schemas.microsoft.com/office/drawing/2014/main" id="{7F003DB5-18AB-CB92-5006-3AE20CEADE21}"/>
                </a:ext>
              </a:extLst>
            </p:cNvPr>
            <p:cNvGrpSpPr/>
            <p:nvPr userDrawn="1"/>
          </p:nvGrpSpPr>
          <p:grpSpPr>
            <a:xfrm>
              <a:off x="5797318" y="2132856"/>
              <a:ext cx="4043098" cy="4043098"/>
              <a:chOff x="8800171" y="698369"/>
              <a:chExt cx="2346990" cy="2346990"/>
            </a:xfrm>
            <a:noFill/>
          </p:grpSpPr>
          <p:sp>
            <p:nvSpPr>
              <p:cNvPr id="21" name="Freeform: Shape 20">
                <a:extLst>
                  <a:ext uri="{FF2B5EF4-FFF2-40B4-BE49-F238E27FC236}">
                    <a16:creationId xmlns:a16="http://schemas.microsoft.com/office/drawing/2014/main" id="{6DC8F65E-CB97-D68F-D728-2BFCC84E4561}"/>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4F25E8B-87E0-B541-86A9-0B997527D469}"/>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7FFA6ACC-473C-2C2D-2066-4CF9C4CD675C}"/>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27447E5-7416-0D79-6550-1EDE8795BAB9}"/>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B64D6A-98B8-7D49-5034-6E6130343CC6}"/>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4AB58F-35D6-76E7-6A96-8BB0B247A5CC}"/>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B56BB953-645C-2DB1-B367-3776F8F5221C}"/>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CE1C37B9-8134-A7DE-CB46-7AA6AD9F948B}"/>
                </a:ext>
              </a:extLst>
            </p:cNvPr>
            <p:cNvGrpSpPr/>
            <p:nvPr userDrawn="1"/>
          </p:nvGrpSpPr>
          <p:grpSpPr>
            <a:xfrm>
              <a:off x="8439748" y="332656"/>
              <a:ext cx="1568431" cy="1568431"/>
              <a:chOff x="6737333" y="3172458"/>
              <a:chExt cx="1303316" cy="1303316"/>
            </a:xfrm>
            <a:noFill/>
          </p:grpSpPr>
          <p:sp>
            <p:nvSpPr>
              <p:cNvPr id="13" name="Freeform: Shape 12">
                <a:extLst>
                  <a:ext uri="{FF2B5EF4-FFF2-40B4-BE49-F238E27FC236}">
                    <a16:creationId xmlns:a16="http://schemas.microsoft.com/office/drawing/2014/main" id="{10AB55F8-31A0-F272-D57E-4327EA8305D7}"/>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7509D5-73F7-05FB-BFDB-B77904D87C7C}"/>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2580D843-07B7-EB97-7433-9E0FC6203617}"/>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6A99D9B-E6A5-D506-3CB7-3FE2CAB34A43}"/>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0822A634-A566-3095-A3A1-377BB11AAC43}"/>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F7839078-6E36-1B38-C796-8CC92F1E2D6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6F01975D-9061-B6D0-D41E-BB672376CE8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12" name="Graphic 11">
              <a:extLst>
                <a:ext uri="{FF2B5EF4-FFF2-40B4-BE49-F238E27FC236}">
                  <a16:creationId xmlns:a16="http://schemas.microsoft.com/office/drawing/2014/main" id="{28C5C117-6772-0B3F-B242-116E0EEBEB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14" name="Footer Placeholder 13">
            <a:extLst>
              <a:ext uri="{FF2B5EF4-FFF2-40B4-BE49-F238E27FC236}">
                <a16:creationId xmlns:a16="http://schemas.microsoft.com/office/drawing/2014/main" id="{A13CB243-44C1-F6F9-A894-48972650F803}"/>
              </a:ext>
            </a:extLst>
          </p:cNvPr>
          <p:cNvSpPr>
            <a:spLocks noGrp="1"/>
          </p:cNvSpPr>
          <p:nvPr>
            <p:ph type="ftr" sz="quarter" idx="11"/>
          </p:nvPr>
        </p:nvSpPr>
        <p:spPr/>
        <p:txBody>
          <a:bodyPr/>
          <a:lstStyle/>
          <a:p>
            <a:r>
              <a:rPr lang="en-US"/>
              <a:t>© Solace   |   Proprietary &amp; Confidential</a:t>
            </a:r>
          </a:p>
        </p:txBody>
      </p:sp>
      <p:sp>
        <p:nvSpPr>
          <p:cNvPr id="28" name="Slide Number Placeholder 27">
            <a:extLst>
              <a:ext uri="{FF2B5EF4-FFF2-40B4-BE49-F238E27FC236}">
                <a16:creationId xmlns:a16="http://schemas.microsoft.com/office/drawing/2014/main" id="{25AA9A5A-A367-8D0A-D191-34683CE230DC}"/>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94A594FD-8A50-7193-07B8-4E4810456FCA}"/>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4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02092229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Green Divider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39995"/>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1BD1B36-2C00-F65A-451D-1C6B220D515B}"/>
              </a:ext>
            </a:extLst>
          </p:cNvPr>
          <p:cNvSpPr>
            <a:spLocks noGrp="1"/>
          </p:cNvSpPr>
          <p:nvPr>
            <p:ph type="ftr" sz="quarter" idx="10"/>
          </p:nvPr>
        </p:nvSpPr>
        <p:spPr>
          <a:ln>
            <a:solidFill>
              <a:schemeClr val="bg1"/>
            </a:solidFill>
          </a:ln>
        </p:spPr>
        <p:txBody>
          <a:bodyPr/>
          <a:lstStyle>
            <a:lvl1pPr>
              <a:defRPr>
                <a:solidFill>
                  <a:schemeClr val="tx1"/>
                </a:solidFill>
              </a:defRPr>
            </a:lvl1pPr>
          </a:lstStyle>
          <a:p>
            <a:r>
              <a:rPr lang="en-US"/>
              <a:t>© Solace   |   Proprietary &amp; Confidential</a:t>
            </a:r>
          </a:p>
        </p:txBody>
      </p:sp>
      <p:pic>
        <p:nvPicPr>
          <p:cNvPr id="10" name="Graphic 9">
            <a:extLst>
              <a:ext uri="{FF2B5EF4-FFF2-40B4-BE49-F238E27FC236}">
                <a16:creationId xmlns:a16="http://schemas.microsoft.com/office/drawing/2014/main" id="{3E216BBF-AD11-64D7-E0AF-8D45D24760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238508" y="6237352"/>
            <a:ext cx="1402108" cy="360000"/>
          </a:xfrm>
          <a:prstGeom prst="rect">
            <a:avLst/>
          </a:prstGeom>
        </p:spPr>
      </p:pic>
      <p:sp>
        <p:nvSpPr>
          <p:cNvPr id="11" name="Oval 10">
            <a:extLst>
              <a:ext uri="{FF2B5EF4-FFF2-40B4-BE49-F238E27FC236}">
                <a16:creationId xmlns:a16="http://schemas.microsoft.com/office/drawing/2014/main" id="{B50DAFA2-9C2D-40FC-BFC5-E1E6D2B83200}"/>
              </a:ext>
            </a:extLst>
          </p:cNvPr>
          <p:cNvSpPr/>
          <p:nvPr userDrawn="1"/>
        </p:nvSpPr>
        <p:spPr>
          <a:xfrm>
            <a:off x="552000" y="6381000"/>
            <a:ext cx="216000" cy="21635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852C6E6D-163E-8544-DE73-7D1CDA8650F4}"/>
              </a:ext>
            </a:extLst>
          </p:cNvPr>
          <p:cNvSpPr>
            <a:spLocks noGrp="1"/>
          </p:cNvSpPr>
          <p:nvPr>
            <p:ph type="sldNum" sz="quarter" idx="11"/>
          </p:nvPr>
        </p:nvSpPr>
        <p:spPr>
          <a:xfrm flipH="1">
            <a:off x="552000" y="6381000"/>
            <a:ext cx="216000" cy="216000"/>
          </a:xfrm>
        </p:spPr>
        <p:txBody>
          <a:bodyPr/>
          <a:lstStyle/>
          <a:p>
            <a:fld id="{059D0BDF-8BE7-4C3F-9009-83FAF1F2140A}" type="slidenum">
              <a:rPr lang="en-US" smtClean="0"/>
              <a:pPr/>
              <a:t>‹Nr.›</a:t>
            </a:fld>
            <a:endParaRPr lang="en-US"/>
          </a:p>
        </p:txBody>
      </p:sp>
      <p:cxnSp>
        <p:nvCxnSpPr>
          <p:cNvPr id="13" name="Straight Connector 12">
            <a:extLst>
              <a:ext uri="{FF2B5EF4-FFF2-40B4-BE49-F238E27FC236}">
                <a16:creationId xmlns:a16="http://schemas.microsoft.com/office/drawing/2014/main" id="{4B8D4E34-A7C3-E1B7-7486-438F6750315A}"/>
              </a:ext>
            </a:extLst>
          </p:cNvPr>
          <p:cNvCxnSpPr>
            <a:cxnSpLocks/>
          </p:cNvCxnSpPr>
          <p:nvPr userDrawn="1"/>
        </p:nvCxnSpPr>
        <p:spPr>
          <a:xfrm>
            <a:off x="0" y="1053000"/>
            <a:ext cx="3214382" cy="0"/>
          </a:xfrm>
          <a:prstGeom prst="line">
            <a:avLst/>
          </a:prstGeom>
          <a:ln w="31750" cap="flat">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Graphic 15">
            <a:extLst>
              <a:ext uri="{FF2B5EF4-FFF2-40B4-BE49-F238E27FC236}">
                <a16:creationId xmlns:a16="http://schemas.microsoft.com/office/drawing/2014/main" id="{FC61A1CB-D9F9-A727-40EB-A2C367E865DC}"/>
              </a:ext>
            </a:extLst>
          </p:cNvPr>
          <p:cNvPicPr>
            <a:picLocks noChangeAspect="1"/>
          </p:cNvPicPr>
          <p:nvPr userDrawn="1"/>
        </p:nvPicPr>
        <p:blipFill>
          <a:blip>
            <a:extLst>
              <a:ext uri="{96DAC541-7B7A-43D3-8B79-37D633B846F1}">
                <asvg:svgBlip xmlns:asvg="http://schemas.microsoft.com/office/drawing/2016/SVG/main" r:embed="rId6"/>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829680950"/>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Divid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8408"/>
            <a:ext cx="5833169" cy="3233116"/>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2A4254B-55D4-0929-C427-AAA71A9EF5B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241FAC5A-F022-653C-A96C-B80EBBDE19A2}"/>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4" name="Straight Connector 3">
            <a:extLst>
              <a:ext uri="{FF2B5EF4-FFF2-40B4-BE49-F238E27FC236}">
                <a16:creationId xmlns:a16="http://schemas.microsoft.com/office/drawing/2014/main" id="{97BB5BD1-BFD0-3AC6-C718-D5707C28AFD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0" name="Graphic 9">
            <a:extLst>
              <a:ext uri="{FF2B5EF4-FFF2-40B4-BE49-F238E27FC236}">
                <a16:creationId xmlns:a16="http://schemas.microsoft.com/office/drawing/2014/main" id="{F753A11D-F30A-BF3A-76C0-84C62D52A10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727715584"/>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24822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5585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67440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42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1692531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13032190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963784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97921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5081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0906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78960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276132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0266952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55357384"/>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70091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542795"/>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8465207"/>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970363"/>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7534161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1603873855"/>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082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387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95852461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833636541"/>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5059" y="252000"/>
            <a:ext cx="4066941" cy="6606000"/>
          </a:xfrm>
          <a:solidFill>
            <a:schemeClr val="tx2">
              <a:alpha val="70000"/>
            </a:schemeClr>
          </a:solidFill>
        </p:spPr>
        <p:txBody>
          <a:bodyPr vert="horz" lIns="0" tIns="2448000" rIns="0" bIns="0" rtlCol="0" anchor="t" anchorCtr="0">
            <a:noAutofit/>
          </a:bodyPr>
          <a:lstStyle>
            <a:lvl1pPr marL="0" indent="0" algn="ctr" defTabSz="1087905" rtl="0" eaLnBrk="1" latinLnBrk="0" hangingPunct="1">
              <a:spcBef>
                <a:spcPts val="1927"/>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868" y="1620000"/>
            <a:ext cx="7090154"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3870" y="504000"/>
            <a:ext cx="709015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07067376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2" y="1091638"/>
            <a:ext cx="3389298" cy="576636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386" tIns="25386" rIns="25386" bIns="25386" numCol="1" spcCol="38100" rtlCol="0" anchor="ctr">
            <a:noAutofit/>
          </a:bodyPr>
          <a:lstStyle/>
          <a:p>
            <a:pPr marL="0" marR="0" indent="0" algn="ctr" defTabSz="437888" rtl="0" fontAlgn="auto" latinLnBrk="0" hangingPunct="0">
              <a:lnSpc>
                <a:spcPct val="100000"/>
              </a:lnSpc>
              <a:spcBef>
                <a:spcPts val="0"/>
              </a:spcBef>
              <a:spcAft>
                <a:spcPts val="0"/>
              </a:spcAft>
              <a:buClrTx/>
              <a:buSzTx/>
              <a:buFontTx/>
              <a:buNone/>
              <a:tabLst/>
            </a:pPr>
            <a:endParaRPr kumimoji="0" lang="en-US" sz="2998"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3646373" y="1337310"/>
            <a:ext cx="3886200" cy="481076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243840" y="1337310"/>
            <a:ext cx="2743200" cy="48107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598262" y="348398"/>
            <a:ext cx="11147766" cy="457048"/>
          </a:xfrm>
        </p:spPr>
        <p:txBody>
          <a:bodyPr anchor="ctr" anchorCtr="0"/>
          <a:lstStyle>
            <a:lvl1pPr>
              <a:lnSpc>
                <a:spcPct val="90000"/>
              </a:lnSpc>
              <a:defRPr sz="3298"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7859826" y="1337310"/>
            <a:ext cx="3886200" cy="48107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pyright">
            <a:extLst>
              <a:ext uri="{FF2B5EF4-FFF2-40B4-BE49-F238E27FC236}">
                <a16:creationId xmlns:a16="http://schemas.microsoft.com/office/drawing/2014/main" id="{FE7BE675-DF07-A079-5A51-982091CCDC7A}"/>
              </a:ext>
            </a:extLst>
          </p:cNvPr>
          <p:cNvSpPr txBox="1"/>
          <p:nvPr userDrawn="1"/>
        </p:nvSpPr>
        <p:spPr bwMode="black">
          <a:xfrm>
            <a:off x="503870" y="6559837"/>
            <a:ext cx="2269088" cy="92333"/>
          </a:xfrm>
          <a:prstGeom prst="rect">
            <a:avLst/>
          </a:prstGeom>
          <a:noFill/>
        </p:spPr>
        <p:txBody>
          <a:bodyPr wrap="square" lIns="0" tIns="0" rIns="0" bIns="0" rtlCol="0">
            <a:spAutoFit/>
          </a:bodyPr>
          <a:lstStyle/>
          <a:p>
            <a:pPr marL="84071" marR="0" indent="-84071" algn="l" defTabSz="1087905"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2022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6606072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620000"/>
            <a:ext cx="11183565"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66986770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3869" y="1557338"/>
            <a:ext cx="11182288" cy="4778662"/>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341946242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981">
          <p15:clr>
            <a:srgbClr val="FBAE40"/>
          </p15:clr>
        </p15:guide>
        <p15:guide id="5" orient="horz" pos="3991">
          <p15:clr>
            <a:srgbClr val="FBAE40"/>
          </p15:clr>
        </p15:guide>
        <p15:guide id="6" pos="7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79283225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190911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06265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58928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60203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4598115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095088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39852852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42334139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39656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67156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47279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480056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94697509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29958757"/>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700590"/>
      </p:ext>
    </p:extLst>
  </p:cSld>
  <p:clrMapOvr>
    <a:overrideClrMapping bg1="dk1" tx1="lt1" bg2="dk2" tx2="lt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3111320"/>
      </p:ext>
    </p:extLst>
  </p:cSld>
  <p:clrMapOvr>
    <a:overrideClrMapping bg1="dk1" tx1="lt1" bg2="dk2" tx2="lt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84275249"/>
      </p:ext>
    </p:extLst>
  </p:cSld>
  <p:clrMapOvr>
    <a:overrideClrMapping bg1="dk1" tx1="lt1" bg2="dk2" tx2="lt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3915300"/>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67468303"/>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115524394"/>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1388694325"/>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White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7"/>
            <a:ext cx="11088000" cy="4895851"/>
          </a:xfrm>
        </p:spPr>
        <p:txBody>
          <a:bodyPr>
            <a:noAutofit/>
          </a:bodyPr>
          <a:lstStyle>
            <a:lvl5pPr>
              <a:defRPr/>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1"/>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1" y="1053000"/>
            <a:ext cx="321438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235127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2"/>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3"/>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4"/>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1023364642"/>
      </p:ext>
    </p:extLst>
  </p:cSld>
  <p:clrMapOvr>
    <a:overrideClrMapping bg1="dk1" tx1="lt1" bg2="dk2" tx2="lt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2-column White">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598261" y="1347854"/>
            <a:ext cx="5069486" cy="4800600"/>
          </a:xfrm>
        </p:spPr>
        <p:txBody>
          <a:bodyPr/>
          <a:lstStyle>
            <a:lvl1pPr>
              <a:defRPr b="0"/>
            </a:lvl1pPr>
            <a:lvl2pPr>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3C9FDF5E-4912-46E1-BC83-7C00373624AF}"/>
              </a:ext>
            </a:extLst>
          </p:cNvPr>
          <p:cNvSpPr>
            <a:spLocks noGrp="1"/>
          </p:cNvSpPr>
          <p:nvPr>
            <p:ph sz="quarter" idx="14"/>
          </p:nvPr>
        </p:nvSpPr>
        <p:spPr>
          <a:xfrm>
            <a:off x="6096000" y="1347470"/>
            <a:ext cx="5069682" cy="4800600"/>
          </a:xfrm>
        </p:spPr>
        <p:txBody>
          <a:bodyPr/>
          <a:lstStyle>
            <a:lvl2pPr marL="571500" indent="-187325">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6" name="Footer Placeholder 1">
            <a:extLst>
              <a:ext uri="{FF2B5EF4-FFF2-40B4-BE49-F238E27FC236}">
                <a16:creationId xmlns:a16="http://schemas.microsoft.com/office/drawing/2014/main" id="{5DC2B4BF-E585-5CF2-A59B-561A9024ECD4}"/>
              </a:ext>
            </a:extLst>
          </p:cNvPr>
          <p:cNvSpPr>
            <a:spLocks noGrp="1"/>
          </p:cNvSpPr>
          <p:nvPr>
            <p:ph type="ftr" sz="quarter" idx="3"/>
          </p:nvPr>
        </p:nvSpPr>
        <p:spPr>
          <a:xfrm>
            <a:off x="636982" y="6476284"/>
            <a:ext cx="1586914" cy="244977"/>
          </a:xfrm>
          <a:prstGeom prst="rect">
            <a:avLst/>
          </a:prstGeom>
        </p:spPr>
        <p:txBody>
          <a:bodyPr vert="horz" lIns="91440" tIns="45720" rIns="91440" bIns="45720" rtlCol="0" anchor="ctr"/>
          <a:lstStyle>
            <a:lvl1pPr algn="l">
              <a:lnSpc>
                <a:spcPct val="80000"/>
              </a:lnSpc>
              <a:defRPr sz="1000" b="0">
                <a:solidFill>
                  <a:schemeClr val="tx2"/>
                </a:solidFill>
                <a:latin typeface="Calibri" panose="020F0502020204030204" pitchFamily="34" charset="0"/>
                <a:cs typeface="Calibri" panose="020F0502020204030204" pitchFamily="34" charset="0"/>
              </a:defRPr>
            </a:lvl1pPr>
          </a:lstStyle>
          <a:p>
            <a:r>
              <a:rPr lang="en-US"/>
              <a:t>Copyright Solace</a:t>
            </a:r>
            <a:br>
              <a:rPr lang="en-US"/>
            </a:br>
            <a:r>
              <a:rPr lang="en-US"/>
              <a:t>Proprietary &amp; Confidential</a:t>
            </a:r>
          </a:p>
        </p:txBody>
      </p:sp>
      <p:sp>
        <p:nvSpPr>
          <p:cNvPr id="7" name="Slide Number Placeholder 2">
            <a:extLst>
              <a:ext uri="{FF2B5EF4-FFF2-40B4-BE49-F238E27FC236}">
                <a16:creationId xmlns:a16="http://schemas.microsoft.com/office/drawing/2014/main" id="{DD11A02F-8FD9-4E5F-7E9C-BEB26C60098E}"/>
              </a:ext>
            </a:extLst>
          </p:cNvPr>
          <p:cNvSpPr>
            <a:spLocks noGrp="1"/>
          </p:cNvSpPr>
          <p:nvPr>
            <p:ph type="sldNum" sz="quarter" idx="4"/>
          </p:nvPr>
        </p:nvSpPr>
        <p:spPr>
          <a:xfrm>
            <a:off x="103988" y="6479144"/>
            <a:ext cx="504825" cy="224968"/>
          </a:xfrm>
          <a:prstGeom prst="rect">
            <a:avLst/>
          </a:prstGeom>
        </p:spPr>
        <p:txBody>
          <a:bodyPr vert="horz" lIns="91440" tIns="45720" rIns="91440" bIns="45720" rtlCol="0" anchor="ctr"/>
          <a:lstStyle>
            <a:lvl1pPr algn="ctr">
              <a:defRPr sz="1400" b="1">
                <a:solidFill>
                  <a:srgbClr val="093B5F"/>
                </a:solidFill>
                <a:latin typeface="Calibri" panose="020F0502020204030204" pitchFamily="34" charset="0"/>
                <a:cs typeface="Calibri" panose="020F0502020204030204" pitchFamily="34" charset="0"/>
              </a:defRPr>
            </a:lvl1pPr>
          </a:lstStyle>
          <a:p>
            <a:fld id="{46295180-FDB1-4196-84A4-AB3CBFFFE894}" type="slidenum">
              <a:rPr lang="en-US" smtClean="0"/>
              <a:pPr/>
              <a:t>‹Nr.›</a:t>
            </a:fld>
            <a:endParaRPr lang="en-US"/>
          </a:p>
        </p:txBody>
      </p:sp>
      <p:sp>
        <p:nvSpPr>
          <p:cNvPr id="2" name="Title Text">
            <a:extLst>
              <a:ext uri="{FF2B5EF4-FFF2-40B4-BE49-F238E27FC236}">
                <a16:creationId xmlns:a16="http://schemas.microsoft.com/office/drawing/2014/main" id="{EA6BA173-541C-63CD-AB4F-E32C9A2BBA73}"/>
              </a:ext>
            </a:extLst>
          </p:cNvPr>
          <p:cNvSpPr txBox="1">
            <a:spLocks noGrp="1"/>
          </p:cNvSpPr>
          <p:nvPr>
            <p:ph type="title"/>
          </p:nvPr>
        </p:nvSpPr>
        <p:spPr>
          <a:xfrm>
            <a:off x="598263" y="59465"/>
            <a:ext cx="11231789" cy="965456"/>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ctr" anchorCtr="0"/>
          <a:lstStyle/>
          <a:p>
            <a:endParaRPr/>
          </a:p>
        </p:txBody>
      </p:sp>
    </p:spTree>
    <p:extLst>
      <p:ext uri="{BB962C8B-B14F-4D97-AF65-F5344CB8AC3E}">
        <p14:creationId xmlns:p14="http://schemas.microsoft.com/office/powerpoint/2010/main" val="39030252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sv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image" Target="../media/image3.sv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26" Type="http://schemas.openxmlformats.org/officeDocument/2006/relationships/image" Target="../media/image3.svg"/><Relationship Id="rId3" Type="http://schemas.openxmlformats.org/officeDocument/2006/relationships/slideLayout" Target="../slideLayouts/slideLayout41.xml"/><Relationship Id="rId21" Type="http://schemas.openxmlformats.org/officeDocument/2006/relationships/slideLayout" Target="../slideLayouts/slideLayout59.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5" Type="http://schemas.openxmlformats.org/officeDocument/2006/relationships/theme" Target="../theme/theme3.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slideLayout" Target="../slideLayouts/slideLayout58.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24" Type="http://schemas.openxmlformats.org/officeDocument/2006/relationships/slideLayout" Target="../slideLayouts/slideLayout62.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23" Type="http://schemas.openxmlformats.org/officeDocument/2006/relationships/slideLayout" Target="../slideLayouts/slideLayout61.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 Id="rId22"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A3B166F3-B7E3-8F7D-DD55-374CDD77829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11089754"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1438"/>
            <a:ext cx="11088000" cy="475185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211" name="Graphic 210">
            <a:extLst>
              <a:ext uri="{FF2B5EF4-FFF2-40B4-BE49-F238E27FC236}">
                <a16:creationId xmlns:a16="http://schemas.microsoft.com/office/drawing/2014/main" id="{6AF4FEA6-CCA3-5154-98D3-775009DADAF1}"/>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238508" y="6237352"/>
            <a:ext cx="1402108" cy="360000"/>
          </a:xfrm>
          <a:prstGeom prst="rect">
            <a:avLst/>
          </a:prstGeom>
        </p:spPr>
      </p:pic>
      <p:sp>
        <p:nvSpPr>
          <p:cNvPr id="5" name="Footer Placeholder 4">
            <a:extLst>
              <a:ext uri="{FF2B5EF4-FFF2-40B4-BE49-F238E27FC236}">
                <a16:creationId xmlns:a16="http://schemas.microsoft.com/office/drawing/2014/main" id="{C860D63A-3DCF-6F76-37D2-BB1047842876}"/>
              </a:ext>
            </a:extLst>
          </p:cNvPr>
          <p:cNvSpPr>
            <a:spLocks noGrp="1"/>
          </p:cNvSpPr>
          <p:nvPr>
            <p:ph type="ftr" sz="quarter" idx="3"/>
          </p:nvPr>
        </p:nvSpPr>
        <p:spPr>
          <a:xfrm>
            <a:off x="840000" y="6381000"/>
            <a:ext cx="1512000"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defRPr>
            </a:lvl1pPr>
          </a:lstStyle>
          <a:p>
            <a:r>
              <a:rPr lang="en-US"/>
              <a:t>© Solace   |   Proprietary &amp; Confidential</a:t>
            </a:r>
          </a:p>
        </p:txBody>
      </p:sp>
      <p:sp>
        <p:nvSpPr>
          <p:cNvPr id="6" name="Slide Number Placeholder 5">
            <a:extLst>
              <a:ext uri="{FF2B5EF4-FFF2-40B4-BE49-F238E27FC236}">
                <a16:creationId xmlns:a16="http://schemas.microsoft.com/office/drawing/2014/main" id="{1D2FE529-5FD5-3C60-3388-392DEFE0C9F7}"/>
              </a:ext>
            </a:extLst>
          </p:cNvPr>
          <p:cNvSpPr>
            <a:spLocks noGrp="1"/>
          </p:cNvSpPr>
          <p:nvPr>
            <p:ph type="sldNum" sz="quarter" idx="4"/>
          </p:nvPr>
        </p:nvSpPr>
        <p:spPr>
          <a:xfrm flipH="1">
            <a:off x="550862" y="6381000"/>
            <a:ext cx="216000" cy="216000"/>
          </a:xfrm>
          <a:prstGeom prst="rect">
            <a:avLst/>
          </a:prstGeom>
        </p:spPr>
        <p:txBody>
          <a:bodyPr vert="horz" lIns="0" tIns="0" rIns="0" bIns="0" rtlCol="0" anchor="ctr"/>
          <a:lstStyle>
            <a:lvl1pPr algn="ctr">
              <a:defRPr sz="800" b="1">
                <a:solidFill>
                  <a:schemeClr val="tx1"/>
                </a:solidFill>
              </a:defRPr>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475790673"/>
      </p:ext>
    </p:extLst>
  </p:cSld>
  <p:clrMap bg1="lt1" tx1="dk1" bg2="lt2" tx2="dk2" accent1="accent1" accent2="accent2" accent3="accent3" accent4="accent4" accent5="accent5" accent6="accent6" hlink="hlink" folHlink="folHlink"/>
  <p:sldLayoutIdLst>
    <p:sldLayoutId id="2147483664" r:id="rId1"/>
    <p:sldLayoutId id="2147483667" r:id="rId2"/>
    <p:sldLayoutId id="2147483708" r:id="rId3"/>
    <p:sldLayoutId id="2147483710" r:id="rId4"/>
    <p:sldLayoutId id="2147483712" r:id="rId5"/>
    <p:sldLayoutId id="2147483714" r:id="rId6"/>
    <p:sldLayoutId id="2147483713" r:id="rId7"/>
    <p:sldLayoutId id="2147483715" r:id="rId8"/>
    <p:sldLayoutId id="2147483717" r:id="rId9"/>
    <p:sldLayoutId id="2147483716" r:id="rId10"/>
    <p:sldLayoutId id="2147483703" r:id="rId11"/>
  </p:sldLayoutIdLst>
  <p:hf hdr="0" dt="0"/>
  <p:txStyles>
    <p:titleStyle>
      <a:lvl1pPr algn="l" defTabSz="914400" rtl="0" eaLnBrk="1" latinLnBrk="0" hangingPunct="1">
        <a:lnSpc>
          <a:spcPct val="80000"/>
        </a:lnSpc>
        <a:spcBef>
          <a:spcPct val="0"/>
        </a:spcBef>
        <a:buNone/>
        <a:defRPr sz="3200" b="1" kern="1200">
          <a:solidFill>
            <a:schemeClr val="tx1"/>
          </a:solidFill>
          <a:latin typeface="+mn-lt"/>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mn-lt"/>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mn-lt"/>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mn-lt"/>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mn-lt"/>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38" orient="horz" pos="4065" userDrawn="1">
          <p15:clr>
            <a:srgbClr val="F26B43"/>
          </p15:clr>
        </p15:guide>
        <p15:guide id="40" orient="horz" pos="4156" userDrawn="1">
          <p15:clr>
            <a:srgbClr val="F26B43"/>
          </p15:clr>
        </p15:guide>
        <p15:guide id="41" orient="horz" pos="4320" userDrawn="1">
          <p15:clr>
            <a:srgbClr val="F26B43"/>
          </p15:clr>
        </p15:guide>
        <p15:guide id="42" orient="horz" pos="84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1761218609"/>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82" r:id="rId3"/>
    <p:sldLayoutId id="2147483752" r:id="rId4"/>
    <p:sldLayoutId id="2147483750" r:id="rId5"/>
    <p:sldLayoutId id="2147483751" r:id="rId6"/>
    <p:sldLayoutId id="2147483683" r:id="rId7"/>
    <p:sldLayoutId id="2147483684" r:id="rId8"/>
    <p:sldLayoutId id="2147483690" r:id="rId9"/>
    <p:sldLayoutId id="2147483689" r:id="rId10"/>
    <p:sldLayoutId id="2147483692" r:id="rId11"/>
    <p:sldLayoutId id="2147483694" r:id="rId12"/>
    <p:sldLayoutId id="2147483695" r:id="rId13"/>
    <p:sldLayoutId id="2147483696" r:id="rId14"/>
    <p:sldLayoutId id="2147483697" r:id="rId15"/>
    <p:sldLayoutId id="2147483698" r:id="rId16"/>
    <p:sldLayoutId id="2147483753" r:id="rId17"/>
    <p:sldLayoutId id="2147483704" r:id="rId18"/>
    <p:sldLayoutId id="2147483705" r:id="rId19"/>
    <p:sldLayoutId id="2147483699" r:id="rId20"/>
    <p:sldLayoutId id="2147483754" r:id="rId21"/>
    <p:sldLayoutId id="2147483755" r:id="rId22"/>
    <p:sldLayoutId id="2147483756" r:id="rId23"/>
    <p:sldLayoutId id="2147483757" r:id="rId24"/>
    <p:sldLayoutId id="2147483758" r:id="rId25"/>
    <p:sldLayoutId id="2147483759" r:id="rId26"/>
    <p:sldLayoutId id="2147483760" r:id="rId27"/>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40" orient="horz" pos="4156" userDrawn="1">
          <p15:clr>
            <a:srgbClr val="F26B43"/>
          </p15:clr>
        </p15:guide>
        <p15:guide id="41" orient="horz" pos="3929" userDrawn="1">
          <p15:clr>
            <a:srgbClr val="F26B43"/>
          </p15:clr>
        </p15:guide>
        <p15:guide id="42" orient="horz" pos="845" userDrawn="1">
          <p15:clr>
            <a:srgbClr val="F26B43"/>
          </p15:clr>
        </p15:guide>
        <p15:guide id="43" orient="horz" pos="4065"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399753072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65" r:id="rId4"/>
    <p:sldLayoutId id="2147483766" r:id="rId5"/>
    <p:sldLayoutId id="2147483767" r:id="rId6"/>
    <p:sldLayoutId id="2147483768" r:id="rId7"/>
    <p:sldLayoutId id="2147483769" r:id="rId8"/>
    <p:sldLayoutId id="2147483770" r:id="rId9"/>
    <p:sldLayoutId id="2147483771" r:id="rId10"/>
    <p:sldLayoutId id="2147483772" r:id="rId11"/>
    <p:sldLayoutId id="2147483773" r:id="rId12"/>
    <p:sldLayoutId id="2147483774" r:id="rId13"/>
    <p:sldLayoutId id="2147483775" r:id="rId14"/>
    <p:sldLayoutId id="2147483776" r:id="rId15"/>
    <p:sldLayoutId id="2147483777" r:id="rId16"/>
    <p:sldLayoutId id="2147483778" r:id="rId17"/>
    <p:sldLayoutId id="2147483779" r:id="rId18"/>
    <p:sldLayoutId id="2147483780" r:id="rId19"/>
    <p:sldLayoutId id="2147483781" r:id="rId20"/>
    <p:sldLayoutId id="2147483782" r:id="rId21"/>
    <p:sldLayoutId id="2147483783" r:id="rId22"/>
    <p:sldLayoutId id="2147483784" r:id="rId23"/>
    <p:sldLayoutId id="2147483785" r:id="rId24"/>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p15:clr>
            <a:srgbClr val="F26B43"/>
          </p15:clr>
        </p15:guide>
        <p15:guide id="2" pos="347">
          <p15:clr>
            <a:srgbClr val="F26B43"/>
          </p15:clr>
        </p15:guide>
        <p15:guide id="3" pos="7333">
          <p15:clr>
            <a:srgbClr val="F26B43"/>
          </p15:clr>
        </p15:guide>
        <p15:guide id="4" pos="846">
          <p15:clr>
            <a:srgbClr val="F26B43"/>
          </p15:clr>
        </p15:guide>
        <p15:guide id="5" pos="937">
          <p15:clr>
            <a:srgbClr val="F26B43"/>
          </p15:clr>
        </p15:guide>
        <p15:guide id="6" pos="1436">
          <p15:clr>
            <a:srgbClr val="F26B43"/>
          </p15:clr>
        </p15:guide>
        <p15:guide id="7" pos="1526">
          <p15:clr>
            <a:srgbClr val="F26B43"/>
          </p15:clr>
        </p15:guide>
        <p15:guide id="8" pos="2025">
          <p15:clr>
            <a:srgbClr val="F26B43"/>
          </p15:clr>
        </p15:guide>
        <p15:guide id="9" pos="2115">
          <p15:clr>
            <a:srgbClr val="F26B43"/>
          </p15:clr>
        </p15:guide>
        <p15:guide id="10" pos="2615">
          <p15:clr>
            <a:srgbClr val="F26B43"/>
          </p15:clr>
        </p15:guide>
        <p15:guide id="11" pos="2706">
          <p15:clr>
            <a:srgbClr val="F26B43"/>
          </p15:clr>
        </p15:guide>
        <p15:guide id="12" pos="3205">
          <p15:clr>
            <a:srgbClr val="F26B43"/>
          </p15:clr>
        </p15:guide>
        <p15:guide id="13" pos="3296">
          <p15:clr>
            <a:srgbClr val="F26B43"/>
          </p15:clr>
        </p15:guide>
        <p15:guide id="14" pos="3795">
          <p15:clr>
            <a:srgbClr val="F26B43"/>
          </p15:clr>
        </p15:guide>
        <p15:guide id="15" pos="3885">
          <p15:clr>
            <a:srgbClr val="F26B43"/>
          </p15:clr>
        </p15:guide>
        <p15:guide id="16" pos="4475">
          <p15:clr>
            <a:srgbClr val="F26B43"/>
          </p15:clr>
        </p15:guide>
        <p15:guide id="17" pos="4384">
          <p15:clr>
            <a:srgbClr val="F26B43"/>
          </p15:clr>
        </p15:guide>
        <p15:guide id="18" pos="4974">
          <p15:clr>
            <a:srgbClr val="F26B43"/>
          </p15:clr>
        </p15:guide>
        <p15:guide id="19" pos="5065">
          <p15:clr>
            <a:srgbClr val="F26B43"/>
          </p15:clr>
        </p15:guide>
        <p15:guide id="20" pos="5564">
          <p15:clr>
            <a:srgbClr val="F26B43"/>
          </p15:clr>
        </p15:guide>
        <p15:guide id="21" pos="5654">
          <p15:clr>
            <a:srgbClr val="F26B43"/>
          </p15:clr>
        </p15:guide>
        <p15:guide id="22" pos="6153">
          <p15:clr>
            <a:srgbClr val="F26B43"/>
          </p15:clr>
        </p15:guide>
        <p15:guide id="23" pos="6244">
          <p15:clr>
            <a:srgbClr val="F26B43"/>
          </p15:clr>
        </p15:guide>
        <p15:guide id="24" pos="6743">
          <p15:clr>
            <a:srgbClr val="F26B43"/>
          </p15:clr>
        </p15:guide>
        <p15:guide id="25" pos="6834">
          <p15:clr>
            <a:srgbClr val="F26B43"/>
          </p15:clr>
        </p15:guide>
        <p15:guide id="26" orient="horz" pos="1706">
          <p15:clr>
            <a:srgbClr val="F26B43"/>
          </p15:clr>
        </p15:guide>
        <p15:guide id="27" orient="horz" pos="1117">
          <p15:clr>
            <a:srgbClr val="F26B43"/>
          </p15:clr>
        </p15:guide>
        <p15:guide id="28" orient="horz" pos="1207">
          <p15:clr>
            <a:srgbClr val="F26B43"/>
          </p15:clr>
        </p15:guide>
        <p15:guide id="29" orient="horz" pos="663">
          <p15:clr>
            <a:srgbClr val="F26B43"/>
          </p15:clr>
        </p15:guide>
        <p15:guide id="30" orient="horz" pos="527">
          <p15:clr>
            <a:srgbClr val="F26B43"/>
          </p15:clr>
        </p15:guide>
        <p15:guide id="31" orient="horz" pos="210">
          <p15:clr>
            <a:srgbClr val="F26B43"/>
          </p15:clr>
        </p15:guide>
        <p15:guide id="32" orient="horz" pos="2296">
          <p15:clr>
            <a:srgbClr val="F26B43"/>
          </p15:clr>
        </p15:guide>
        <p15:guide id="33" orient="horz" pos="2387">
          <p15:clr>
            <a:srgbClr val="F26B43"/>
          </p15:clr>
        </p15:guide>
        <p15:guide id="34" orient="horz" pos="2886">
          <p15:clr>
            <a:srgbClr val="F26B43"/>
          </p15:clr>
        </p15:guide>
        <p15:guide id="35" orient="horz" pos="2976">
          <p15:clr>
            <a:srgbClr val="F26B43"/>
          </p15:clr>
        </p15:guide>
        <p15:guide id="36" orient="horz" pos="3475">
          <p15:clr>
            <a:srgbClr val="F26B43"/>
          </p15:clr>
        </p15:guide>
        <p15:guide id="37" orient="horz" pos="3566">
          <p15:clr>
            <a:srgbClr val="F26B43"/>
          </p15:clr>
        </p15:guide>
        <p15:guide id="40" orient="horz" pos="4156">
          <p15:clr>
            <a:srgbClr val="F26B43"/>
          </p15:clr>
        </p15:guide>
        <p15:guide id="41" orient="horz" pos="3929">
          <p15:clr>
            <a:srgbClr val="F26B43"/>
          </p15:clr>
        </p15:guide>
        <p15:guide id="42" orient="horz" pos="845">
          <p15:clr>
            <a:srgbClr val="F26B43"/>
          </p15:clr>
        </p15:guide>
        <p15:guide id="43" orient="horz" pos="4065">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50.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jpeg"/><Relationship Id="rId18" Type="http://schemas.openxmlformats.org/officeDocument/2006/relationships/image" Target="../media/image39.png"/><Relationship Id="rId26" Type="http://schemas.openxmlformats.org/officeDocument/2006/relationships/image" Target="../media/image47.png"/><Relationship Id="rId3" Type="http://schemas.openxmlformats.org/officeDocument/2006/relationships/image" Target="../media/image24.png"/><Relationship Id="rId21" Type="http://schemas.openxmlformats.org/officeDocument/2006/relationships/image" Target="../media/image42.svg"/><Relationship Id="rId7" Type="http://schemas.openxmlformats.org/officeDocument/2006/relationships/image" Target="../media/image28.png"/><Relationship Id="rId12" Type="http://schemas.openxmlformats.org/officeDocument/2006/relationships/image" Target="../media/image33.svg"/><Relationship Id="rId17" Type="http://schemas.openxmlformats.org/officeDocument/2006/relationships/image" Target="../media/image38.svg"/><Relationship Id="rId25" Type="http://schemas.openxmlformats.org/officeDocument/2006/relationships/image" Target="../media/image46.svg"/><Relationship Id="rId2" Type="http://schemas.openxmlformats.org/officeDocument/2006/relationships/notesSlide" Target="../notesSlides/notesSlide2.xml"/><Relationship Id="rId16" Type="http://schemas.openxmlformats.org/officeDocument/2006/relationships/image" Target="../media/image37.png"/><Relationship Id="rId20" Type="http://schemas.openxmlformats.org/officeDocument/2006/relationships/image" Target="../media/image41.svg"/><Relationship Id="rId1" Type="http://schemas.openxmlformats.org/officeDocument/2006/relationships/slideLayout" Target="../slideLayouts/slideLayout23.xml"/><Relationship Id="rId6" Type="http://schemas.openxmlformats.org/officeDocument/2006/relationships/image" Target="../media/image27.png"/><Relationship Id="rId11" Type="http://schemas.openxmlformats.org/officeDocument/2006/relationships/image" Target="../media/image32.svg"/><Relationship Id="rId24" Type="http://schemas.openxmlformats.org/officeDocument/2006/relationships/image" Target="../media/image45.png"/><Relationship Id="rId5" Type="http://schemas.openxmlformats.org/officeDocument/2006/relationships/image" Target="../media/image26.png"/><Relationship Id="rId15" Type="http://schemas.openxmlformats.org/officeDocument/2006/relationships/image" Target="../media/image36.svg"/><Relationship Id="rId23" Type="http://schemas.openxmlformats.org/officeDocument/2006/relationships/image" Target="../media/image44.png"/><Relationship Id="rId10" Type="http://schemas.openxmlformats.org/officeDocument/2006/relationships/image" Target="../media/image31.svg"/><Relationship Id="rId19" Type="http://schemas.openxmlformats.org/officeDocument/2006/relationships/image" Target="../media/image40.sv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5.png"/><Relationship Id="rId22" Type="http://schemas.openxmlformats.org/officeDocument/2006/relationships/image" Target="../media/image43.png"/></Relationships>
</file>

<file path=ppt/slides/_rels/slide3.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png"/><Relationship Id="rId7" Type="http://schemas.openxmlformats.org/officeDocument/2006/relationships/image" Target="../media/image21.png"/><Relationship Id="rId1" Type="http://schemas.openxmlformats.org/officeDocument/2006/relationships/slideLayout" Target="../slideLayouts/slideLayout50.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Solace Agent Mesh Vision</a:t>
            </a:r>
            <a:br>
              <a:rPr lang="en-US"/>
            </a:br>
            <a:r>
              <a:rPr lang="en-US" sz="2400"/>
              <a:t>Managing Your AI Worker Lifecycle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Monitor performance</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and provide feedback</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Get them working</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together as a team</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Close oversight to ensure accuracy</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Internal education to</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improve competence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Give access to systems &amp; tools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Define role, responsibilities, expectations</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7" name="Group 46">
            <a:extLst>
              <a:ext uri="{FF2B5EF4-FFF2-40B4-BE49-F238E27FC236}">
                <a16:creationId xmlns:a16="http://schemas.microsoft.com/office/drawing/2014/main" id="{2557A0AF-1103-2947-D6B5-323D99B46ACF}"/>
              </a:ext>
            </a:extLst>
          </p:cNvPr>
          <p:cNvGrpSpPr/>
          <p:nvPr/>
        </p:nvGrpSpPr>
        <p:grpSpPr>
          <a:xfrm>
            <a:off x="1698882" y="3377324"/>
            <a:ext cx="2710022" cy="2512313"/>
            <a:chOff x="8535770" y="1316737"/>
            <a:chExt cx="2710022" cy="2512313"/>
          </a:xfrm>
        </p:grpSpPr>
        <p:sp>
          <p:nvSpPr>
            <p:cNvPr id="1078" name="Rectangle 33">
              <a:extLst>
                <a:ext uri="{FF2B5EF4-FFF2-40B4-BE49-F238E27FC236}">
                  <a16:creationId xmlns:a16="http://schemas.microsoft.com/office/drawing/2014/main" id="{D125C814-84EF-A9A1-F7D7-4C28AE998471}"/>
                </a:ext>
              </a:extLst>
            </p:cNvPr>
            <p:cNvSpPr/>
            <p:nvPr/>
          </p:nvSpPr>
          <p:spPr>
            <a:xfrm>
              <a:off x="8557730" y="1316737"/>
              <a:ext cx="1629434" cy="2512313"/>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79" name="Rectangle 45">
              <a:extLst>
                <a:ext uri="{FF2B5EF4-FFF2-40B4-BE49-F238E27FC236}">
                  <a16:creationId xmlns:a16="http://schemas.microsoft.com/office/drawing/2014/main" id="{240B91F9-6037-C668-374F-D088AC73BCDB}"/>
                </a:ext>
              </a:extLst>
            </p:cNvPr>
            <p:cNvSpPr/>
            <p:nvPr/>
          </p:nvSpPr>
          <p:spPr>
            <a:xfrm>
              <a:off x="8762343" y="2254869"/>
              <a:ext cx="1216731" cy="1428131"/>
            </a:xfrm>
            <a:prstGeom prst="rect">
              <a:avLst/>
            </a:prstGeom>
            <a:solidFill>
              <a:srgbClr val="FFFFFF"/>
            </a:solidFill>
            <a:ln w="12700" cap="flat">
              <a:solidFill>
                <a:srgbClr val="E5E5E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80" name="Picture 10">
              <a:extLst>
                <a:ext uri="{FF2B5EF4-FFF2-40B4-BE49-F238E27FC236}">
                  <a16:creationId xmlns:a16="http://schemas.microsoft.com/office/drawing/2014/main" id="{0233296F-A91B-82BF-D3F5-BCDAAA8F42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3099" y="1707162"/>
              <a:ext cx="856737" cy="232032"/>
            </a:xfrm>
            <a:prstGeom prst="rect">
              <a:avLst/>
            </a:prstGeom>
            <a:noFill/>
            <a:extLst>
              <a:ext uri="{909E8E84-426E-40DD-AFC4-6F175D3DCCD1}">
                <a14:hiddenFill xmlns:a14="http://schemas.microsoft.com/office/drawing/2010/main">
                  <a:solidFill>
                    <a:srgbClr val="FFFFFF"/>
                  </a:solidFill>
                </a14:hiddenFill>
              </a:ext>
            </a:extLst>
          </p:spPr>
        </p:pic>
        <p:pic>
          <p:nvPicPr>
            <p:cNvPr id="1081" name="Picture 14">
              <a:extLst>
                <a:ext uri="{FF2B5EF4-FFF2-40B4-BE49-F238E27FC236}">
                  <a16:creationId xmlns:a16="http://schemas.microsoft.com/office/drawing/2014/main" id="{4DCB87B7-5352-F3A0-3C3D-5BE85896231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795673" y="2009697"/>
              <a:ext cx="1143000" cy="128588"/>
            </a:xfrm>
            <a:prstGeom prst="rect">
              <a:avLst/>
            </a:prstGeom>
            <a:noFill/>
            <a:extLst>
              <a:ext uri="{909E8E84-426E-40DD-AFC4-6F175D3DCCD1}">
                <a14:hiddenFill xmlns:a14="http://schemas.microsoft.com/office/drawing/2010/main">
                  <a:solidFill>
                    <a:srgbClr val="FFFFFF"/>
                  </a:solidFill>
                </a14:hiddenFill>
              </a:ext>
            </a:extLst>
          </p:spPr>
        </p:pic>
        <p:sp>
          <p:nvSpPr>
            <p:cNvPr id="1082" name="TextBox 18">
              <a:extLst>
                <a:ext uri="{FF2B5EF4-FFF2-40B4-BE49-F238E27FC236}">
                  <a16:creationId xmlns:a16="http://schemas.microsoft.com/office/drawing/2014/main" id="{A3EF85DD-CBB2-8EED-2144-19C578CFB547}"/>
                </a:ext>
              </a:extLst>
            </p:cNvPr>
            <p:cNvSpPr txBox="1"/>
            <p:nvPr/>
          </p:nvSpPr>
          <p:spPr>
            <a:xfrm>
              <a:off x="8535770" y="1333427"/>
              <a:ext cx="1651393" cy="4466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External LLMs</a:t>
              </a:r>
            </a:p>
          </p:txBody>
        </p:sp>
        <p:pic>
          <p:nvPicPr>
            <p:cNvPr id="1083" name="Picture 2" descr="Buy LiteLLM stock and other Pre-IPO shares on UpMarket">
              <a:extLst>
                <a:ext uri="{FF2B5EF4-FFF2-40B4-BE49-F238E27FC236}">
                  <a16:creationId xmlns:a16="http://schemas.microsoft.com/office/drawing/2014/main" id="{652FBFF7-7012-1627-2DB3-864B5F36C25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5652" b="31677"/>
            <a:stretch/>
          </p:blipFill>
          <p:spPr bwMode="auto">
            <a:xfrm>
              <a:off x="8813808" y="2320234"/>
              <a:ext cx="1064141" cy="347670"/>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39">
              <a:extLst>
                <a:ext uri="{FF2B5EF4-FFF2-40B4-BE49-F238E27FC236}">
                  <a16:creationId xmlns:a16="http://schemas.microsoft.com/office/drawing/2014/main" id="{916CBC19-C072-9C86-CE04-B303F68B1ECD}"/>
                </a:ext>
              </a:extLst>
            </p:cNvPr>
            <p:cNvPicPr>
              <a:picLocks noChangeAspect="1"/>
            </p:cNvPicPr>
            <p:nvPr/>
          </p:nvPicPr>
          <p:blipFill>
            <a:blip r:embed="rId6"/>
            <a:srcRect t="38200" b="41134"/>
            <a:stretch/>
          </p:blipFill>
          <p:spPr>
            <a:xfrm>
              <a:off x="9011467" y="2787915"/>
              <a:ext cx="713276" cy="147405"/>
            </a:xfrm>
            <a:prstGeom prst="rect">
              <a:avLst/>
            </a:prstGeom>
          </p:spPr>
        </p:pic>
        <p:pic>
          <p:nvPicPr>
            <p:cNvPr id="1085" name="Picture 47">
              <a:extLst>
                <a:ext uri="{FF2B5EF4-FFF2-40B4-BE49-F238E27FC236}">
                  <a16:creationId xmlns:a16="http://schemas.microsoft.com/office/drawing/2014/main" id="{1B5DB0D1-232C-0C27-CCFD-5F1D918CF2B3}"/>
                </a:ext>
              </a:extLst>
            </p:cNvPr>
            <p:cNvPicPr>
              <a:picLocks noChangeAspect="1"/>
            </p:cNvPicPr>
            <p:nvPr/>
          </p:nvPicPr>
          <p:blipFill>
            <a:blip r:embed="rId7">
              <a:clrChange>
                <a:clrFrom>
                  <a:srgbClr val="F8F8F8"/>
                </a:clrFrom>
                <a:clrTo>
                  <a:srgbClr val="F8F8F8">
                    <a:alpha val="0"/>
                  </a:srgbClr>
                </a:clrTo>
              </a:clrChange>
            </a:blip>
            <a:srcRect t="37399" b="20458"/>
            <a:stretch/>
          </p:blipFill>
          <p:spPr>
            <a:xfrm>
              <a:off x="9033496" y="3003126"/>
              <a:ext cx="669217" cy="188385"/>
            </a:xfrm>
            <a:prstGeom prst="rect">
              <a:avLst/>
            </a:prstGeom>
          </p:spPr>
        </p:pic>
        <p:pic>
          <p:nvPicPr>
            <p:cNvPr id="1086" name="Picture 51">
              <a:extLst>
                <a:ext uri="{FF2B5EF4-FFF2-40B4-BE49-F238E27FC236}">
                  <a16:creationId xmlns:a16="http://schemas.microsoft.com/office/drawing/2014/main" id="{88B54644-2402-0E76-F69E-EA537829F003}"/>
                </a:ext>
              </a:extLst>
            </p:cNvPr>
            <p:cNvPicPr>
              <a:picLocks noChangeAspect="1"/>
            </p:cNvPicPr>
            <p:nvPr/>
          </p:nvPicPr>
          <p:blipFill>
            <a:blip r:embed="rId8"/>
            <a:stretch>
              <a:fillRect/>
            </a:stretch>
          </p:blipFill>
          <p:spPr>
            <a:xfrm>
              <a:off x="9226578" y="3193354"/>
              <a:ext cx="359450" cy="188385"/>
            </a:xfrm>
            <a:prstGeom prst="rect">
              <a:avLst/>
            </a:prstGeom>
          </p:spPr>
        </p:pic>
        <p:pic>
          <p:nvPicPr>
            <p:cNvPr id="1087" name="Picture 56">
              <a:extLst>
                <a:ext uri="{FF2B5EF4-FFF2-40B4-BE49-F238E27FC236}">
                  <a16:creationId xmlns:a16="http://schemas.microsoft.com/office/drawing/2014/main" id="{064FA3A4-0517-8BAB-F58A-0A48F6D06394}"/>
                </a:ext>
              </a:extLst>
            </p:cNvPr>
            <p:cNvPicPr>
              <a:picLocks noChangeAspect="1"/>
            </p:cNvPicPr>
            <p:nvPr/>
          </p:nvPicPr>
          <p:blipFill>
            <a:blip r:embed="rId9"/>
            <a:srcRect l="35169" t="39084" r="34324" b="39789"/>
            <a:stretch/>
          </p:blipFill>
          <p:spPr>
            <a:xfrm>
              <a:off x="9145741" y="3434443"/>
              <a:ext cx="521124" cy="177785"/>
            </a:xfrm>
            <a:prstGeom prst="rect">
              <a:avLst/>
            </a:prstGeom>
          </p:spPr>
        </p:pic>
        <p:cxnSp>
          <p:nvCxnSpPr>
            <p:cNvPr id="1088" name="Straight Connector 58">
              <a:extLst>
                <a:ext uri="{FF2B5EF4-FFF2-40B4-BE49-F238E27FC236}">
                  <a16:creationId xmlns:a16="http://schemas.microsoft.com/office/drawing/2014/main" id="{3F34A3AC-3E08-ACBC-ADD4-E53B83B91669}"/>
                </a:ext>
              </a:extLst>
            </p:cNvPr>
            <p:cNvCxnSpPr/>
            <p:nvPr/>
          </p:nvCxnSpPr>
          <p:spPr>
            <a:xfrm>
              <a:off x="8874811" y="2708268"/>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sp>
          <p:nvSpPr>
            <p:cNvPr id="1089" name="TextBox 59">
              <a:extLst>
                <a:ext uri="{FF2B5EF4-FFF2-40B4-BE49-F238E27FC236}">
                  <a16:creationId xmlns:a16="http://schemas.microsoft.com/office/drawing/2014/main" id="{7AD58E54-A305-F49E-504F-316EAD911977}"/>
                </a:ext>
              </a:extLst>
            </p:cNvPr>
            <p:cNvSpPr txBox="1"/>
            <p:nvPr/>
          </p:nvSpPr>
          <p:spPr>
            <a:xfrm>
              <a:off x="9226578" y="2472120"/>
              <a:ext cx="623265"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100+ LLMS</a:t>
              </a:r>
            </a:p>
          </p:txBody>
        </p:sp>
        <p:pic>
          <p:nvPicPr>
            <p:cNvPr id="1090" name="Graphic 11">
              <a:extLst>
                <a:ext uri="{FF2B5EF4-FFF2-40B4-BE49-F238E27FC236}">
                  <a16:creationId xmlns:a16="http://schemas.microsoft.com/office/drawing/2014/main" id="{ADD3D416-24F2-0752-5251-273884A5033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886245" y="2296495"/>
              <a:ext cx="376368" cy="376368"/>
            </a:xfrm>
            <a:prstGeom prst="rect">
              <a:avLst/>
            </a:prstGeom>
          </p:spPr>
        </p:pic>
        <p:sp>
          <p:nvSpPr>
            <p:cNvPr id="1091" name="Up-Down Arrow 19">
              <a:extLst>
                <a:ext uri="{FF2B5EF4-FFF2-40B4-BE49-F238E27FC236}">
                  <a16:creationId xmlns:a16="http://schemas.microsoft.com/office/drawing/2014/main" id="{52FE3E18-00A0-B6B7-4557-7B7928232E71}"/>
                </a:ext>
              </a:extLst>
            </p:cNvPr>
            <p:cNvSpPr/>
            <p:nvPr/>
          </p:nvSpPr>
          <p:spPr>
            <a:xfrm rot="16200000">
              <a:off x="10620485" y="1074756"/>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Live Demo: Event-Driven Retail </a:t>
            </a:r>
            <a:r>
              <a:rPr lang="de-DE" dirty="0" err="1"/>
              <a:t>Operations</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2</a:t>
            </a:fld>
            <a:endParaRPr lang="en-US"/>
          </a:p>
        </p:txBody>
      </p:sp>
      <p:sp>
        <p:nvSpPr>
          <p:cNvPr id="6" name="TextBox 5">
            <a:extLst>
              <a:ext uri="{FF2B5EF4-FFF2-40B4-BE49-F238E27FC236}">
                <a16:creationId xmlns:a16="http://schemas.microsoft.com/office/drawing/2014/main" id="{75809974-8D84-C518-AA4D-77C8E85083E7}"/>
              </a:ext>
            </a:extLst>
          </p:cNvPr>
          <p:cNvSpPr txBox="1"/>
          <p:nvPr/>
        </p:nvSpPr>
        <p:spPr>
          <a:xfrm>
            <a:off x="202800" y="5682600"/>
            <a:ext cx="914400" cy="914400"/>
          </a:xfrm>
          <a:prstGeom prst="rect">
            <a:avLst/>
          </a:prstGeom>
          <a:noFill/>
        </p:spPr>
        <p:txBody>
          <a:bodyPr wrap="none" lIns="0" tIns="0" rIns="0" bIns="0" rtlCol="0">
            <a:noAutofit/>
          </a:bodyPr>
          <a:lstStyle/>
          <a:p>
            <a:pPr algn="l"/>
            <a:r>
              <a:rPr lang="en-US" sz="1600" b="1" dirty="0">
                <a:solidFill>
                  <a:srgbClr val="979797"/>
                </a:solidFill>
              </a:rPr>
              <a:t>RETAIL STORES</a:t>
            </a:r>
          </a:p>
        </p:txBody>
      </p:sp>
      <p:pic>
        <p:nvPicPr>
          <p:cNvPr id="7" name="Graphic 18">
            <a:extLst>
              <a:ext uri="{FF2B5EF4-FFF2-40B4-BE49-F238E27FC236}">
                <a16:creationId xmlns:a16="http://schemas.microsoft.com/office/drawing/2014/main" id="{DB224022-064F-A370-8FF9-F49D27646AB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845206" y="5492005"/>
            <a:ext cx="665759" cy="665759"/>
          </a:xfrm>
          <a:prstGeom prst="rect">
            <a:avLst/>
          </a:prstGeom>
        </p:spPr>
      </p:pic>
      <p:pic>
        <p:nvPicPr>
          <p:cNvPr id="8" name="Graphic 18">
            <a:extLst>
              <a:ext uri="{FF2B5EF4-FFF2-40B4-BE49-F238E27FC236}">
                <a16:creationId xmlns:a16="http://schemas.microsoft.com/office/drawing/2014/main" id="{E33694E1-64A3-8080-39DD-F4BA6563613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759606" y="5492004"/>
            <a:ext cx="665759" cy="665759"/>
          </a:xfrm>
          <a:prstGeom prst="rect">
            <a:avLst/>
          </a:prstGeom>
        </p:spPr>
      </p:pic>
      <p:pic>
        <p:nvPicPr>
          <p:cNvPr id="9" name="Graphic 18">
            <a:extLst>
              <a:ext uri="{FF2B5EF4-FFF2-40B4-BE49-F238E27FC236}">
                <a16:creationId xmlns:a16="http://schemas.microsoft.com/office/drawing/2014/main" id="{6E76FA38-4D3A-E6B9-0B07-51D08CF60C4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74006" y="5492004"/>
            <a:ext cx="665759" cy="665759"/>
          </a:xfrm>
          <a:prstGeom prst="rect">
            <a:avLst/>
          </a:prstGeom>
        </p:spPr>
      </p:pic>
      <p:pic>
        <p:nvPicPr>
          <p:cNvPr id="10" name="Graphic 18">
            <a:extLst>
              <a:ext uri="{FF2B5EF4-FFF2-40B4-BE49-F238E27FC236}">
                <a16:creationId xmlns:a16="http://schemas.microsoft.com/office/drawing/2014/main" id="{75B0A552-6F24-20DE-10B8-F22FAC9CC53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52235" y="5492005"/>
            <a:ext cx="665759" cy="665759"/>
          </a:xfrm>
          <a:prstGeom prst="rect">
            <a:avLst/>
          </a:prstGeom>
        </p:spPr>
      </p:pic>
      <p:pic>
        <p:nvPicPr>
          <p:cNvPr id="11" name="Graphic 18">
            <a:extLst>
              <a:ext uri="{FF2B5EF4-FFF2-40B4-BE49-F238E27FC236}">
                <a16:creationId xmlns:a16="http://schemas.microsoft.com/office/drawing/2014/main" id="{33F639E7-09D7-F23E-B788-94920B1B6E2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766635" y="5492005"/>
            <a:ext cx="665759" cy="665759"/>
          </a:xfrm>
          <a:prstGeom prst="rect">
            <a:avLst/>
          </a:prstGeom>
        </p:spPr>
      </p:pic>
      <p:pic>
        <p:nvPicPr>
          <p:cNvPr id="12" name="Graphic 18">
            <a:extLst>
              <a:ext uri="{FF2B5EF4-FFF2-40B4-BE49-F238E27FC236}">
                <a16:creationId xmlns:a16="http://schemas.microsoft.com/office/drawing/2014/main" id="{74859946-3934-662A-225D-CD38E9DC8FC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681035" y="5492004"/>
            <a:ext cx="665759" cy="665759"/>
          </a:xfrm>
          <a:prstGeom prst="rect">
            <a:avLst/>
          </a:prstGeom>
        </p:spPr>
      </p:pic>
      <p:pic>
        <p:nvPicPr>
          <p:cNvPr id="14" name="Graphic 31">
            <a:extLst>
              <a:ext uri="{FF2B5EF4-FFF2-40B4-BE49-F238E27FC236}">
                <a16:creationId xmlns:a16="http://schemas.microsoft.com/office/drawing/2014/main" id="{8233C68E-41D7-8884-A7B0-B2CB05D91C1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730240" y="5459123"/>
            <a:ext cx="731520" cy="731520"/>
          </a:xfrm>
          <a:prstGeom prst="rect">
            <a:avLst/>
          </a:prstGeom>
        </p:spPr>
      </p:pic>
      <p:pic>
        <p:nvPicPr>
          <p:cNvPr id="1032" name="Picture 8" descr="Pos Icon #10376 - Free Icons Library">
            <a:extLst>
              <a:ext uri="{FF2B5EF4-FFF2-40B4-BE49-F238E27FC236}">
                <a16:creationId xmlns:a16="http://schemas.microsoft.com/office/drawing/2014/main" id="{4141F128-1EA7-2DF2-580E-050A18FBF87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680549" y="6309250"/>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descr="Pos Icon #10376 - Free Icons Library">
            <a:extLst>
              <a:ext uri="{FF2B5EF4-FFF2-40B4-BE49-F238E27FC236}">
                <a16:creationId xmlns:a16="http://schemas.microsoft.com/office/drawing/2014/main" id="{B15128B6-5BF5-B2D6-8920-61EF78ACB150}"/>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075722"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Pos Icon #10376 - Free Icons Library">
            <a:extLst>
              <a:ext uri="{FF2B5EF4-FFF2-40B4-BE49-F238E27FC236}">
                <a16:creationId xmlns:a16="http://schemas.microsoft.com/office/drawing/2014/main" id="{DDE9853F-C102-F9BD-4C50-22FD44EBC7A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470895"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8" descr="Pos Icon #10376 - Free Icons Library">
            <a:extLst>
              <a:ext uri="{FF2B5EF4-FFF2-40B4-BE49-F238E27FC236}">
                <a16:creationId xmlns:a16="http://schemas.microsoft.com/office/drawing/2014/main" id="{E4B566E6-7C2F-4A9D-C424-7285B75A666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866068"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Pos Icon #10376 - Free Icons Library">
            <a:extLst>
              <a:ext uri="{FF2B5EF4-FFF2-40B4-BE49-F238E27FC236}">
                <a16:creationId xmlns:a16="http://schemas.microsoft.com/office/drawing/2014/main" id="{EFE552D3-06AF-5BF0-F580-C60705B2C6C8}"/>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295440" y="6296318"/>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8" descr="Pos Icon #10376 - Free Icons Library">
            <a:extLst>
              <a:ext uri="{FF2B5EF4-FFF2-40B4-BE49-F238E27FC236}">
                <a16:creationId xmlns:a16="http://schemas.microsoft.com/office/drawing/2014/main" id="{444D979A-B680-EBA3-040F-E088F1C050E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690613"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8" descr="Pos Icon #10376 - Free Icons Library">
            <a:extLst>
              <a:ext uri="{FF2B5EF4-FFF2-40B4-BE49-F238E27FC236}">
                <a16:creationId xmlns:a16="http://schemas.microsoft.com/office/drawing/2014/main" id="{CD692F97-2FD7-10B0-78FD-5868095C2AC8}"/>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085786"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8" descr="Pos Icon #10376 - Free Icons Library">
            <a:extLst>
              <a:ext uri="{FF2B5EF4-FFF2-40B4-BE49-F238E27FC236}">
                <a16:creationId xmlns:a16="http://schemas.microsoft.com/office/drawing/2014/main" id="{089E20E8-AFD9-450D-55C9-D92E53A75BA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480959"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8" descr="Pos Icon #10376 - Free Icons Library">
            <a:extLst>
              <a:ext uri="{FF2B5EF4-FFF2-40B4-BE49-F238E27FC236}">
                <a16:creationId xmlns:a16="http://schemas.microsoft.com/office/drawing/2014/main" id="{740B5E95-4D08-5C94-7D60-3DBBD22D99C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891639" y="6296318"/>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Pos Icon #10376 - Free Icons Library">
            <a:extLst>
              <a:ext uri="{FF2B5EF4-FFF2-40B4-BE49-F238E27FC236}">
                <a16:creationId xmlns:a16="http://schemas.microsoft.com/office/drawing/2014/main" id="{8DC73D97-082F-898A-C9B4-989181CD0A6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286812"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8" descr="Pos Icon #10376 - Free Icons Library">
            <a:extLst>
              <a:ext uri="{FF2B5EF4-FFF2-40B4-BE49-F238E27FC236}">
                <a16:creationId xmlns:a16="http://schemas.microsoft.com/office/drawing/2014/main" id="{7F3C808A-1515-992D-68DD-74B4C47CE9B1}"/>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681985"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Pos Icon #10376 - Free Icons Library">
            <a:extLst>
              <a:ext uri="{FF2B5EF4-FFF2-40B4-BE49-F238E27FC236}">
                <a16:creationId xmlns:a16="http://schemas.microsoft.com/office/drawing/2014/main" id="{06380016-6195-99E8-EF47-016563BE0CE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077158" y="6293733"/>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descr="Pos Icon #10376 - Free Icons Library">
            <a:extLst>
              <a:ext uri="{FF2B5EF4-FFF2-40B4-BE49-F238E27FC236}">
                <a16:creationId xmlns:a16="http://schemas.microsoft.com/office/drawing/2014/main" id="{A94BD179-B410-2777-E502-1134D19749B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464893" y="6309250"/>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 descr="Pos Icon #10376 - Free Icons Library">
            <a:extLst>
              <a:ext uri="{FF2B5EF4-FFF2-40B4-BE49-F238E27FC236}">
                <a16:creationId xmlns:a16="http://schemas.microsoft.com/office/drawing/2014/main" id="{732E3AAA-DF49-7AD4-5C00-DF96C67EA3A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860066"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 descr="Pos Icon #10376 - Free Icons Library">
            <a:extLst>
              <a:ext uri="{FF2B5EF4-FFF2-40B4-BE49-F238E27FC236}">
                <a16:creationId xmlns:a16="http://schemas.microsoft.com/office/drawing/2014/main" id="{6FF46385-5D08-6B9F-4239-10ACF2EF385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255239"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 descr="Pos Icon #10376 - Free Icons Library">
            <a:extLst>
              <a:ext uri="{FF2B5EF4-FFF2-40B4-BE49-F238E27FC236}">
                <a16:creationId xmlns:a16="http://schemas.microsoft.com/office/drawing/2014/main" id="{FB78DF4C-664E-A58C-B927-1AA9F434A5FE}"/>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650412" y="6306665"/>
            <a:ext cx="435330" cy="359499"/>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8" descr="Pos Icon #10376 - Free Icons Library">
            <a:extLst>
              <a:ext uri="{FF2B5EF4-FFF2-40B4-BE49-F238E27FC236}">
                <a16:creationId xmlns:a16="http://schemas.microsoft.com/office/drawing/2014/main" id="{1AEA14C0-3E0A-6A6B-C536-76E05F216037}"/>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038147" y="6320878"/>
            <a:ext cx="435330" cy="359499"/>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5">
            <a:extLst>
              <a:ext uri="{FF2B5EF4-FFF2-40B4-BE49-F238E27FC236}">
                <a16:creationId xmlns:a16="http://schemas.microsoft.com/office/drawing/2014/main" id="{4726F6F7-30E6-E6F9-4BAA-6C5E20C3514E}"/>
              </a:ext>
            </a:extLst>
          </p:cNvPr>
          <p:cNvSpPr txBox="1"/>
          <p:nvPr/>
        </p:nvSpPr>
        <p:spPr>
          <a:xfrm>
            <a:off x="1263459" y="6139800"/>
            <a:ext cx="914400" cy="914400"/>
          </a:xfrm>
          <a:prstGeom prst="rect">
            <a:avLst/>
          </a:prstGeom>
          <a:noFill/>
        </p:spPr>
        <p:txBody>
          <a:bodyPr wrap="none" lIns="0" tIns="0" rIns="0" bIns="0" rtlCol="0">
            <a:noAutofit/>
          </a:bodyPr>
          <a:lstStyle/>
          <a:p>
            <a:pPr algn="l"/>
            <a:r>
              <a:rPr lang="en-US" sz="1600" b="1" dirty="0">
                <a:solidFill>
                  <a:srgbClr val="979797"/>
                </a:solidFill>
              </a:rPr>
              <a:t>POS</a:t>
            </a:r>
          </a:p>
        </p:txBody>
      </p:sp>
      <p:sp>
        <p:nvSpPr>
          <p:cNvPr id="36" name="TextBox 5">
            <a:extLst>
              <a:ext uri="{FF2B5EF4-FFF2-40B4-BE49-F238E27FC236}">
                <a16:creationId xmlns:a16="http://schemas.microsoft.com/office/drawing/2014/main" id="{1FE20C10-DC99-A108-8DED-D81B3F6DC230}"/>
              </a:ext>
            </a:extLst>
          </p:cNvPr>
          <p:cNvSpPr txBox="1"/>
          <p:nvPr/>
        </p:nvSpPr>
        <p:spPr>
          <a:xfrm>
            <a:off x="202800" y="3955726"/>
            <a:ext cx="914400" cy="914400"/>
          </a:xfrm>
          <a:prstGeom prst="rect">
            <a:avLst/>
          </a:prstGeom>
          <a:noFill/>
        </p:spPr>
        <p:txBody>
          <a:bodyPr wrap="none" lIns="0" tIns="0" rIns="0" bIns="0" rtlCol="0">
            <a:noAutofit/>
          </a:bodyPr>
          <a:lstStyle/>
          <a:p>
            <a:pPr algn="l"/>
            <a:r>
              <a:rPr lang="en-US" sz="1600" b="1" dirty="0">
                <a:solidFill>
                  <a:srgbClr val="979797"/>
                </a:solidFill>
              </a:rPr>
              <a:t>RETAIL CLOUD</a:t>
            </a:r>
          </a:p>
        </p:txBody>
      </p:sp>
      <p:pic>
        <p:nvPicPr>
          <p:cNvPr id="37" name="Graphic 18">
            <a:extLst>
              <a:ext uri="{FF2B5EF4-FFF2-40B4-BE49-F238E27FC236}">
                <a16:creationId xmlns:a16="http://schemas.microsoft.com/office/drawing/2014/main" id="{14207D01-D51C-7D44-3B1C-A0A152207DD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50458" y="3747167"/>
            <a:ext cx="665759" cy="665759"/>
          </a:xfrm>
          <a:prstGeom prst="rect">
            <a:avLst/>
          </a:prstGeom>
        </p:spPr>
      </p:pic>
      <p:cxnSp>
        <p:nvCxnSpPr>
          <p:cNvPr id="38" name="Straight Arrow Connector 2102">
            <a:extLst>
              <a:ext uri="{FF2B5EF4-FFF2-40B4-BE49-F238E27FC236}">
                <a16:creationId xmlns:a16="http://schemas.microsoft.com/office/drawing/2014/main" id="{42D40051-3688-FF1A-2A6E-A92B151DBA8D}"/>
              </a:ext>
            </a:extLst>
          </p:cNvPr>
          <p:cNvCxnSpPr>
            <a:cxnSpLocks/>
          </p:cNvCxnSpPr>
          <p:nvPr/>
        </p:nvCxnSpPr>
        <p:spPr>
          <a:xfrm>
            <a:off x="13834819" y="7213215"/>
            <a:ext cx="520080" cy="0"/>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1034" name="Picture 10" descr="MongoDB logo and symbol, meaning, history, PNG">
            <a:extLst>
              <a:ext uri="{FF2B5EF4-FFF2-40B4-BE49-F238E27FC236}">
                <a16:creationId xmlns:a16="http://schemas.microsoft.com/office/drawing/2014/main" id="{9F598CCA-1DED-E065-964D-D4A5D2BCFEC5}"/>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549485" y="3255926"/>
            <a:ext cx="2637183" cy="1648239"/>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5">
            <a:extLst>
              <a:ext uri="{FF2B5EF4-FFF2-40B4-BE49-F238E27FC236}">
                <a16:creationId xmlns:a16="http://schemas.microsoft.com/office/drawing/2014/main" id="{0D363235-07FD-6C6B-2AB0-DF9E58C1945E}"/>
              </a:ext>
            </a:extLst>
          </p:cNvPr>
          <p:cNvSpPr txBox="1"/>
          <p:nvPr/>
        </p:nvSpPr>
        <p:spPr>
          <a:xfrm>
            <a:off x="10308638" y="3841505"/>
            <a:ext cx="914400" cy="914400"/>
          </a:xfrm>
          <a:prstGeom prst="rect">
            <a:avLst/>
          </a:prstGeom>
          <a:noFill/>
        </p:spPr>
        <p:txBody>
          <a:bodyPr wrap="none" lIns="0" tIns="0" rIns="0" bIns="0" rtlCol="0">
            <a:noAutofit/>
          </a:bodyPr>
          <a:lstStyle/>
          <a:p>
            <a:pPr algn="l"/>
            <a:r>
              <a:rPr lang="en-US" sz="1600" b="1" dirty="0">
                <a:solidFill>
                  <a:srgbClr val="979797"/>
                </a:solidFill>
              </a:rPr>
              <a:t>POSLOG STORE</a:t>
            </a:r>
          </a:p>
          <a:p>
            <a:pPr algn="l"/>
            <a:r>
              <a:rPr lang="en-US" sz="1600" b="1" dirty="0">
                <a:solidFill>
                  <a:srgbClr val="979797"/>
                </a:solidFill>
              </a:rPr>
              <a:t>MongoDB</a:t>
            </a:r>
          </a:p>
          <a:p>
            <a:pPr algn="l"/>
            <a:r>
              <a:rPr lang="en-US" sz="1600" b="1" dirty="0">
                <a:solidFill>
                  <a:srgbClr val="979797"/>
                </a:solidFill>
              </a:rPr>
              <a:t>retail_pos</a:t>
            </a:r>
          </a:p>
        </p:txBody>
      </p:sp>
      <p:cxnSp>
        <p:nvCxnSpPr>
          <p:cNvPr id="42" name="Straight Arrow Connector 2102">
            <a:extLst>
              <a:ext uri="{FF2B5EF4-FFF2-40B4-BE49-F238E27FC236}">
                <a16:creationId xmlns:a16="http://schemas.microsoft.com/office/drawing/2014/main" id="{59E23F1F-A102-0064-53E7-62FE632F9BA0}"/>
              </a:ext>
            </a:extLst>
          </p:cNvPr>
          <p:cNvCxnSpPr>
            <a:cxnSpLocks/>
            <a:endCxn id="1034" idx="1"/>
          </p:cNvCxnSpPr>
          <p:nvPr/>
        </p:nvCxnSpPr>
        <p:spPr>
          <a:xfrm flipV="1">
            <a:off x="6411991" y="4080046"/>
            <a:ext cx="1137494" cy="14814"/>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44" name="Graphic 2052">
            <a:extLst>
              <a:ext uri="{FF2B5EF4-FFF2-40B4-BE49-F238E27FC236}">
                <a16:creationId xmlns:a16="http://schemas.microsoft.com/office/drawing/2014/main" id="{320D91A3-6B1D-10B6-89AC-96D16B68E2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2680549" y="4114349"/>
            <a:ext cx="6786970" cy="2497450"/>
          </a:xfrm>
          <a:prstGeom prst="roundRect">
            <a:avLst>
              <a:gd name="adj" fmla="val 41045"/>
            </a:avLst>
          </a:prstGeom>
        </p:spPr>
      </p:pic>
      <p:cxnSp>
        <p:nvCxnSpPr>
          <p:cNvPr id="46" name="Gerade Verbindung 45">
            <a:extLst>
              <a:ext uri="{FF2B5EF4-FFF2-40B4-BE49-F238E27FC236}">
                <a16:creationId xmlns:a16="http://schemas.microsoft.com/office/drawing/2014/main" id="{46582733-9314-13C7-2854-7DDBC862AE36}"/>
              </a:ext>
            </a:extLst>
          </p:cNvPr>
          <p:cNvCxnSpPr>
            <a:stCxn id="7" idx="0"/>
            <a:endCxn id="37" idx="2"/>
          </p:cNvCxnSpPr>
          <p:nvPr/>
        </p:nvCxnSpPr>
        <p:spPr>
          <a:xfrm flipV="1">
            <a:off x="3178086" y="4412926"/>
            <a:ext cx="2905252"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Gerade Verbindung 46">
            <a:extLst>
              <a:ext uri="{FF2B5EF4-FFF2-40B4-BE49-F238E27FC236}">
                <a16:creationId xmlns:a16="http://schemas.microsoft.com/office/drawing/2014/main" id="{456E8880-F4CF-1495-2EAD-120675AF2A9F}"/>
              </a:ext>
            </a:extLst>
          </p:cNvPr>
          <p:cNvCxnSpPr>
            <a:cxnSpLocks/>
            <a:stCxn id="8" idx="0"/>
            <a:endCxn id="37" idx="2"/>
          </p:cNvCxnSpPr>
          <p:nvPr/>
        </p:nvCxnSpPr>
        <p:spPr>
          <a:xfrm flipV="1">
            <a:off x="4092486" y="4412926"/>
            <a:ext cx="1990852"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Gerade Verbindung 49">
            <a:extLst>
              <a:ext uri="{FF2B5EF4-FFF2-40B4-BE49-F238E27FC236}">
                <a16:creationId xmlns:a16="http://schemas.microsoft.com/office/drawing/2014/main" id="{CD5B1F8C-4145-078B-EA78-146B5965F028}"/>
              </a:ext>
            </a:extLst>
          </p:cNvPr>
          <p:cNvCxnSpPr>
            <a:cxnSpLocks/>
            <a:stCxn id="9" idx="0"/>
          </p:cNvCxnSpPr>
          <p:nvPr/>
        </p:nvCxnSpPr>
        <p:spPr>
          <a:xfrm flipV="1">
            <a:off x="5006886" y="4412925"/>
            <a:ext cx="1056233"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Gerade Verbindung 52">
            <a:extLst>
              <a:ext uri="{FF2B5EF4-FFF2-40B4-BE49-F238E27FC236}">
                <a16:creationId xmlns:a16="http://schemas.microsoft.com/office/drawing/2014/main" id="{D052A4B5-DDF6-9E0A-6681-344AE1A261AA}"/>
              </a:ext>
            </a:extLst>
          </p:cNvPr>
          <p:cNvCxnSpPr>
            <a:cxnSpLocks/>
            <a:stCxn id="10" idx="0"/>
          </p:cNvCxnSpPr>
          <p:nvPr/>
        </p:nvCxnSpPr>
        <p:spPr>
          <a:xfrm flipH="1" flipV="1">
            <a:off x="6083338" y="4412925"/>
            <a:ext cx="1101777" cy="107908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Gerade Verbindung 55">
            <a:extLst>
              <a:ext uri="{FF2B5EF4-FFF2-40B4-BE49-F238E27FC236}">
                <a16:creationId xmlns:a16="http://schemas.microsoft.com/office/drawing/2014/main" id="{53506848-8D88-6DB5-C8C5-9624977D8303}"/>
              </a:ext>
            </a:extLst>
          </p:cNvPr>
          <p:cNvCxnSpPr>
            <a:cxnSpLocks/>
            <a:stCxn id="11" idx="0"/>
            <a:endCxn id="37" idx="2"/>
          </p:cNvCxnSpPr>
          <p:nvPr/>
        </p:nvCxnSpPr>
        <p:spPr>
          <a:xfrm flipH="1" flipV="1">
            <a:off x="6083338" y="4412926"/>
            <a:ext cx="2016177"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Gerade Verbindung 58">
            <a:extLst>
              <a:ext uri="{FF2B5EF4-FFF2-40B4-BE49-F238E27FC236}">
                <a16:creationId xmlns:a16="http://schemas.microsoft.com/office/drawing/2014/main" id="{22A59919-2385-9ADF-0624-0668A15564D1}"/>
              </a:ext>
            </a:extLst>
          </p:cNvPr>
          <p:cNvCxnSpPr>
            <a:cxnSpLocks/>
            <a:stCxn id="12" idx="0"/>
            <a:endCxn id="37" idx="2"/>
          </p:cNvCxnSpPr>
          <p:nvPr/>
        </p:nvCxnSpPr>
        <p:spPr>
          <a:xfrm flipH="1" flipV="1">
            <a:off x="6083338" y="4412926"/>
            <a:ext cx="2930577"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050" name="TextBox 1051">
            <a:extLst>
              <a:ext uri="{FF2B5EF4-FFF2-40B4-BE49-F238E27FC236}">
                <a16:creationId xmlns:a16="http://schemas.microsoft.com/office/drawing/2014/main" id="{5E6E41BC-6E8A-0317-2F7B-A0333FF91C26}"/>
              </a:ext>
            </a:extLst>
          </p:cNvPr>
          <p:cNvSpPr txBox="1"/>
          <p:nvPr/>
        </p:nvSpPr>
        <p:spPr>
          <a:xfrm>
            <a:off x="2537946" y="2894291"/>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SAM UI + MCP</a:t>
            </a:r>
          </a:p>
        </p:txBody>
      </p:sp>
      <p:sp>
        <p:nvSpPr>
          <p:cNvPr id="1051" name="Rectangle 1034">
            <a:extLst>
              <a:ext uri="{FF2B5EF4-FFF2-40B4-BE49-F238E27FC236}">
                <a16:creationId xmlns:a16="http://schemas.microsoft.com/office/drawing/2014/main" id="{5A498E47-5021-7CD8-08B3-CA3B9E0F38FC}"/>
              </a:ext>
            </a:extLst>
          </p:cNvPr>
          <p:cNvSpPr/>
          <p:nvPr/>
        </p:nvSpPr>
        <p:spPr>
          <a:xfrm>
            <a:off x="1724125" y="1078340"/>
            <a:ext cx="1629434" cy="2221349"/>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54" name="Picture 4" descr="Microsoft Teams Logo, symbol, meaning, history, PNG, brand">
            <a:extLst>
              <a:ext uri="{FF2B5EF4-FFF2-40B4-BE49-F238E27FC236}">
                <a16:creationId xmlns:a16="http://schemas.microsoft.com/office/drawing/2014/main" id="{3307C80F-1212-9A6F-8288-E47D3063F925}"/>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266307" y="1975738"/>
            <a:ext cx="724783" cy="407691"/>
          </a:xfrm>
          <a:prstGeom prst="rect">
            <a:avLst/>
          </a:prstGeom>
          <a:noFill/>
          <a:extLst>
            <a:ext uri="{909E8E84-426E-40DD-AFC4-6F175D3DCCD1}">
              <a14:hiddenFill xmlns:a14="http://schemas.microsoft.com/office/drawing/2010/main">
                <a:solidFill>
                  <a:srgbClr val="FFFFFF"/>
                </a:solidFill>
              </a14:hiddenFill>
            </a:ext>
          </a:extLst>
        </p:spPr>
      </p:pic>
      <p:sp>
        <p:nvSpPr>
          <p:cNvPr id="1056" name="TextBox 21">
            <a:extLst>
              <a:ext uri="{FF2B5EF4-FFF2-40B4-BE49-F238E27FC236}">
                <a16:creationId xmlns:a16="http://schemas.microsoft.com/office/drawing/2014/main" id="{18F976E2-71FF-2EBF-D3BD-368406B675CB}"/>
              </a:ext>
            </a:extLst>
          </p:cNvPr>
          <p:cNvSpPr txBox="1"/>
          <p:nvPr/>
        </p:nvSpPr>
        <p:spPr>
          <a:xfrm>
            <a:off x="1771939" y="1028137"/>
            <a:ext cx="1629433" cy="2257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App Interfaces</a:t>
            </a:r>
          </a:p>
        </p:txBody>
      </p:sp>
      <p:pic>
        <p:nvPicPr>
          <p:cNvPr id="1058" name="Graphic 1023">
            <a:extLst>
              <a:ext uri="{FF2B5EF4-FFF2-40B4-BE49-F238E27FC236}">
                <a16:creationId xmlns:a16="http://schemas.microsoft.com/office/drawing/2014/main" id="{A9206CF2-ED17-65F6-51DC-AFDE090AAC0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2197889" y="2463005"/>
            <a:ext cx="339489" cy="339489"/>
          </a:xfrm>
          <a:prstGeom prst="rect">
            <a:avLst/>
          </a:prstGeom>
        </p:spPr>
      </p:pic>
      <p:sp>
        <p:nvSpPr>
          <p:cNvPr id="1059" name="TextBox 1024">
            <a:extLst>
              <a:ext uri="{FF2B5EF4-FFF2-40B4-BE49-F238E27FC236}">
                <a16:creationId xmlns:a16="http://schemas.microsoft.com/office/drawing/2014/main" id="{C3498806-5AEF-CCC9-FD62-250ED94BB4FC}"/>
              </a:ext>
            </a:extLst>
          </p:cNvPr>
          <p:cNvSpPr txBox="1"/>
          <p:nvPr/>
        </p:nvSpPr>
        <p:spPr>
          <a:xfrm>
            <a:off x="2492269" y="2445447"/>
            <a:ext cx="555004" cy="3394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70C0"/>
                </a:solidFill>
                <a:effectLst/>
                <a:uLnTx/>
                <a:uFillTx/>
                <a:latin typeface="Calibri" panose="020F0502020204030204"/>
                <a:ea typeface="Gill Sans"/>
                <a:cs typeface="Gill Sans"/>
                <a:sym typeface="Gill Sans"/>
              </a:rPr>
              <a:t>REST</a:t>
            </a:r>
          </a:p>
        </p:txBody>
      </p:sp>
      <p:sp>
        <p:nvSpPr>
          <p:cNvPr id="1060" name="TextBox 1032">
            <a:extLst>
              <a:ext uri="{FF2B5EF4-FFF2-40B4-BE49-F238E27FC236}">
                <a16:creationId xmlns:a16="http://schemas.microsoft.com/office/drawing/2014/main" id="{10A96D3C-8029-E7F3-DA22-F36B37736A41}"/>
              </a:ext>
            </a:extLst>
          </p:cNvPr>
          <p:cNvSpPr txBox="1"/>
          <p:nvPr/>
        </p:nvSpPr>
        <p:spPr>
          <a:xfrm>
            <a:off x="2201901" y="1633884"/>
            <a:ext cx="914400"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r"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40+</a:t>
            </a:r>
            <a:r>
              <a:rPr kumimoji="0" lang="en-US" sz="1000" b="1" i="0" u="none" strike="noStrike" kern="0" cap="none" spc="0" normalizeH="0" baseline="0" noProof="0">
                <a:ln>
                  <a:noFill/>
                </a:ln>
                <a:solidFill>
                  <a:srgbClr val="000000"/>
                </a:solidFill>
                <a:effectLst/>
                <a:uLnTx/>
                <a:uFillTx/>
                <a:latin typeface="Calibri" panose="020F0502020204030204"/>
                <a:sym typeface="Gill Sans"/>
              </a:rPr>
              <a:t> Integrations</a:t>
            </a:r>
            <a:endPar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endParaRPr>
          </a:p>
        </p:txBody>
      </p:sp>
      <p:pic>
        <p:nvPicPr>
          <p:cNvPr id="1061" name="Picture 1038">
            <a:extLst>
              <a:ext uri="{FF2B5EF4-FFF2-40B4-BE49-F238E27FC236}">
                <a16:creationId xmlns:a16="http://schemas.microsoft.com/office/drawing/2014/main" id="{B4E50E8D-5890-633A-268B-A903FDF76F18}"/>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2179941" y="1441427"/>
            <a:ext cx="914400" cy="254000"/>
          </a:xfrm>
          <a:prstGeom prst="rect">
            <a:avLst/>
          </a:prstGeom>
        </p:spPr>
      </p:pic>
      <p:cxnSp>
        <p:nvCxnSpPr>
          <p:cNvPr id="1062" name="Straight Connector 1040">
            <a:extLst>
              <a:ext uri="{FF2B5EF4-FFF2-40B4-BE49-F238E27FC236}">
                <a16:creationId xmlns:a16="http://schemas.microsoft.com/office/drawing/2014/main" id="{B6FB0136-FD18-C5E2-EB73-942176A61683}"/>
              </a:ext>
            </a:extLst>
          </p:cNvPr>
          <p:cNvCxnSpPr/>
          <p:nvPr/>
        </p:nvCxnSpPr>
        <p:spPr>
          <a:xfrm>
            <a:off x="2130809" y="1914057"/>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pic>
        <p:nvPicPr>
          <p:cNvPr id="1063" name="Graphic 1050">
            <a:extLst>
              <a:ext uri="{FF2B5EF4-FFF2-40B4-BE49-F238E27FC236}">
                <a16:creationId xmlns:a16="http://schemas.microsoft.com/office/drawing/2014/main" id="{2922FD00-7F03-793F-97B5-55E08E959256}"/>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flipH="1">
            <a:off x="1977522" y="2735637"/>
            <a:ext cx="623175" cy="623175"/>
          </a:xfrm>
          <a:prstGeom prst="rect">
            <a:avLst/>
          </a:prstGeom>
        </p:spPr>
      </p:pic>
      <p:sp>
        <p:nvSpPr>
          <p:cNvPr id="1064" name="Oval 1063">
            <a:extLst>
              <a:ext uri="{FF2B5EF4-FFF2-40B4-BE49-F238E27FC236}">
                <a16:creationId xmlns:a16="http://schemas.microsoft.com/office/drawing/2014/main" id="{24A425A9-B5AA-C366-D4CC-10C59D0E8745}"/>
              </a:ext>
            </a:extLst>
          </p:cNvPr>
          <p:cNvSpPr/>
          <p:nvPr/>
        </p:nvSpPr>
        <p:spPr>
          <a:xfrm>
            <a:off x="2129882" y="2908497"/>
            <a:ext cx="315640" cy="329509"/>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65" name="Graphic 1046" descr="Conductor male with solid fill">
            <a:extLst>
              <a:ext uri="{FF2B5EF4-FFF2-40B4-BE49-F238E27FC236}">
                <a16:creationId xmlns:a16="http://schemas.microsoft.com/office/drawing/2014/main" id="{B398363A-1BC0-8D51-BD21-D04EDDC3BF2C}"/>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2172626" y="2953120"/>
            <a:ext cx="230151" cy="240264"/>
          </a:xfrm>
          <a:prstGeom prst="rect">
            <a:avLst/>
          </a:prstGeom>
        </p:spPr>
      </p:pic>
      <p:grpSp>
        <p:nvGrpSpPr>
          <p:cNvPr id="1031" name="Group 36">
            <a:extLst>
              <a:ext uri="{FF2B5EF4-FFF2-40B4-BE49-F238E27FC236}">
                <a16:creationId xmlns:a16="http://schemas.microsoft.com/office/drawing/2014/main" id="{1EDD1819-11C1-FB9A-486B-6CDA4AE533DD}"/>
              </a:ext>
            </a:extLst>
          </p:cNvPr>
          <p:cNvGrpSpPr/>
          <p:nvPr/>
        </p:nvGrpSpPr>
        <p:grpSpPr>
          <a:xfrm>
            <a:off x="3406809" y="972682"/>
            <a:ext cx="4202476" cy="3765200"/>
            <a:chOff x="3303577" y="1341493"/>
            <a:chExt cx="4202476" cy="3765200"/>
          </a:xfrm>
        </p:grpSpPr>
        <p:sp>
          <p:nvSpPr>
            <p:cNvPr id="1033" name="Rectangle: Rounded Corners 7">
              <a:extLst>
                <a:ext uri="{FF2B5EF4-FFF2-40B4-BE49-F238E27FC236}">
                  <a16:creationId xmlns:a16="http://schemas.microsoft.com/office/drawing/2014/main" id="{D6574021-68F0-A34A-5CD6-9F3825E3BF17}"/>
                </a:ext>
              </a:extLst>
            </p:cNvPr>
            <p:cNvSpPr/>
            <p:nvPr/>
          </p:nvSpPr>
          <p:spPr>
            <a:xfrm>
              <a:off x="4328716" y="1341493"/>
              <a:ext cx="2995567" cy="3765200"/>
            </a:xfrm>
            <a:prstGeom prst="roundRect">
              <a:avLst>
                <a:gd name="adj" fmla="val 11549"/>
              </a:avLst>
            </a:prstGeom>
            <a:no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CA"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35" name="Oval 1034">
              <a:extLst>
                <a:ext uri="{FF2B5EF4-FFF2-40B4-BE49-F238E27FC236}">
                  <a16:creationId xmlns:a16="http://schemas.microsoft.com/office/drawing/2014/main" id="{B8FF4539-7DB4-D06C-6323-177A41F3E00D}"/>
                </a:ext>
              </a:extLst>
            </p:cNvPr>
            <p:cNvSpPr/>
            <p:nvPr/>
          </p:nvSpPr>
          <p:spPr>
            <a:xfrm>
              <a:off x="5121104" y="1875469"/>
              <a:ext cx="1554480" cy="1554480"/>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37" name="Graphic 55" descr="Conductor male with solid fill">
              <a:extLst>
                <a:ext uri="{FF2B5EF4-FFF2-40B4-BE49-F238E27FC236}">
                  <a16:creationId xmlns:a16="http://schemas.microsoft.com/office/drawing/2014/main" id="{EAF520FA-D318-DB45-C71A-8B938E18905A}"/>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5331614" y="2085979"/>
              <a:ext cx="1133460" cy="1133460"/>
            </a:xfrm>
            <a:prstGeom prst="rect">
              <a:avLst/>
            </a:prstGeom>
          </p:spPr>
        </p:pic>
        <p:sp>
          <p:nvSpPr>
            <p:cNvPr id="1038" name="TextBox 9">
              <a:extLst>
                <a:ext uri="{FF2B5EF4-FFF2-40B4-BE49-F238E27FC236}">
                  <a16:creationId xmlns:a16="http://schemas.microsoft.com/office/drawing/2014/main" id="{35217BF2-666E-298B-93E3-0D7A7722AB83}"/>
                </a:ext>
              </a:extLst>
            </p:cNvPr>
            <p:cNvSpPr txBox="1"/>
            <p:nvPr/>
          </p:nvSpPr>
          <p:spPr>
            <a:xfrm>
              <a:off x="4328715" y="1437483"/>
              <a:ext cx="3177338"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409575" rtl="0" eaLnBrk="1" fontAlgn="auto" latinLnBrk="0" hangingPunct="0">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000000"/>
                  </a:solidFill>
                  <a:effectLst/>
                  <a:uLnTx/>
                  <a:uFillTx/>
                  <a:latin typeface="Calibri" panose="020F0502020204030204"/>
                  <a:sym typeface="Gill Sans"/>
                </a:rPr>
                <a:t>Solace Agent Mesh</a:t>
              </a:r>
              <a:endParaRPr kumimoji="0" lang="en-US" sz="2400" b="0" i="0" u="none" strike="noStrike" kern="0" cap="none" spc="0" normalizeH="0" baseline="0" noProof="0">
                <a:ln>
                  <a:noFill/>
                </a:ln>
                <a:solidFill>
                  <a:srgbClr val="000000"/>
                </a:solidFill>
                <a:effectLst/>
                <a:uLnTx/>
                <a:uFillTx/>
                <a:latin typeface="Gill Sans"/>
                <a:sym typeface="Gill Sans"/>
              </a:endParaRPr>
            </a:p>
          </p:txBody>
        </p:sp>
        <p:pic>
          <p:nvPicPr>
            <p:cNvPr id="1039" name="Graphic 8">
              <a:extLst>
                <a:ext uri="{FF2B5EF4-FFF2-40B4-BE49-F238E27FC236}">
                  <a16:creationId xmlns:a16="http://schemas.microsoft.com/office/drawing/2014/main" id="{B9FF3540-502F-F6D5-2D09-DABE2F3A48E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13349" y="1952640"/>
              <a:ext cx="376368" cy="376368"/>
            </a:xfrm>
            <a:prstGeom prst="rect">
              <a:avLst/>
            </a:prstGeom>
          </p:spPr>
        </p:pic>
        <p:sp>
          <p:nvSpPr>
            <p:cNvPr id="1040" name="TextBox 23">
              <a:extLst>
                <a:ext uri="{FF2B5EF4-FFF2-40B4-BE49-F238E27FC236}">
                  <a16:creationId xmlns:a16="http://schemas.microsoft.com/office/drawing/2014/main" id="{B98FB564-888A-04D5-E6E8-5F4526293CDE}"/>
                </a:ext>
              </a:extLst>
            </p:cNvPr>
            <p:cNvSpPr txBox="1"/>
            <p:nvPr/>
          </p:nvSpPr>
          <p:spPr>
            <a:xfrm>
              <a:off x="4512893" y="3777103"/>
              <a:ext cx="1410177" cy="28967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Built-In </a:t>
              </a:r>
              <a:r>
                <a:rPr kumimoji="0" lang="en-US" sz="1200" b="1" i="0" u="none" strike="noStrike" kern="0" cap="none" spc="0" normalizeH="0" baseline="0" noProof="0" dirty="0">
                  <a:ln>
                    <a:noFill/>
                  </a:ln>
                  <a:solidFill>
                    <a:srgbClr val="000000"/>
                  </a:solidFill>
                  <a:effectLst/>
                  <a:uLnTx/>
                  <a:uFillTx/>
                  <a:latin typeface="Calibri" panose="020F0502020204030204"/>
                  <a:sym typeface="Gill Sans"/>
                </a:rPr>
                <a:t>Agents</a:t>
              </a:r>
              <a:endParaRPr lang="en-US" sz="1200" b="1" dirty="0">
                <a:latin typeface="Calibri" panose="020F0502020204030204"/>
              </a:endParaRPr>
            </a:p>
            <a:p>
              <a:pPr marL="0" marR="0" lvl="0" indent="0" algn="l" defTabSz="819150" rtl="0" eaLnBrk="1" fontAlgn="auto" latinLnBrk="0" hangingPunct="0">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000000"/>
                </a:solidFill>
                <a:effectLst/>
                <a:uLnTx/>
                <a:uFillTx/>
                <a:latin typeface="Calibri" panose="020F0502020204030204"/>
                <a:sym typeface="Gill Sans"/>
              </a:endParaRPr>
            </a:p>
          </p:txBody>
        </p:sp>
        <p:pic>
          <p:nvPicPr>
            <p:cNvPr id="1042" name="Graphic 34">
              <a:extLst>
                <a:ext uri="{FF2B5EF4-FFF2-40B4-BE49-F238E27FC236}">
                  <a16:creationId xmlns:a16="http://schemas.microsoft.com/office/drawing/2014/main" id="{C984F6DF-3375-F5A5-5EAC-1B759A01617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90600" y="4020528"/>
              <a:ext cx="281501" cy="281501"/>
            </a:xfrm>
            <a:prstGeom prst="rect">
              <a:avLst/>
            </a:prstGeom>
          </p:spPr>
        </p:pic>
        <p:sp>
          <p:nvSpPr>
            <p:cNvPr id="1043" name="TextBox 35">
              <a:extLst>
                <a:ext uri="{FF2B5EF4-FFF2-40B4-BE49-F238E27FC236}">
                  <a16:creationId xmlns:a16="http://schemas.microsoft.com/office/drawing/2014/main" id="{4D46E97D-F110-72BB-8E42-48327BF6F8C0}"/>
                </a:ext>
              </a:extLst>
            </p:cNvPr>
            <p:cNvSpPr txBox="1"/>
            <p:nvPr/>
          </p:nvSpPr>
          <p:spPr>
            <a:xfrm>
              <a:off x="4760562" y="4011778"/>
              <a:ext cx="555004" cy="4020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474747">
                      <a:lumMod val="50000"/>
                    </a:srgbClr>
                  </a:solidFill>
                  <a:effectLst/>
                  <a:uLnTx/>
                  <a:uFillTx/>
                  <a:latin typeface="Calibri" panose="020F0502020204030204"/>
                  <a:ea typeface="Gill Sans"/>
                  <a:cs typeface="Gill Sans"/>
                  <a:sym typeface="Gill Sans"/>
                </a:rPr>
                <a:t>REST</a:t>
              </a:r>
            </a:p>
          </p:txBody>
        </p:sp>
        <p:pic>
          <p:nvPicPr>
            <p:cNvPr id="1044" name="Graphic 37">
              <a:extLst>
                <a:ext uri="{FF2B5EF4-FFF2-40B4-BE49-F238E27FC236}">
                  <a16:creationId xmlns:a16="http://schemas.microsoft.com/office/drawing/2014/main" id="{BDC52DC8-7012-F3EB-A84E-8FC96A1EFF79}"/>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510594" y="4318245"/>
              <a:ext cx="334687" cy="334687"/>
            </a:xfrm>
            <a:prstGeom prst="rect">
              <a:avLst/>
            </a:prstGeom>
          </p:spPr>
        </p:pic>
        <p:sp>
          <p:nvSpPr>
            <p:cNvPr id="1045" name="TextBox 44">
              <a:extLst>
                <a:ext uri="{FF2B5EF4-FFF2-40B4-BE49-F238E27FC236}">
                  <a16:creationId xmlns:a16="http://schemas.microsoft.com/office/drawing/2014/main" id="{8D276BEE-34C7-3E55-79F7-EC0A4E273889}"/>
                </a:ext>
              </a:extLst>
            </p:cNvPr>
            <p:cNvSpPr txBox="1"/>
            <p:nvPr/>
          </p:nvSpPr>
          <p:spPr>
            <a:xfrm>
              <a:off x="4788274" y="428238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Image </a:t>
              </a:r>
            </a:p>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Processing</a:t>
              </a:r>
            </a:p>
          </p:txBody>
        </p:sp>
        <p:pic>
          <p:nvPicPr>
            <p:cNvPr id="1046" name="Graphic 24">
              <a:extLst>
                <a:ext uri="{FF2B5EF4-FFF2-40B4-BE49-F238E27FC236}">
                  <a16:creationId xmlns:a16="http://schemas.microsoft.com/office/drawing/2014/main" id="{3F66F8AD-EA72-0B1F-BF5F-A717E00750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467092" y="3383284"/>
              <a:ext cx="376368" cy="376368"/>
            </a:xfrm>
            <a:prstGeom prst="rect">
              <a:avLst/>
            </a:prstGeom>
          </p:spPr>
        </p:pic>
        <p:sp>
          <p:nvSpPr>
            <p:cNvPr id="1047" name="Rectangle 32">
              <a:extLst>
                <a:ext uri="{FF2B5EF4-FFF2-40B4-BE49-F238E27FC236}">
                  <a16:creationId xmlns:a16="http://schemas.microsoft.com/office/drawing/2014/main" id="{7ED3A15F-7418-A200-40D7-1004B01F5964}"/>
                </a:ext>
              </a:extLst>
            </p:cNvPr>
            <p:cNvSpPr/>
            <p:nvPr/>
          </p:nvSpPr>
          <p:spPr>
            <a:xfrm>
              <a:off x="4488621" y="3742032"/>
              <a:ext cx="1076429" cy="1042290"/>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48" name="TextBox 25">
              <a:extLst>
                <a:ext uri="{FF2B5EF4-FFF2-40B4-BE49-F238E27FC236}">
                  <a16:creationId xmlns:a16="http://schemas.microsoft.com/office/drawing/2014/main" id="{0E52529C-0EAF-F368-3348-9594D9335D99}"/>
                </a:ext>
              </a:extLst>
            </p:cNvPr>
            <p:cNvSpPr txBox="1"/>
            <p:nvPr/>
          </p:nvSpPr>
          <p:spPr>
            <a:xfrm>
              <a:off x="4489835" y="3457564"/>
              <a:ext cx="1895081" cy="3541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lang="en-US" sz="1200" b="1" dirty="0">
                  <a:latin typeface="Calibri" panose="020F0502020204030204"/>
                  <a:ea typeface="Gill Sans"/>
                  <a:cs typeface="Gill Sans"/>
                </a:rPr>
                <a:t>Agent</a:t>
              </a:r>
              <a:r>
                <a:rPr lang="en-US" sz="1200" b="1" dirty="0">
                  <a:latin typeface="Calibri" panose="020F0502020204030204"/>
                </a:rPr>
                <a:t>2Agent Protocol </a:t>
              </a: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(A2</a:t>
              </a:r>
              <a:r>
                <a:rPr lang="en-US" sz="1200" b="1" dirty="0">
                  <a:latin typeface="Calibri" panose="020F0502020204030204"/>
                </a:rPr>
                <a:t>A)</a:t>
              </a:r>
              <a:endPar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endParaRPr>
            </a:p>
          </p:txBody>
        </p:sp>
        <p:sp>
          <p:nvSpPr>
            <p:cNvPr id="1049" name="Up-Down Arrow 14">
              <a:extLst>
                <a:ext uri="{FF2B5EF4-FFF2-40B4-BE49-F238E27FC236}">
                  <a16:creationId xmlns:a16="http://schemas.microsoft.com/office/drawing/2014/main" id="{55026B7E-A505-0C34-DF8D-2F79EF6C0096}"/>
                </a:ext>
              </a:extLst>
            </p:cNvPr>
            <p:cNvSpPr/>
            <p:nvPr/>
          </p:nvSpPr>
          <p:spPr>
            <a:xfrm rot="16200000">
              <a:off x="3703408" y="2311114"/>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69" name="Picture 14" descr="database Icon - Free PNG &amp; SVG 5079138 - Noun Project">
            <a:extLst>
              <a:ext uri="{FF2B5EF4-FFF2-40B4-BE49-F238E27FC236}">
                <a16:creationId xmlns:a16="http://schemas.microsoft.com/office/drawing/2014/main" id="{E7460B21-8E5D-3431-EFC2-CB1A96217BE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9601452" y="1068672"/>
            <a:ext cx="585216" cy="58521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14" descr="database Icon - Free PNG &amp; SVG 5079138 - Noun Project">
            <a:extLst>
              <a:ext uri="{FF2B5EF4-FFF2-40B4-BE49-F238E27FC236}">
                <a16:creationId xmlns:a16="http://schemas.microsoft.com/office/drawing/2014/main" id="{7BEAEC29-74CB-182B-B4F5-49976A72BB8E}"/>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9601452" y="1831626"/>
            <a:ext cx="585216" cy="58521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5">
            <a:extLst>
              <a:ext uri="{FF2B5EF4-FFF2-40B4-BE49-F238E27FC236}">
                <a16:creationId xmlns:a16="http://schemas.microsoft.com/office/drawing/2014/main" id="{DD40BCCE-64FC-B274-3A74-3B029A09EE0F}"/>
              </a:ext>
            </a:extLst>
          </p:cNvPr>
          <p:cNvSpPr txBox="1"/>
          <p:nvPr/>
        </p:nvSpPr>
        <p:spPr>
          <a:xfrm>
            <a:off x="10280580" y="1010903"/>
            <a:ext cx="914400" cy="914400"/>
          </a:xfrm>
          <a:prstGeom prst="rect">
            <a:avLst/>
          </a:prstGeom>
          <a:noFill/>
        </p:spPr>
        <p:txBody>
          <a:bodyPr wrap="none" lIns="0" tIns="0" rIns="0" bIns="0" rtlCol="0">
            <a:noAutofit/>
          </a:bodyPr>
          <a:lstStyle/>
          <a:p>
            <a:pPr algn="l"/>
            <a:r>
              <a:rPr lang="en-US" sz="1600" b="1" dirty="0">
                <a:solidFill>
                  <a:srgbClr val="979797"/>
                </a:solidFill>
              </a:rPr>
              <a:t>PDM</a:t>
            </a:r>
          </a:p>
          <a:p>
            <a:pPr algn="l"/>
            <a:r>
              <a:rPr lang="en-US" sz="1600" b="1" dirty="0">
                <a:solidFill>
                  <a:srgbClr val="979797"/>
                </a:solidFill>
              </a:rPr>
              <a:t>retail_pdm</a:t>
            </a:r>
          </a:p>
          <a:p>
            <a:pPr algn="l"/>
            <a:endParaRPr lang="en-US" sz="1600" b="1" dirty="0">
              <a:solidFill>
                <a:srgbClr val="979797"/>
              </a:solidFill>
            </a:endParaRPr>
          </a:p>
        </p:txBody>
      </p:sp>
      <p:sp>
        <p:nvSpPr>
          <p:cNvPr id="1072" name="TextBox 5">
            <a:extLst>
              <a:ext uri="{FF2B5EF4-FFF2-40B4-BE49-F238E27FC236}">
                <a16:creationId xmlns:a16="http://schemas.microsoft.com/office/drawing/2014/main" id="{C62B5860-266D-57E1-5C61-133645FC26E9}"/>
              </a:ext>
            </a:extLst>
          </p:cNvPr>
          <p:cNvSpPr txBox="1"/>
          <p:nvPr/>
        </p:nvSpPr>
        <p:spPr>
          <a:xfrm>
            <a:off x="10280580" y="1867275"/>
            <a:ext cx="914400" cy="914400"/>
          </a:xfrm>
          <a:prstGeom prst="rect">
            <a:avLst/>
          </a:prstGeom>
          <a:noFill/>
        </p:spPr>
        <p:txBody>
          <a:bodyPr wrap="none" lIns="0" tIns="0" rIns="0" bIns="0" rtlCol="0">
            <a:noAutofit/>
          </a:bodyPr>
          <a:lstStyle/>
          <a:p>
            <a:pPr algn="l"/>
            <a:r>
              <a:rPr lang="en-US" sz="1600" b="1" dirty="0">
                <a:solidFill>
                  <a:srgbClr val="979797"/>
                </a:solidFill>
              </a:rPr>
              <a:t>OMS</a:t>
            </a:r>
          </a:p>
          <a:p>
            <a:pPr algn="l"/>
            <a:r>
              <a:rPr lang="en-US" sz="1600" b="1" dirty="0">
                <a:solidFill>
                  <a:srgbClr val="979797"/>
                </a:solidFill>
              </a:rPr>
              <a:t>retail_oms</a:t>
            </a:r>
          </a:p>
        </p:txBody>
      </p:sp>
      <p:sp>
        <p:nvSpPr>
          <p:cNvPr id="1073" name="TextBox 5">
            <a:extLst>
              <a:ext uri="{FF2B5EF4-FFF2-40B4-BE49-F238E27FC236}">
                <a16:creationId xmlns:a16="http://schemas.microsoft.com/office/drawing/2014/main" id="{8718990F-C139-B219-617C-7765341DBF2F}"/>
              </a:ext>
            </a:extLst>
          </p:cNvPr>
          <p:cNvSpPr txBox="1"/>
          <p:nvPr/>
        </p:nvSpPr>
        <p:spPr>
          <a:xfrm>
            <a:off x="10280580" y="2788680"/>
            <a:ext cx="914400" cy="914400"/>
          </a:xfrm>
          <a:prstGeom prst="rect">
            <a:avLst/>
          </a:prstGeom>
          <a:noFill/>
        </p:spPr>
        <p:txBody>
          <a:bodyPr wrap="none" lIns="0" tIns="0" rIns="0" bIns="0" rtlCol="0">
            <a:noAutofit/>
          </a:bodyPr>
          <a:lstStyle/>
          <a:p>
            <a:r>
              <a:rPr lang="en-US" sz="1600" b="1" dirty="0">
                <a:solidFill>
                  <a:srgbClr val="979797"/>
                </a:solidFill>
              </a:rPr>
              <a:t>CRM</a:t>
            </a:r>
          </a:p>
          <a:p>
            <a:r>
              <a:rPr lang="en-US" sz="1600" b="1" dirty="0">
                <a:solidFill>
                  <a:srgbClr val="979797"/>
                </a:solidFill>
              </a:rPr>
              <a:t>retail_crm</a:t>
            </a:r>
          </a:p>
          <a:p>
            <a:endParaRPr lang="en-US" sz="1600" b="1" dirty="0">
              <a:solidFill>
                <a:srgbClr val="979797"/>
              </a:solidFill>
            </a:endParaRPr>
          </a:p>
        </p:txBody>
      </p:sp>
      <p:pic>
        <p:nvPicPr>
          <p:cNvPr id="1074" name="Graphic 10">
            <a:extLst>
              <a:ext uri="{FF2B5EF4-FFF2-40B4-BE49-F238E27FC236}">
                <a16:creationId xmlns:a16="http://schemas.microsoft.com/office/drawing/2014/main" id="{AA822D1A-07E5-EF23-D15C-269EC626D5B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18669" y="2711045"/>
            <a:ext cx="376368" cy="376368"/>
          </a:xfrm>
          <a:prstGeom prst="rect">
            <a:avLst/>
          </a:prstGeom>
        </p:spPr>
      </p:pic>
      <p:pic>
        <p:nvPicPr>
          <p:cNvPr id="1075" name="Picture 15">
            <a:extLst>
              <a:ext uri="{FF2B5EF4-FFF2-40B4-BE49-F238E27FC236}">
                <a16:creationId xmlns:a16="http://schemas.microsoft.com/office/drawing/2014/main" id="{AC05B264-3631-47A9-C840-9F1D73F02311}"/>
              </a:ext>
            </a:extLst>
          </p:cNvPr>
          <p:cNvPicPr>
            <a:picLocks noChangeAspect="1"/>
          </p:cNvPicPr>
          <p:nvPr/>
        </p:nvPicPr>
        <p:blipFill>
          <a:blip r:embed="rId23"/>
          <a:stretch>
            <a:fillRect/>
          </a:stretch>
        </p:blipFill>
        <p:spPr>
          <a:xfrm>
            <a:off x="8066913" y="2723270"/>
            <a:ext cx="1627545" cy="291203"/>
          </a:xfrm>
          <a:prstGeom prst="rect">
            <a:avLst/>
          </a:prstGeom>
        </p:spPr>
      </p:pic>
      <p:pic>
        <p:nvPicPr>
          <p:cNvPr id="1076" name="Picture 16" descr="Was ist Salesforce? | CRM-Software-Lösung | Mindforce">
            <a:extLst>
              <a:ext uri="{FF2B5EF4-FFF2-40B4-BE49-F238E27FC236}">
                <a16:creationId xmlns:a16="http://schemas.microsoft.com/office/drawing/2014/main" id="{E40FE36C-FB24-82DA-7A50-8F80B9285A9C}"/>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8526740" y="2993904"/>
            <a:ext cx="1606116" cy="903440"/>
          </a:xfrm>
          <a:prstGeom prst="rect">
            <a:avLst/>
          </a:prstGeom>
          <a:noFill/>
          <a:extLst>
            <a:ext uri="{909E8E84-426E-40DD-AFC4-6F175D3DCCD1}">
              <a14:hiddenFill xmlns:a14="http://schemas.microsoft.com/office/drawing/2010/main">
                <a:solidFill>
                  <a:srgbClr val="FFFFFF"/>
                </a:solidFill>
              </a14:hiddenFill>
            </a:ext>
          </a:extLst>
        </p:spPr>
      </p:pic>
      <p:sp>
        <p:nvSpPr>
          <p:cNvPr id="1092" name="TextBox 1052">
            <a:extLst>
              <a:ext uri="{FF2B5EF4-FFF2-40B4-BE49-F238E27FC236}">
                <a16:creationId xmlns:a16="http://schemas.microsoft.com/office/drawing/2014/main" id="{C1F9F214-9408-5D45-718C-71CD544C45E7}"/>
              </a:ext>
            </a:extLst>
          </p:cNvPr>
          <p:cNvSpPr txBox="1"/>
          <p:nvPr/>
        </p:nvSpPr>
        <p:spPr>
          <a:xfrm>
            <a:off x="7973904" y="116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Dynamic DB Agent</a:t>
            </a:r>
          </a:p>
        </p:txBody>
      </p:sp>
      <p:pic>
        <p:nvPicPr>
          <p:cNvPr id="1093" name="Graphic 1054">
            <a:extLst>
              <a:ext uri="{FF2B5EF4-FFF2-40B4-BE49-F238E27FC236}">
                <a16:creationId xmlns:a16="http://schemas.microsoft.com/office/drawing/2014/main" id="{2C01455E-EEFB-5508-B9CF-23F5A4FA3242}"/>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675797" y="1194872"/>
            <a:ext cx="281501" cy="281501"/>
          </a:xfrm>
          <a:prstGeom prst="rect">
            <a:avLst/>
          </a:prstGeom>
        </p:spPr>
      </p:pic>
      <p:sp>
        <p:nvSpPr>
          <p:cNvPr id="1094" name="TextBox 1052">
            <a:extLst>
              <a:ext uri="{FF2B5EF4-FFF2-40B4-BE49-F238E27FC236}">
                <a16:creationId xmlns:a16="http://schemas.microsoft.com/office/drawing/2014/main" id="{AF6FA72B-A8DE-56C4-1A87-72722850FFAB}"/>
              </a:ext>
            </a:extLst>
          </p:cNvPr>
          <p:cNvSpPr txBox="1"/>
          <p:nvPr/>
        </p:nvSpPr>
        <p:spPr>
          <a:xfrm>
            <a:off x="7970211" y="193000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Dynamic DB Agent</a:t>
            </a:r>
          </a:p>
        </p:txBody>
      </p:sp>
      <p:pic>
        <p:nvPicPr>
          <p:cNvPr id="109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672104" y="1958173"/>
            <a:ext cx="281501" cy="281501"/>
          </a:xfrm>
          <a:prstGeom prst="rect">
            <a:avLst/>
          </a:prstGeom>
        </p:spPr>
      </p:pic>
      <p:sp>
        <p:nvSpPr>
          <p:cNvPr id="1096" name="Up-Down Arrow 22">
            <a:extLst>
              <a:ext uri="{FF2B5EF4-FFF2-40B4-BE49-F238E27FC236}">
                <a16:creationId xmlns:a16="http://schemas.microsoft.com/office/drawing/2014/main" id="{95D9E068-071F-155A-1796-A2CED7164EC7}"/>
              </a:ext>
            </a:extLst>
          </p:cNvPr>
          <p:cNvSpPr/>
          <p:nvPr/>
        </p:nvSpPr>
        <p:spPr>
          <a:xfrm rot="2853404" flipH="1">
            <a:off x="7115174" y="123051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Up-Down Arrow 22">
            <a:extLst>
              <a:ext uri="{FF2B5EF4-FFF2-40B4-BE49-F238E27FC236}">
                <a16:creationId xmlns:a16="http://schemas.microsoft.com/office/drawing/2014/main" id="{C64D994C-31B3-BB4F-8A47-D9CEC73B238C}"/>
              </a:ext>
            </a:extLst>
          </p:cNvPr>
          <p:cNvSpPr/>
          <p:nvPr/>
        </p:nvSpPr>
        <p:spPr>
          <a:xfrm rot="5400000" flipH="1">
            <a:off x="7122030" y="165199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Up-Down Arrow 22">
            <a:extLst>
              <a:ext uri="{FF2B5EF4-FFF2-40B4-BE49-F238E27FC236}">
                <a16:creationId xmlns:a16="http://schemas.microsoft.com/office/drawing/2014/main" id="{AFBFB484-A64C-E76F-FA47-E25C088DF217}"/>
              </a:ext>
            </a:extLst>
          </p:cNvPr>
          <p:cNvSpPr/>
          <p:nvPr/>
        </p:nvSpPr>
        <p:spPr>
          <a:xfrm rot="6345828" flipH="1">
            <a:off x="7099441" y="2178437"/>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Textfeld 1098">
            <a:extLst>
              <a:ext uri="{FF2B5EF4-FFF2-40B4-BE49-F238E27FC236}">
                <a16:creationId xmlns:a16="http://schemas.microsoft.com/office/drawing/2014/main" id="{0019FD08-D364-80DA-913E-E119C68A2888}"/>
              </a:ext>
            </a:extLst>
          </p:cNvPr>
          <p:cNvSpPr txBox="1"/>
          <p:nvPr/>
        </p:nvSpPr>
        <p:spPr>
          <a:xfrm>
            <a:off x="8264921" y="3173053"/>
            <a:ext cx="914400" cy="914400"/>
          </a:xfrm>
          <a:prstGeom prst="rect">
            <a:avLst/>
          </a:prstGeom>
          <a:noFill/>
        </p:spPr>
        <p:txBody>
          <a:bodyPr wrap="none" lIns="0" tIns="0" rIns="0" bIns="0" rtlCol="0">
            <a:noAutofit/>
          </a:bodyPr>
          <a:lstStyle/>
          <a:p>
            <a:pPr algn="l"/>
            <a:r>
              <a:rPr lang="de-DE" sz="1600" dirty="0"/>
              <a:t>MCP</a:t>
            </a:r>
          </a:p>
          <a:p>
            <a:pPr algn="l"/>
            <a:r>
              <a:rPr lang="de-DE" sz="1600" dirty="0"/>
              <a:t>Server</a:t>
            </a:r>
          </a:p>
        </p:txBody>
      </p:sp>
      <p:sp>
        <p:nvSpPr>
          <p:cNvPr id="1100" name="Rectangle 1034">
            <a:extLst>
              <a:ext uri="{FF2B5EF4-FFF2-40B4-BE49-F238E27FC236}">
                <a16:creationId xmlns:a16="http://schemas.microsoft.com/office/drawing/2014/main" id="{10ABAF19-FEDA-96E7-9C80-A402663F60AC}"/>
              </a:ext>
            </a:extLst>
          </p:cNvPr>
          <p:cNvSpPr/>
          <p:nvPr/>
        </p:nvSpPr>
        <p:spPr>
          <a:xfrm>
            <a:off x="7574739" y="2582494"/>
            <a:ext cx="2245878" cy="1164674"/>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5" name="Up-Down Arrow 22">
            <a:extLst>
              <a:ext uri="{FF2B5EF4-FFF2-40B4-BE49-F238E27FC236}">
                <a16:creationId xmlns:a16="http://schemas.microsoft.com/office/drawing/2014/main" id="{0822553D-68CF-E16D-1FA3-9B68D9FE2F5C}"/>
              </a:ext>
            </a:extLst>
          </p:cNvPr>
          <p:cNvSpPr/>
          <p:nvPr/>
        </p:nvSpPr>
        <p:spPr>
          <a:xfrm rot="8318964" flipH="1">
            <a:off x="7065938" y="2481715"/>
            <a:ext cx="187410" cy="1444094"/>
          </a:xfrm>
          <a:prstGeom prst="up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1" descr="claude.png">
            <a:extLst>
              <a:ext uri="{FF2B5EF4-FFF2-40B4-BE49-F238E27FC236}">
                <a16:creationId xmlns:a16="http://schemas.microsoft.com/office/drawing/2014/main" id="{143B0B45-B5C8-78FD-BA0D-4AE01923F912}"/>
              </a:ext>
            </a:extLst>
          </p:cNvPr>
          <p:cNvPicPr>
            <a:picLocks noChangeAspect="1"/>
          </p:cNvPicPr>
          <p:nvPr/>
        </p:nvPicPr>
        <p:blipFill>
          <a:blip r:embed="rId26"/>
          <a:stretch>
            <a:fillRect/>
          </a:stretch>
        </p:blipFill>
        <p:spPr>
          <a:xfrm>
            <a:off x="1816254" y="1993231"/>
            <a:ext cx="402240" cy="402240"/>
          </a:xfrm>
          <a:prstGeom prst="rect">
            <a:avLst/>
          </a:prstGeom>
        </p:spPr>
      </p:pic>
    </p:spTree>
    <p:extLst>
      <p:ext uri="{BB962C8B-B14F-4D97-AF65-F5344CB8AC3E}">
        <p14:creationId xmlns:p14="http://schemas.microsoft.com/office/powerpoint/2010/main" val="2183763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77"/>
                                        </p:tgtEl>
                                        <p:attrNameLst>
                                          <p:attrName>style.visibility</p:attrName>
                                        </p:attrNameLst>
                                      </p:cBhvr>
                                      <p:to>
                                        <p:strVal val="visible"/>
                                      </p:to>
                                    </p:set>
                                    <p:animEffect transition="in" filter="fade">
                                      <p:cBhvr>
                                        <p:cTn id="7" dur="500"/>
                                        <p:tgtEl>
                                          <p:spTgt spid="10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The Demo in the Lifecycle</a:t>
            </a:r>
            <a:br>
              <a:rPr lang="en-US"/>
            </a:br>
            <a:r>
              <a:rPr lang="en-US" sz="2400"/>
              <a:t>What you just saw, stage by stage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Dashboards, broker traces,</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eval gate in CI</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(coming soon!)</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 Event-triggered incident:</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5 agents, 4 models</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Not shown today (HITL coming)</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Versioned schema skills</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(retail-*-schema)</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MongoDB connector, scoped creds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Job posting → POS analyst built live</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theme/theme1.xml><?xml version="1.0" encoding="utf-8"?>
<a:theme xmlns:a="http://schemas.openxmlformats.org/drawingml/2006/main" name="Solace Cover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Solace PPT Template - v2.3" id="{6ED5406F-02DB-0040-8A15-E91D241744F1}" vid="{C7064155-23FD-BF44-B3E0-18CB5DA18D1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A436CFE72F23C489C3D6E05FEE7A7E7" ma:contentTypeVersion="26" ma:contentTypeDescription="Create a new document." ma:contentTypeScope="" ma:versionID="a2048592e12e647f808186a62f2da4c8">
  <xsd:schema xmlns:xsd="http://www.w3.org/2001/XMLSchema" xmlns:xs="http://www.w3.org/2001/XMLSchema" xmlns:p="http://schemas.microsoft.com/office/2006/metadata/properties" xmlns:ns2="22c9c32c-1409-489b-8a0e-8e72e0a66b7a" xmlns:ns3="3a815f5c-a5cd-4b90-880c-94b0fde8c1f2" targetNamespace="http://schemas.microsoft.com/office/2006/metadata/properties" ma:root="true" ma:fieldsID="c6545fdc1f898683995ceceab67032c1" ns2:_="" ns3:_="">
    <xsd:import namespace="22c9c32c-1409-489b-8a0e-8e72e0a66b7a"/>
    <xsd:import namespace="3a815f5c-a5cd-4b90-880c-94b0fde8c1f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3:Industry" minOccurs="0"/>
                <xsd:element ref="ns3:Competitors" minOccurs="0"/>
                <xsd:element ref="ns3:Partner" minOccurs="0"/>
                <xsd:element ref="ns3:Product_x002f_Feature_x002f_Function_x0020__x0028_Multi-select_x0029_" minOccurs="0"/>
                <xsd:element ref="ns2:MediaServiceObjectDetectorVersions" minOccurs="0"/>
                <xsd:element ref="ns2:lcf76f155ced4ddcb4097134ff3c332f" minOccurs="0"/>
                <xsd:element ref="ns3:TaxCatchAll"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c9c32c-1409-489b-8a0e-8e72e0a66b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description="" ma:indexed="true"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bc2f205f-3591-4b07-93bc-42e411de0517" ma:termSetId="09814cd3-568e-fe90-9814-8d621ff8fb84" ma:anchorId="fba54fb3-c3e1-fe81-a776-ca4b69148c4d" ma:open="true" ma:isKeyword="false">
      <xsd:complexType>
        <xsd:sequence>
          <xsd:element ref="pc:Terms" minOccurs="0" maxOccurs="1"/>
        </xsd:sequence>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Location" ma:index="29" nillable="true" ma:displayName="Location" ma:indexed="true" ma:internalName="MediaServiceLocation" ma:readOnly="true">
      <xsd:simpleType>
        <xsd:restriction base="dms:Text"/>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815f5c-a5cd-4b90-880c-94b0fde8c1f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Industry" ma:index="20" nillable="true" ma:displayName="Solutions" ma:internalName="Industry">
      <xsd:complexType>
        <xsd:complexContent>
          <xsd:extension base="dms:MultiChoice">
            <xsd:sequence>
              <xsd:element name="Value" maxOccurs="unbounded" minOccurs="0" nillable="true">
                <xsd:simpleType>
                  <xsd:restriction base="dms:Choice">
                    <xsd:enumeration value="--IndustryOrVertical--"/>
                    <xsd:enumeration value="Aviation"/>
                    <xsd:enumeration value="Capital Markets"/>
                    <xsd:enumeration value="Post-Trade Processing Modernization"/>
                    <xsd:enumeration value="eFX Modernization"/>
                    <xsd:enumeration value="FX Trading"/>
                    <xsd:enumeration value="Exchanges"/>
                    <xsd:enumeration value="Banking"/>
                    <xsd:enumeration value="Insurance"/>
                    <xsd:enumeration value="Payments"/>
                    <xsd:enumeration value="Telecom"/>
                    <xsd:enumeration value="Transportation and Logistics"/>
                    <xsd:enumeration value="Pharmaceuticals"/>
                    <xsd:enumeration value="Manufacturing"/>
                    <xsd:enumeration value="Retail​​​​​​​"/>
                    <xsd:enumeration value="Consumer Packaged Goods (CPG)"/>
                    <xsd:enumeration value="Energy and Resources"/>
                    <xsd:enumeration value="Gaming"/>
                    <xsd:enumeration value="Government"/>
                    <xsd:enumeration value="--Horizontal Business--"/>
                    <xsd:enumeration value="Real-time Supply Chain"/>
                    <xsd:enumeration value="Real-time Order and Inventory Management - Lead to Cash"/>
                    <xsd:enumeration value="Post Trade Event Mesh"/>
                    <xsd:enumeration value="Real Time Payments Transformation"/>
                    <xsd:enumeration value="Digital Factory"/>
                    <xsd:enumeration value="Hire to retire"/>
                    <xsd:enumeration value="Connected Vehicle - Car, Rail, Marine, Air"/>
                    <xsd:enumeration value="E-comm and Retail Store Transformation"/>
                    <xsd:enumeration value="--Horizontal Technical--"/>
                    <xsd:enumeration value="Middleware Modernization (rip and replace)"/>
                    <xsd:enumeration value="Event Driven IoT​​​​​​​"/>
                    <xsd:enumeration value="Event Driven Integration"/>
                    <xsd:enumeration value="Event Driven Architecture"/>
                    <xsd:enumeration value="Event Driven APIs"/>
                    <xsd:enumeration value="Event Driven Microservices"/>
                    <xsd:enumeration value="Hybrid Cloud"/>
                    <xsd:enumeration value="Event Streaming"/>
                    <xsd:enumeration value="High Performance Messaging"/>
                  </xsd:restriction>
                </xsd:simpleType>
              </xsd:element>
            </xsd:sequence>
          </xsd:extension>
        </xsd:complexContent>
      </xsd:complexType>
    </xsd:element>
    <xsd:element name="Competitors" ma:index="21" nillable="true" ma:displayName="Competitors" ma:description="Competitors or competitor brokers" ma:indexed="true" ma:internalName="Competitors">
      <xsd:simpleType>
        <xsd:restriction base="dms:Text">
          <xsd:maxLength value="255"/>
        </xsd:restriction>
      </xsd:simpleType>
    </xsd:element>
    <xsd:element name="Partner" ma:index="22" nillable="true" ma:displayName="Partner" ma:indexed="true" ma:internalName="Partner">
      <xsd:simpleType>
        <xsd:restriction base="dms:Text">
          <xsd:maxLength value="255"/>
        </xsd:restriction>
      </xsd:simpleType>
    </xsd:element>
    <xsd:element name="Product_x002f_Feature_x002f_Function_x0020__x0028_Multi-select_x0029_" ma:index="23" nillable="true" ma:displayName="Product/Feature/Function (Multi-select)" ma:internalName="Product_x002F_Feature_x002F_Function_x0020__x0028_Multi_x002d_select_x0029_">
      <xsd:complexType>
        <xsd:complexContent>
          <xsd:extension base="dms:MultiChoice">
            <xsd:sequence>
              <xsd:element name="Value" maxOccurs="unbounded" minOccurs="0" nillable="true">
                <xsd:simpleType>
                  <xsd:restriction base="dms:Choice">
                    <xsd:enumeration value="Distributed Tracing"/>
                    <xsd:enumeration value="Event Portal for Solace"/>
                    <xsd:enumeration value="Event Portal for Kafka"/>
                    <xsd:enumeration value="Partitioned Queues"/>
                    <xsd:enumeration value="Support Services"/>
                  </xsd:restriction>
                </xsd:simpleType>
              </xsd:element>
            </xsd:sequence>
          </xsd:extension>
        </xsd:complexContent>
      </xsd:complexType>
    </xsd:element>
    <xsd:element name="TaxCatchAll" ma:index="27" nillable="true" ma:displayName="Taxonomy Catch All Column" ma:hidden="true" ma:list="{021e00c7-3115-49f0-b64a-cb3b8180b352}" ma:internalName="TaxCatchAll" ma:showField="CatchAllData" ma:web="3a815f5c-a5cd-4b90-880c-94b0fde8c1f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Competitors xmlns="3a815f5c-a5cd-4b90-880c-94b0fde8c1f2" xsi:nil="true"/>
    <Industry xmlns="3a815f5c-a5cd-4b90-880c-94b0fde8c1f2" xsi:nil="true"/>
    <Product_x002f_Feature_x002f_Function_x0020__x0028_Multi-select_x0029_ xmlns="3a815f5c-a5cd-4b90-880c-94b0fde8c1f2" xsi:nil="true"/>
    <Partner xmlns="3a815f5c-a5cd-4b90-880c-94b0fde8c1f2" xsi:nil="true"/>
    <lcf76f155ced4ddcb4097134ff3c332f xmlns="22c9c32c-1409-489b-8a0e-8e72e0a66b7a">
      <Terms xmlns="http://schemas.microsoft.com/office/infopath/2007/PartnerControls"/>
    </lcf76f155ced4ddcb4097134ff3c332f>
    <TaxCatchAll xmlns="3a815f5c-a5cd-4b90-880c-94b0fde8c1f2" xsi:nil="true"/>
  </documentManagement>
</p:properties>
</file>

<file path=customXml/itemProps1.xml><?xml version="1.0" encoding="utf-8"?>
<ds:datastoreItem xmlns:ds="http://schemas.openxmlformats.org/officeDocument/2006/customXml" ds:itemID="{3C6A39DD-970A-44A1-A020-E572850544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2c9c32c-1409-489b-8a0e-8e72e0a66b7a"/>
    <ds:schemaRef ds:uri="3a815f5c-a5cd-4b90-880c-94b0fde8c1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84DDC01-D87E-4995-8BE8-CDC838272225}">
  <ds:schemaRefs>
    <ds:schemaRef ds:uri="http://schemas.microsoft.com/sharepoint/v3/contenttype/forms"/>
  </ds:schemaRefs>
</ds:datastoreItem>
</file>

<file path=customXml/itemProps3.xml><?xml version="1.0" encoding="utf-8"?>
<ds:datastoreItem xmlns:ds="http://schemas.openxmlformats.org/officeDocument/2006/customXml" ds:itemID="{F87374D4-38C3-4AB6-BA51-B10FCF82067A}">
  <ds:schemaRefs>
    <ds:schemaRef ds:uri="http://schemas.microsoft.com/office/2006/metadata/properties"/>
    <ds:schemaRef ds:uri="http://schemas.microsoft.com/office/infopath/2007/PartnerControls"/>
    <ds:schemaRef ds:uri="3a815f5c-a5cd-4b90-880c-94b0fde8c1f2"/>
    <ds:schemaRef ds:uri="22c9c32c-1409-489b-8a0e-8e72e0a66b7a"/>
  </ds:schemaRefs>
</ds:datastoreItem>
</file>

<file path=docProps/app.xml><?xml version="1.0" encoding="utf-8"?>
<Properties xmlns="http://schemas.openxmlformats.org/officeDocument/2006/extended-properties" xmlns:vt="http://schemas.openxmlformats.org/officeDocument/2006/docPropsVTypes">
  <TotalTime>0</TotalTime>
  <Words>323</Words>
  <Application>Microsoft Macintosh PowerPoint</Application>
  <PresentationFormat>Breitbild</PresentationFormat>
  <Paragraphs>66</Paragraphs>
  <Slides>2</Slides>
  <Notes>2</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2</vt:i4>
      </vt:variant>
    </vt:vector>
  </HeadingPairs>
  <TitlesOfParts>
    <vt:vector size="11" baseType="lpstr">
      <vt:lpstr>72 Brand Medium</vt:lpstr>
      <vt:lpstr>Aptos</vt:lpstr>
      <vt:lpstr>Arial</vt:lpstr>
      <vt:lpstr>Calibri</vt:lpstr>
      <vt:lpstr>Gill Sans</vt:lpstr>
      <vt:lpstr>Segoe UI</vt:lpstr>
      <vt:lpstr>Solace Covers</vt:lpstr>
      <vt:lpstr>Solace Slides</vt:lpstr>
      <vt:lpstr>1_Solace Slides</vt:lpstr>
      <vt:lpstr>Solace Agent Mesh Vision Managing Your AI Worker Lifecycle</vt:lpstr>
      <vt:lpstr>Live Demo: Event-Driven Retail Operations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Johnson</dc:creator>
  <cp:lastModifiedBy>EXTERNAL Martens Alexander (Solace, BD/DPA-GOI7)</cp:lastModifiedBy>
  <cp:revision>19</cp:revision>
  <dcterms:created xsi:type="dcterms:W3CDTF">2025-05-07T00:01:48Z</dcterms:created>
  <dcterms:modified xsi:type="dcterms:W3CDTF">2026-08-03T12:45:26Z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0x0101004A436CFE72F23C489C3D6E05FEE7A7E7</vt:lpwstr>
  </property>
</Properties>
</file>