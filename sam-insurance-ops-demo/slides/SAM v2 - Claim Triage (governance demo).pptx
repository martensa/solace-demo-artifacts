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3.svg" ContentType="image/svg+xml"/>
  <Override PartName="/ppt/media/image31.svg" ContentType="image/svg+xml"/>
  <Override PartName="/ppt/media/image32.svg" ContentType="image/svg+xml"/>
  <Override PartName="/ppt/media/image33.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761" r:id="rId6"/>
  </p:sldMasterIdLst>
  <p:notesMasterIdLst>
    <p:notesMasterId r:id="rId11"/>
  </p:notesMasterIdLst>
  <p:sldIdLst>
    <p:sldId id="258" r:id="rId7"/>
    <p:sldId id="313" r:id="rId8"/>
    <p:sldId id="311" r:id="rId9"/>
    <p:sldId id="31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858F5-D1AE-7179-FEBE-A4E040C90DB2}" v="49" dt="2025-07-08T13:51:20.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4"/>
    <p:restoredTop sz="94589"/>
  </p:normalViewPr>
  <p:slideViewPr>
    <p:cSldViewPr snapToGrid="0">
      <p:cViewPr varScale="1">
        <p:scale>
          <a:sx n="120" d="100"/>
          <a:sy n="120" d="100"/>
        </p:scale>
        <p:origin x="912" y="184"/>
      </p:cViewPr>
      <p:guideLst>
        <p:guide orient="horz" pos="37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AAD14-9C34-4AA5-B94E-6692F6349C36}" type="datetimeFigureOut">
              <a:rPr lang="en-US" smtClean="0"/>
              <a:t>8/11/26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7F935-64E3-4FF9-8DEF-2D51FA78877D}" type="slidenum">
              <a:rPr lang="en-US" smtClean="0"/>
              <a:t>‹Nr.›</a:t>
            </a:fld>
            <a:endParaRPr lang="en-US"/>
          </a:p>
        </p:txBody>
      </p:sp>
    </p:spTree>
    <p:extLst>
      <p:ext uri="{BB962C8B-B14F-4D97-AF65-F5344CB8AC3E}">
        <p14:creationId xmlns:p14="http://schemas.microsoft.com/office/powerpoint/2010/main" val="133659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FF6E-C83F-8F6D-FAA9-6348B152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E8F5D-804C-7604-621C-F5AE2DB48B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25E436-ADB7-2B04-1BDC-4FC761F28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0AF706-5D86-E111-E475-8AC1DAB960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935-64E3-4FF9-8DEF-2D51FA7887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7774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High-level scenario (github.com/martensa/solace-demo-artifacts, sam-insurance-ops-demo, triage profile). Acme Insurance: motor and property carrier, Germany-shaped geography (Landkreis Boeblingen). Five FNOL channels feed MongoDB acme_claims: app 40 %, voice agent 25 %, workshop portal 15 %, drive-in scanner 10 %, agency e-mail 10 %. Core system of record in Postgres acme_insurance (68,700 policies, 51,525 customers, 10,400 claims of hail cell HZ-0913). Rulebook in Qdrant acme_knowledge behind an MCP server (52 passages: policy wordings, claims guidelines, partner contracts, storm playbooks).</a:t>
            </a:r>
          </a:p>
          <a:p/>
          <a:p>
            <a:r>
              <a:t>Demo flow, ONE scenario: the cockpit publishes ONE first notice of loss on the sam VPN. The claims-triage event-mesh entrypoint starts the workflow claim-triage, which fans out to three agents in parallel - Acme Insurance Query Expert on Postgres, Claims Intake Liaison (which delegates to the EXTERNAL Claims Intake Analyst on MongoDB), Acme Claims Knowledge Expert on Qdrant - and merges their schema-bound findings in the Claims Triage Decision agent. About half a minute later one decision card lands in the cockpit; a human presses Approve and that signature goes back onto the mesh as an event. Measured 2026-09-16: 26.8 s / 27.7 s APPROVE-Fast Lane, 30.6 s HOLD-specialist review.</a:t>
            </a:r>
          </a:p>
          <a:p/>
          <a:p>
            <a:r>
              <a:t>The governance point: four agents live on the platform, one lives outside it (its own runtime, its own model, its own database credentials) and is only discovered over the broker. It can be reached because exactly one platform agent carries interAgentCommunication.allowList: [ClaimsIntakeAnalyst]. SAM sees the agent card, the A2A hop, the caller identity, the duration and the audit entry - not the outside agent's tools or tokens. All four platform agents run on the fast model alias (Claude Haiku 4.5), bound by tier and not by endpoint.</a:t>
            </a:r>
          </a:p>
          <a:p/>
          <a:p>
            <a:r>
              <a:t>Second claim on stage, CLM-0913-08103: same workflow, same agents, opposite outcome. Two indicators - photos carrying capture times 7.3 days before the hail cell, and a drive-in scanner counting 14 dents against the 60 claimed - produce HOLD / specialist review, citing guideline CG-FR-5: a single indicator proves nothing, the overall picture decides, a human specialist decides. The agent never calls the customer a fraudster.</a:t>
            </a:r>
          </a:p>
          <a:p/>
          <a:p>
            <a:r>
              <a:t>Proof after the run: Agent Management (the roster and the allow list), Models (tiers), Activities (the task tree), Tempo (the broker span of every hop), the Grafana dashboard SAM Claims Governance, and three evaluation reports, all passing: ins-claims-rules 10/10, ins-guardrails 6/6, ins-triage-decision 6/6.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7.svg"/><Relationship Id="rId4" Type="http://schemas.openxmlformats.org/officeDocument/2006/relationships/image" Target="../media/image5.svg"/><Relationship Id="rId5" Type="http://schemas.openxmlformats.org/officeDocument/2006/relationships/image" Target="../media/image8.svg"/><Relationship Id="rId6"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9.svg"/><Relationship Id="rId5"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svg"/><Relationship Id="rId3" Type="http://schemas.openxmlformats.org/officeDocument/2006/relationships/image" Target="../media/image15.svg"/><Relationship Id="rId4" Type="http://schemas.openxmlformats.org/officeDocument/2006/relationships/image" Target="../media/image16.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887156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ov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2" y="4581000"/>
            <a:ext cx="4681137" cy="143394"/>
          </a:xfrm>
        </p:spPr>
        <p:txBody>
          <a:bodyPr>
            <a:noAutofit/>
          </a:bodyPr>
          <a:lstStyle>
            <a:lvl1pPr algn="l">
              <a:lnSpc>
                <a:spcPct val="100000"/>
              </a:lnSpc>
              <a:spcAft>
                <a:spcPts val="0"/>
              </a:spcAft>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B59E6556-57B1-B408-D804-9FA5BC1308C4}"/>
              </a:ext>
            </a:extLst>
          </p:cNvPr>
          <p:cNvGrpSpPr/>
          <p:nvPr userDrawn="1"/>
        </p:nvGrpSpPr>
        <p:grpSpPr>
          <a:xfrm>
            <a:off x="5797318" y="332656"/>
            <a:ext cx="6276674" cy="5843298"/>
            <a:chOff x="5797318" y="332656"/>
            <a:chExt cx="6276674" cy="5843298"/>
          </a:xfrm>
        </p:grpSpPr>
        <p:sp>
          <p:nvSpPr>
            <p:cNvPr id="43" name="Graphic 41">
              <a:extLst>
                <a:ext uri="{FF2B5EF4-FFF2-40B4-BE49-F238E27FC236}">
                  <a16:creationId xmlns:a16="http://schemas.microsoft.com/office/drawing/2014/main" id="{969F7A7C-F56B-5EA2-CEDB-C3018FB3E56D}"/>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17" name="Graphic 4">
              <a:extLst>
                <a:ext uri="{FF2B5EF4-FFF2-40B4-BE49-F238E27FC236}">
                  <a16:creationId xmlns:a16="http://schemas.microsoft.com/office/drawing/2014/main" id="{026AA2B3-ADD5-9E91-EE90-8CA8079DF07E}"/>
                </a:ext>
              </a:extLst>
            </p:cNvPr>
            <p:cNvGrpSpPr/>
            <p:nvPr userDrawn="1"/>
          </p:nvGrpSpPr>
          <p:grpSpPr>
            <a:xfrm>
              <a:off x="5797318" y="2132856"/>
              <a:ext cx="4043098" cy="4043098"/>
              <a:chOff x="8800171" y="698369"/>
              <a:chExt cx="2346990" cy="2346990"/>
            </a:xfrm>
            <a:noFill/>
          </p:grpSpPr>
          <p:sp>
            <p:nvSpPr>
              <p:cNvPr id="18" name="Freeform: Shape 17">
                <a:extLst>
                  <a:ext uri="{FF2B5EF4-FFF2-40B4-BE49-F238E27FC236}">
                    <a16:creationId xmlns:a16="http://schemas.microsoft.com/office/drawing/2014/main" id="{446F980C-D371-51A4-BFAF-0D988442E896}"/>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24D33AA-17A5-AD3C-47CB-C235523F6E95}"/>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EC3E93C-3A6F-6643-610C-12296CC8C6D9}"/>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94DF1C-A969-A8D9-6C37-6553A2B71AFC}"/>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3329D2-BC94-696A-4C35-CDDD8197EB39}"/>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3591DD-F3A8-A03D-EB5B-A0EB18871B7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8196927-BBB7-FF95-A5F7-090E1F89D514}"/>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25" name="Graphic 4">
              <a:extLst>
                <a:ext uri="{FF2B5EF4-FFF2-40B4-BE49-F238E27FC236}">
                  <a16:creationId xmlns:a16="http://schemas.microsoft.com/office/drawing/2014/main" id="{9BD377A2-FF86-B752-6A7B-0C7B42F2A65E}"/>
                </a:ext>
              </a:extLst>
            </p:cNvPr>
            <p:cNvGrpSpPr/>
            <p:nvPr userDrawn="1"/>
          </p:nvGrpSpPr>
          <p:grpSpPr>
            <a:xfrm>
              <a:off x="8439748" y="332656"/>
              <a:ext cx="1568431" cy="1568431"/>
              <a:chOff x="6737333" y="3172458"/>
              <a:chExt cx="1303316" cy="1303316"/>
            </a:xfrm>
            <a:noFill/>
          </p:grpSpPr>
          <p:sp>
            <p:nvSpPr>
              <p:cNvPr id="26" name="Freeform: Shape 25">
                <a:extLst>
                  <a:ext uri="{FF2B5EF4-FFF2-40B4-BE49-F238E27FC236}">
                    <a16:creationId xmlns:a16="http://schemas.microsoft.com/office/drawing/2014/main" id="{FA819162-4F92-9CE1-266D-C3036C094DBE}"/>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228DA33-39B2-4FAA-AE60-99CB558A6DCB}"/>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766673F-117F-B1A0-5E0C-011B96A80452}"/>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B9DD75-E623-1063-4AF7-B388B7C36A44}"/>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A0E295-63B7-6BCC-483C-4BC95EFEE61C}"/>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5A4E385-FF66-6719-4CB5-DC19293047E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7082CB-E60C-66BA-112C-7E110A2EF0B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45" name="Graphic 44">
              <a:extLst>
                <a:ext uri="{FF2B5EF4-FFF2-40B4-BE49-F238E27FC236}">
                  <a16:creationId xmlns:a16="http://schemas.microsoft.com/office/drawing/2014/main" id="{94426DAB-EC49-97B6-8BAA-250B2F3420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6" name="Footer Placeholder 5">
            <a:extLst>
              <a:ext uri="{FF2B5EF4-FFF2-40B4-BE49-F238E27FC236}">
                <a16:creationId xmlns:a16="http://schemas.microsoft.com/office/drawing/2014/main" id="{593EFF8D-C896-9FCB-CCD9-055E2DEAA1D1}"/>
              </a:ext>
            </a:extLst>
          </p:cNvPr>
          <p:cNvSpPr>
            <a:spLocks noGrp="1"/>
          </p:cNvSpPr>
          <p:nvPr>
            <p:ph type="ftr" sz="quarter" idx="11"/>
          </p:nvPr>
        </p:nvSpPr>
        <p:spPr/>
        <p:txBody>
          <a:bodyPr/>
          <a:lstStyle/>
          <a:p>
            <a:r>
              <a:rPr lang="en-US"/>
              <a:t>© Solace   |   Proprietary &amp; Confidential</a:t>
            </a:r>
          </a:p>
        </p:txBody>
      </p:sp>
      <p:sp>
        <p:nvSpPr>
          <p:cNvPr id="9" name="Slide Number Placeholder 8">
            <a:extLst>
              <a:ext uri="{FF2B5EF4-FFF2-40B4-BE49-F238E27FC236}">
                <a16:creationId xmlns:a16="http://schemas.microsoft.com/office/drawing/2014/main" id="{BD2438CF-A668-47D4-D56F-CEE9B5219C5E}"/>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BA3311E4-A084-8644-4A2C-81E8B32124A6}"/>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6575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Cov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4"/>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91E14C4D-992C-08AD-7433-20C760BC8A78}"/>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B164F4FA-2BB1-E76D-62AA-FDCD0FCA0873}"/>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ED44CC65-E1B1-5D09-E60C-9501318FFDE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98986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Cov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0"/>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8C9A80E0-3E50-3DF4-4445-AE338350123C}"/>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DA93DA5D-C211-08C0-E0A0-CB9651D538C9}"/>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011F7999-AF75-0EA8-FBAC-B1B74CC6CE42}"/>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2543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40"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cxnSp>
        <p:nvCxnSpPr>
          <p:cNvPr id="4" name="Straight Connector 3">
            <a:extLst>
              <a:ext uri="{FF2B5EF4-FFF2-40B4-BE49-F238E27FC236}">
                <a16:creationId xmlns:a16="http://schemas.microsoft.com/office/drawing/2014/main" id="{A4E443BB-51E7-DCF5-FEEB-985CCD23F574}"/>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5" name="Footer Placeholder 4">
            <a:extLst>
              <a:ext uri="{FF2B5EF4-FFF2-40B4-BE49-F238E27FC236}">
                <a16:creationId xmlns:a16="http://schemas.microsoft.com/office/drawing/2014/main" id="{E37EDB31-4921-CA49-6DA3-58F3042736A5}"/>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404C5DF-A694-0B09-FE66-2795919627BD}"/>
              </a:ext>
            </a:extLst>
          </p:cNvPr>
          <p:cNvSpPr>
            <a:spLocks noGrp="1"/>
          </p:cNvSpPr>
          <p:nvPr>
            <p:ph type="sldNum" sz="quarter" idx="13"/>
          </p:nvPr>
        </p:nvSpPr>
        <p:spPr/>
        <p:txBody>
          <a:bodyPr/>
          <a:lstStyle/>
          <a:p>
            <a:fld id="{059D0BDF-8BE7-4C3F-9009-83FAF1F2140A}" type="slidenum">
              <a:rPr lang="en-US" smtClean="0"/>
              <a:pPr/>
              <a:t>‹Nr.›</a:t>
            </a:fld>
            <a:endParaRPr lang="en-US"/>
          </a:p>
        </p:txBody>
      </p:sp>
    </p:spTree>
    <p:extLst>
      <p:ext uri="{BB962C8B-B14F-4D97-AF65-F5344CB8AC3E}">
        <p14:creationId xmlns:p14="http://schemas.microsoft.com/office/powerpoint/2010/main" val="45579025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5" y="4940969"/>
            <a:ext cx="4681538"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24CE7AE-58CE-96AA-2526-1BF47A40356F}"/>
              </a:ext>
            </a:extLst>
          </p:cNvPr>
          <p:cNvGrpSpPr/>
          <p:nvPr userDrawn="1"/>
        </p:nvGrpSpPr>
        <p:grpSpPr>
          <a:xfrm>
            <a:off x="6737333" y="698369"/>
            <a:ext cx="4474935" cy="4874457"/>
            <a:chOff x="6737333" y="698369"/>
            <a:chExt cx="4474935" cy="4874457"/>
          </a:xfrm>
        </p:grpSpPr>
        <p:grpSp>
          <p:nvGrpSpPr>
            <p:cNvPr id="6" name="Graphic 4">
              <a:extLst>
                <a:ext uri="{FF2B5EF4-FFF2-40B4-BE49-F238E27FC236}">
                  <a16:creationId xmlns:a16="http://schemas.microsoft.com/office/drawing/2014/main" id="{6EB65E8F-9CA9-71F0-D8F5-FC29B043F334}"/>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27" name="Freeform: Shape 26">
                <a:extLst>
                  <a:ext uri="{FF2B5EF4-FFF2-40B4-BE49-F238E27FC236}">
                    <a16:creationId xmlns:a16="http://schemas.microsoft.com/office/drawing/2014/main" id="{95ACC53D-4BEE-AF60-5546-66484D659290}"/>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89411C5-A6F5-99D2-3BDC-5C3CFF34ED65}"/>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AA1BD2F-9C96-DE17-0088-89B7F888387A}"/>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2F1C5AF-4D3A-56CE-4C75-36C68FDF2DBE}"/>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1A5563-412F-07A3-64A6-BA1F4855709D}"/>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41675E5-1421-9250-2206-0488152261E1}"/>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EA3808-935F-D778-9C15-1CBBE02D9CEC}"/>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9" name="Graphic 4">
              <a:extLst>
                <a:ext uri="{FF2B5EF4-FFF2-40B4-BE49-F238E27FC236}">
                  <a16:creationId xmlns:a16="http://schemas.microsoft.com/office/drawing/2014/main" id="{5A035051-F97B-FA8D-40FB-E532C67F6D8D}"/>
                </a:ext>
              </a:extLst>
            </p:cNvPr>
            <p:cNvGrpSpPr/>
            <p:nvPr/>
          </p:nvGrpSpPr>
          <p:grpSpPr>
            <a:xfrm>
              <a:off x="8800171" y="698369"/>
              <a:ext cx="2346990" cy="2346990"/>
              <a:chOff x="8800171" y="698369"/>
              <a:chExt cx="2346990" cy="2346990"/>
            </a:xfrm>
            <a:noFill/>
          </p:grpSpPr>
          <p:sp>
            <p:nvSpPr>
              <p:cNvPr id="20" name="Freeform: Shape 19">
                <a:extLst>
                  <a:ext uri="{FF2B5EF4-FFF2-40B4-BE49-F238E27FC236}">
                    <a16:creationId xmlns:a16="http://schemas.microsoft.com/office/drawing/2014/main" id="{91B42713-5ECC-8BEE-8009-11345F43396E}"/>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58644B3-4F92-30F4-EC10-670E2BE38857}"/>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577E4B5-D893-1D5E-669C-6ED12171ED5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F15FC91-0296-2B22-C397-D09390596468}"/>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172C320-CA9E-AE83-770E-4FDEE7129954}"/>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794F540-E0D1-FD97-1FC6-99443EE8606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9D301E-9BC1-7C89-5422-AF1C6AE4EBD2}"/>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F908A56D-7EC7-11ED-1838-7E47227B0ED5}"/>
                </a:ext>
              </a:extLst>
            </p:cNvPr>
            <p:cNvGrpSpPr/>
            <p:nvPr/>
          </p:nvGrpSpPr>
          <p:grpSpPr>
            <a:xfrm>
              <a:off x="6737333" y="3172458"/>
              <a:ext cx="1303316" cy="1303316"/>
              <a:chOff x="6737333" y="3172458"/>
              <a:chExt cx="1303316" cy="1303316"/>
            </a:xfrm>
            <a:noFill/>
          </p:grpSpPr>
          <p:sp>
            <p:nvSpPr>
              <p:cNvPr id="12" name="Freeform: Shape 11">
                <a:extLst>
                  <a:ext uri="{FF2B5EF4-FFF2-40B4-BE49-F238E27FC236}">
                    <a16:creationId xmlns:a16="http://schemas.microsoft.com/office/drawing/2014/main" id="{F528C196-0211-E2A6-5E71-1D5663AE1962}"/>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F084FA-C7F7-D6A2-E20A-05C2A383E5B8}"/>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A381927-5B6B-931B-B2AF-84E024B4958C}"/>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17A130-F3C7-5FA9-8ACD-12B33D9C98CC}"/>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D4D623D-9E3A-F172-BBD7-4407133986C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2E8E86D-96BA-DFEE-6031-9E75779DEF7E}"/>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13650FE-10A1-0101-9CB9-E78D91E6D78D}"/>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sp>
        <p:nvSpPr>
          <p:cNvPr id="14" name="Footer Placeholder 13">
            <a:extLst>
              <a:ext uri="{FF2B5EF4-FFF2-40B4-BE49-F238E27FC236}">
                <a16:creationId xmlns:a16="http://schemas.microsoft.com/office/drawing/2014/main" id="{8B1BFACE-16C4-8D5F-D215-24FB73160742}"/>
              </a:ext>
            </a:extLst>
          </p:cNvPr>
          <p:cNvSpPr>
            <a:spLocks noGrp="1"/>
          </p:cNvSpPr>
          <p:nvPr>
            <p:ph type="ftr" sz="quarter" idx="11"/>
          </p:nvPr>
        </p:nvSpPr>
        <p:spPr/>
        <p:txBody>
          <a:bodyPr/>
          <a:lstStyle/>
          <a:p>
            <a:r>
              <a:rPr lang="en-US"/>
              <a:t>© Solace   |   Proprietary &amp; Confidential</a:t>
            </a:r>
          </a:p>
        </p:txBody>
      </p:sp>
      <p:sp>
        <p:nvSpPr>
          <p:cNvPr id="34" name="Slide Number Placeholder 33">
            <a:extLst>
              <a:ext uri="{FF2B5EF4-FFF2-40B4-BE49-F238E27FC236}">
                <a16:creationId xmlns:a16="http://schemas.microsoft.com/office/drawing/2014/main" id="{5985F65F-C79E-326A-2CDA-4BD9345DFD52}"/>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36" name="Straight Connector 35">
            <a:extLst>
              <a:ext uri="{FF2B5EF4-FFF2-40B4-BE49-F238E27FC236}">
                <a16:creationId xmlns:a16="http://schemas.microsoft.com/office/drawing/2014/main" id="{99E720A2-8E73-02A2-9CD1-B84C8DEDA97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5707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sp>
        <p:nvSpPr>
          <p:cNvPr id="5" name="Footer Placeholder 4">
            <a:extLst>
              <a:ext uri="{FF2B5EF4-FFF2-40B4-BE49-F238E27FC236}">
                <a16:creationId xmlns:a16="http://schemas.microsoft.com/office/drawing/2014/main" id="{4807A176-DCF7-5B9F-9B5B-5EB7CBACB73E}"/>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6DCED80-8344-2C03-8D60-01696E11AB6D}"/>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480E6B12-F1B2-16E3-6D92-6C94E647C03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69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CD92BFD-36C4-49A1-D690-5237D9655006}"/>
              </a:ext>
            </a:extLst>
          </p:cNvPr>
          <p:cNvGrpSpPr/>
          <p:nvPr userDrawn="1"/>
        </p:nvGrpSpPr>
        <p:grpSpPr>
          <a:xfrm>
            <a:off x="6672064" y="764704"/>
            <a:ext cx="5193362" cy="4834784"/>
            <a:chOff x="5797318" y="332656"/>
            <a:chExt cx="6276674" cy="5843298"/>
          </a:xfrm>
        </p:grpSpPr>
        <p:sp>
          <p:nvSpPr>
            <p:cNvPr id="6" name="Graphic 41">
              <a:extLst>
                <a:ext uri="{FF2B5EF4-FFF2-40B4-BE49-F238E27FC236}">
                  <a16:creationId xmlns:a16="http://schemas.microsoft.com/office/drawing/2014/main" id="{4B582EBD-573E-70FB-47B4-2585AF28624A}"/>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9" name="Graphic 4">
              <a:extLst>
                <a:ext uri="{FF2B5EF4-FFF2-40B4-BE49-F238E27FC236}">
                  <a16:creationId xmlns:a16="http://schemas.microsoft.com/office/drawing/2014/main" id="{7F003DB5-18AB-CB92-5006-3AE20CEADE21}"/>
                </a:ext>
              </a:extLst>
            </p:cNvPr>
            <p:cNvGrpSpPr/>
            <p:nvPr userDrawn="1"/>
          </p:nvGrpSpPr>
          <p:grpSpPr>
            <a:xfrm>
              <a:off x="5797318" y="2132856"/>
              <a:ext cx="4043098" cy="4043098"/>
              <a:chOff x="8800171" y="698369"/>
              <a:chExt cx="2346990" cy="2346990"/>
            </a:xfrm>
            <a:noFill/>
          </p:grpSpPr>
          <p:sp>
            <p:nvSpPr>
              <p:cNvPr id="21" name="Freeform: Shape 20">
                <a:extLst>
                  <a:ext uri="{FF2B5EF4-FFF2-40B4-BE49-F238E27FC236}">
                    <a16:creationId xmlns:a16="http://schemas.microsoft.com/office/drawing/2014/main" id="{6DC8F65E-CB97-D68F-D728-2BFCC84E4561}"/>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F25E8B-87E0-B541-86A9-0B997527D469}"/>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FFA6ACC-473C-2C2D-2066-4CF9C4CD675C}"/>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27447E5-7416-0D79-6550-1EDE8795BAB9}"/>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FB64D6A-98B8-7D49-5034-6E6130343CC6}"/>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4AB58F-35D6-76E7-6A96-8BB0B247A5CC}"/>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6BB953-645C-2DB1-B367-3776F8F5221C}"/>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CE1C37B9-8134-A7DE-CB46-7AA6AD9F948B}"/>
                </a:ext>
              </a:extLst>
            </p:cNvPr>
            <p:cNvGrpSpPr/>
            <p:nvPr userDrawn="1"/>
          </p:nvGrpSpPr>
          <p:grpSpPr>
            <a:xfrm>
              <a:off x="8439748" y="332656"/>
              <a:ext cx="1568431" cy="1568431"/>
              <a:chOff x="6737333" y="3172458"/>
              <a:chExt cx="1303316" cy="1303316"/>
            </a:xfrm>
            <a:noFill/>
          </p:grpSpPr>
          <p:sp>
            <p:nvSpPr>
              <p:cNvPr id="13" name="Freeform: Shape 12">
                <a:extLst>
                  <a:ext uri="{FF2B5EF4-FFF2-40B4-BE49-F238E27FC236}">
                    <a16:creationId xmlns:a16="http://schemas.microsoft.com/office/drawing/2014/main" id="{10AB55F8-31A0-F272-D57E-4327EA8305D7}"/>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97509D5-73F7-05FB-BFDB-B77904D87C7C}"/>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580D843-07B7-EB97-7433-9E0FC6203617}"/>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6A99D9B-E6A5-D506-3CB7-3FE2CAB34A43}"/>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822A634-A566-3095-A3A1-377BB11AAC43}"/>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7839078-6E36-1B38-C796-8CC92F1E2D6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F01975D-9061-B6D0-D41E-BB672376CE8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12" name="Graphic 11">
              <a:extLst>
                <a:ext uri="{FF2B5EF4-FFF2-40B4-BE49-F238E27FC236}">
                  <a16:creationId xmlns:a16="http://schemas.microsoft.com/office/drawing/2014/main" id="{28C5C117-6772-0B3F-B242-116E0EEBEB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14" name="Footer Placeholder 13">
            <a:extLst>
              <a:ext uri="{FF2B5EF4-FFF2-40B4-BE49-F238E27FC236}">
                <a16:creationId xmlns:a16="http://schemas.microsoft.com/office/drawing/2014/main" id="{A13CB243-44C1-F6F9-A894-48972650F803}"/>
              </a:ext>
            </a:extLst>
          </p:cNvPr>
          <p:cNvSpPr>
            <a:spLocks noGrp="1"/>
          </p:cNvSpPr>
          <p:nvPr>
            <p:ph type="ftr" sz="quarter" idx="11"/>
          </p:nvPr>
        </p:nvSpPr>
        <p:spPr/>
        <p:txBody>
          <a:bodyPr/>
          <a:lstStyle/>
          <a:p>
            <a:r>
              <a:rPr lang="en-US"/>
              <a:t>© Solace   |   Proprietary &amp; Confidential</a:t>
            </a:r>
          </a:p>
        </p:txBody>
      </p:sp>
      <p:sp>
        <p:nvSpPr>
          <p:cNvPr id="28" name="Slide Number Placeholder 27">
            <a:extLst>
              <a:ext uri="{FF2B5EF4-FFF2-40B4-BE49-F238E27FC236}">
                <a16:creationId xmlns:a16="http://schemas.microsoft.com/office/drawing/2014/main" id="{25AA9A5A-A367-8D0A-D191-34683CE230DC}"/>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94A594FD-8A50-7193-07B8-4E4810456FCA}"/>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0209222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Green Divider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39995"/>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pic>
        <p:nvPicPr>
          <p:cNvPr id="10" name="Graphic 9">
            <a:extLst>
              <a:ext uri="{FF2B5EF4-FFF2-40B4-BE49-F238E27FC236}">
                <a16:creationId xmlns:a16="http://schemas.microsoft.com/office/drawing/2014/main" id="{3E216BBF-AD11-64D7-E0AF-8D45D24760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p>
            <a:fld id="{059D0BDF-8BE7-4C3F-9009-83FAF1F2140A}" type="slidenum">
              <a:rPr lang="en-US" smtClean="0"/>
              <a:pPr/>
              <a:t>‹Nr.›</a:t>
            </a:fld>
            <a:endParaRPr lang="en-US"/>
          </a:p>
        </p:txBody>
      </p:sp>
      <p:cxnSp>
        <p:nvCxnSpPr>
          <p:cNvPr id="13" name="Straight Connector 12">
            <a:extLst>
              <a:ext uri="{FF2B5EF4-FFF2-40B4-BE49-F238E27FC236}">
                <a16:creationId xmlns:a16="http://schemas.microsoft.com/office/drawing/2014/main" id="{4B8D4E34-A7C3-E1B7-7486-438F6750315A}"/>
              </a:ext>
            </a:extLst>
          </p:cNvPr>
          <p:cNvCxnSpPr>
            <a:cxnSpLocks/>
          </p:cNvCxnSpPr>
          <p:nvPr userDrawn="1"/>
        </p:nvCxnSpPr>
        <p:spPr>
          <a:xfrm>
            <a:off x="0" y="1053000"/>
            <a:ext cx="3214382" cy="0"/>
          </a:xfrm>
          <a:prstGeom prst="line">
            <a:avLst/>
          </a:prstGeom>
          <a:ln w="31750" cap="flat">
            <a:solidFill>
              <a:schemeClr val="bg1"/>
            </a:solidFill>
          </a:ln>
        </p:spPr>
        <p:style>
          <a:lnRef idx="2">
            <a:schemeClr val="accent1"/>
          </a:lnRef>
          <a:fillRef idx="0">
            <a:schemeClr val="accent1"/>
          </a:fillRef>
          <a:effectRef idx="1">
            <a:schemeClr val="accent1"/>
          </a:effectRef>
          <a:fontRef idx="minor">
            <a:schemeClr val="tx1"/>
          </a:fontRef>
        </p:style>
      </p:cxnSp>
      <p:pic>
        <p:nvPicPr>
          <p:cNvPr id="16" name="Graphic 15">
            <a:extLst>
              <a:ext uri="{FF2B5EF4-FFF2-40B4-BE49-F238E27FC236}">
                <a16:creationId xmlns:a16="http://schemas.microsoft.com/office/drawing/2014/main" id="{FC61A1CB-D9F9-A727-40EB-A2C367E865DC}"/>
              </a:ext>
            </a:extLst>
          </p:cNvPr>
          <p:cNvPicPr>
            <a:picLocks noChangeAspect="1"/>
          </p:cNvPicPr>
          <p:nvPr userDrawn="1"/>
        </p:nvPicPr>
        <p:blipFill>
          <a:blip>
            <a:extLst>
              <a:ext uri="{96DAC541-7B7A-43D3-8B79-37D633B846F1}">
                <asvg:svgBlip xmlns:asvg="http://schemas.microsoft.com/office/drawing/2016/SVG/main" r:embed="rId6"/>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8296809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Divid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8408"/>
            <a:ext cx="5833169" cy="3233116"/>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4" name="Straight Connector 3">
            <a:extLst>
              <a:ext uri="{FF2B5EF4-FFF2-40B4-BE49-F238E27FC236}">
                <a16:creationId xmlns:a16="http://schemas.microsoft.com/office/drawing/2014/main" id="{97BB5BD1-BFD0-3AC6-C718-D5707C28AFD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F753A11D-F30A-BF3A-76C0-84C62D52A10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72771558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48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585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744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4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169253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1303219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96378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9792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5081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0906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896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613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026695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35738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0091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4279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46520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97036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7534161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160387385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5852461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833636541"/>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252000"/>
            <a:ext cx="4066941" cy="6606000"/>
          </a:xfrm>
          <a:solidFill>
            <a:schemeClr val="tx2">
              <a:alpha val="70000"/>
            </a:schemeClr>
          </a:solid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620000"/>
            <a:ext cx="7090154"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7067376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2" y="1091638"/>
            <a:ext cx="3389298" cy="576636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86" tIns="25386" rIns="25386" bIns="25386" numCol="1" spcCol="38100" rtlCol="0" anchor="ctr">
            <a:noAutofit/>
          </a:bodyPr>
          <a:lstStyle/>
          <a:p>
            <a:pPr marL="0" marR="0" indent="0" algn="ctr" defTabSz="437888" rtl="0" fontAlgn="auto" latinLnBrk="0" hangingPunct="0">
              <a:lnSpc>
                <a:spcPct val="100000"/>
              </a:lnSpc>
              <a:spcBef>
                <a:spcPts val="0"/>
              </a:spcBef>
              <a:spcAft>
                <a:spcPts val="0"/>
              </a:spcAft>
              <a:buClrTx/>
              <a:buSzTx/>
              <a:buFontTx/>
              <a:buNone/>
              <a:tabLst/>
            </a:pPr>
            <a:endParaRPr kumimoji="0" lang="en-US" sz="2998"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3646373" y="1337310"/>
            <a:ext cx="3886200" cy="481076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243840" y="1337310"/>
            <a:ext cx="2743200" cy="4810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598262" y="348398"/>
            <a:ext cx="11147766" cy="457048"/>
          </a:xfrm>
        </p:spPr>
        <p:txBody>
          <a:bodyPr anchor="ctr" anchorCtr="0"/>
          <a:lstStyle>
            <a:lvl1pPr>
              <a:lnSpc>
                <a:spcPct val="90000"/>
              </a:lnSpc>
              <a:defRPr sz="3298"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7859826" y="1337310"/>
            <a:ext cx="3886200" cy="4810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pyright">
            <a:extLst>
              <a:ext uri="{FF2B5EF4-FFF2-40B4-BE49-F238E27FC236}">
                <a16:creationId xmlns:a16="http://schemas.microsoft.com/office/drawing/2014/main" id="{FE7BE675-DF07-A079-5A51-982091CCDC7A}"/>
              </a:ext>
            </a:extLst>
          </p:cNvPr>
          <p:cNvSpPr txBox="1"/>
          <p:nvPr userDrawn="1"/>
        </p:nvSpPr>
        <p:spPr bwMode="black">
          <a:xfrm>
            <a:off x="503870" y="6559837"/>
            <a:ext cx="2269088" cy="92333"/>
          </a:xfrm>
          <a:prstGeom prst="rect">
            <a:avLst/>
          </a:prstGeom>
          <a:noFill/>
        </p:spPr>
        <p:txBody>
          <a:bodyPr wrap="square" lIns="0" tIns="0" rIns="0" bIns="0" rtlCol="0">
            <a:spAutoFit/>
          </a:bodyPr>
          <a:lstStyle/>
          <a:p>
            <a:pPr marL="84071" marR="0" indent="-84071" algn="l" defTabSz="1087905"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2022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16606072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620000"/>
            <a:ext cx="11183565"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66986770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57338"/>
            <a:ext cx="11182288" cy="4778662"/>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19462429"/>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81">
          <p15:clr>
            <a:srgbClr val="FBAE40"/>
          </p15:clr>
        </p15:guide>
        <p15:guide id="5" orient="horz" pos="3991">
          <p15:clr>
            <a:srgbClr val="FBAE40"/>
          </p15:clr>
        </p15:guide>
        <p15:guide id="6" pos="73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79283225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90911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6265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8928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0203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4598115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095088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3985285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4233413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9656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7156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727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8005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9469750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95875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70059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3111320"/>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4275249"/>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3915300"/>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67468303"/>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115524394"/>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1388694325"/>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White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7"/>
            <a:ext cx="11088000" cy="4895851"/>
          </a:xfrm>
        </p:spPr>
        <p:txBody>
          <a:bodyPr>
            <a:noAutofit/>
          </a:bodyPr>
          <a:lstStyle>
            <a:lvl5pPr>
              <a:defRPr/>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1"/>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1" y="1053000"/>
            <a:ext cx="321438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351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2"/>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3"/>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1023364642"/>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column White">
    <p:bg>
      <p:bgPr>
        <a:solidFill>
          <a:srgbClr val="FFFFFF"/>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598261" y="1347854"/>
            <a:ext cx="5069486" cy="4800600"/>
          </a:xfrm>
        </p:spPr>
        <p:txBody>
          <a:bodyPr/>
          <a:lstStyle>
            <a:lvl1pPr>
              <a:defRPr b="0"/>
            </a:lvl1pPr>
            <a:lvl2pPr>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3C9FDF5E-4912-46E1-BC83-7C00373624AF}"/>
              </a:ext>
            </a:extLst>
          </p:cNvPr>
          <p:cNvSpPr>
            <a:spLocks noGrp="1"/>
          </p:cNvSpPr>
          <p:nvPr>
            <p:ph sz="quarter" idx="14"/>
          </p:nvPr>
        </p:nvSpPr>
        <p:spPr>
          <a:xfrm>
            <a:off x="6096000" y="1347470"/>
            <a:ext cx="5069682" cy="4800600"/>
          </a:xfrm>
        </p:spPr>
        <p:txBody>
          <a:bodyPr/>
          <a:lstStyle>
            <a:lvl2pPr marL="571500" indent="-187325">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6" name="Footer Placeholder 1">
            <a:extLst>
              <a:ext uri="{FF2B5EF4-FFF2-40B4-BE49-F238E27FC236}">
                <a16:creationId xmlns:a16="http://schemas.microsoft.com/office/drawing/2014/main" id="{5DC2B4BF-E585-5CF2-A59B-561A9024ECD4}"/>
              </a:ext>
            </a:extLst>
          </p:cNvPr>
          <p:cNvSpPr>
            <a:spLocks noGrp="1"/>
          </p:cNvSpPr>
          <p:nvPr>
            <p:ph type="ftr" sz="quarter" idx="3"/>
          </p:nvPr>
        </p:nvSpPr>
        <p:spPr>
          <a:xfrm>
            <a:off x="636982" y="6476284"/>
            <a:ext cx="1586914" cy="244977"/>
          </a:xfrm>
          <a:prstGeom prst="rect">
            <a:avLst/>
          </a:prstGeom>
        </p:spPr>
        <p:txBody>
          <a:bodyPr vert="horz" lIns="91440" tIns="45720" rIns="91440" bIns="45720" rtlCol="0" anchor="ctr"/>
          <a:lstStyle>
            <a:lvl1pPr algn="l">
              <a:lnSpc>
                <a:spcPct val="80000"/>
              </a:lnSpc>
              <a:defRPr sz="1000" b="0">
                <a:solidFill>
                  <a:schemeClr val="tx2"/>
                </a:solidFill>
                <a:latin typeface="Calibri" panose="020F0502020204030204" pitchFamily="34" charset="0"/>
                <a:cs typeface="Calibri" panose="020F0502020204030204" pitchFamily="34" charset="0"/>
              </a:defRPr>
            </a:lvl1pPr>
          </a:lstStyle>
          <a:p>
            <a:r>
              <a:rPr lang="en-US"/>
              <a:t>Copyright Solace</a:t>
            </a:r>
            <a:br>
              <a:rPr lang="en-US"/>
            </a:br>
            <a:r>
              <a:rPr lang="en-US"/>
              <a:t>Proprietary &amp; Confidential</a:t>
            </a:r>
          </a:p>
        </p:txBody>
      </p:sp>
      <p:sp>
        <p:nvSpPr>
          <p:cNvPr id="7" name="Slide Number Placeholder 2">
            <a:extLst>
              <a:ext uri="{FF2B5EF4-FFF2-40B4-BE49-F238E27FC236}">
                <a16:creationId xmlns:a16="http://schemas.microsoft.com/office/drawing/2014/main" id="{DD11A02F-8FD9-4E5F-7E9C-BEB26C60098E}"/>
              </a:ext>
            </a:extLst>
          </p:cNvPr>
          <p:cNvSpPr>
            <a:spLocks noGrp="1"/>
          </p:cNvSpPr>
          <p:nvPr>
            <p:ph type="sldNum" sz="quarter" idx="4"/>
          </p:nvPr>
        </p:nvSpPr>
        <p:spPr>
          <a:xfrm>
            <a:off x="103988" y="6479144"/>
            <a:ext cx="504825" cy="224968"/>
          </a:xfrm>
          <a:prstGeom prst="rect">
            <a:avLst/>
          </a:prstGeom>
        </p:spPr>
        <p:txBody>
          <a:bodyPr vert="horz" lIns="91440" tIns="45720" rIns="91440" bIns="45720" rtlCol="0" anchor="ctr"/>
          <a:lstStyle>
            <a:lvl1pPr algn="ctr">
              <a:defRPr sz="1400" b="1">
                <a:solidFill>
                  <a:srgbClr val="093B5F"/>
                </a:solidFill>
                <a:latin typeface="Calibri" panose="020F0502020204030204" pitchFamily="34" charset="0"/>
                <a:cs typeface="Calibri" panose="020F0502020204030204" pitchFamily="34" charset="0"/>
              </a:defRPr>
            </a:lvl1pPr>
          </a:lstStyle>
          <a:p>
            <a:fld id="{46295180-FDB1-4196-84A4-AB3CBFFFE894}" type="slidenum">
              <a:rPr lang="en-US" smtClean="0"/>
              <a:pPr/>
              <a:t>‹Nr.›</a:t>
            </a:fld>
            <a:endParaRPr lang="en-US"/>
          </a:p>
        </p:txBody>
      </p:sp>
      <p:sp>
        <p:nvSpPr>
          <p:cNvPr id="2" name="Title Text">
            <a:extLst>
              <a:ext uri="{FF2B5EF4-FFF2-40B4-BE49-F238E27FC236}">
                <a16:creationId xmlns:a16="http://schemas.microsoft.com/office/drawing/2014/main" id="{EA6BA173-541C-63CD-AB4F-E32C9A2BBA73}"/>
              </a:ext>
            </a:extLst>
          </p:cNvPr>
          <p:cNvSpPr txBox="1">
            <a:spLocks noGrp="1"/>
          </p:cNvSpPr>
          <p:nvPr>
            <p:ph type="title"/>
          </p:nvPr>
        </p:nvSpPr>
        <p:spPr>
          <a:xfrm>
            <a:off x="598263" y="59465"/>
            <a:ext cx="11231789" cy="965456"/>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ctr" anchorCtr="0"/>
          <a:lstStyle/>
          <a:p>
            <a:endParaRPr/>
          </a:p>
        </p:txBody>
      </p:sp>
    </p:spTree>
    <p:extLst>
      <p:ext uri="{BB962C8B-B14F-4D97-AF65-F5344CB8AC3E}">
        <p14:creationId xmlns:p14="http://schemas.microsoft.com/office/powerpoint/2010/main" val="390302524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theme" Target="../theme/theme2.xml"/><Relationship Id="rId29"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slideLayout" Target="../slideLayouts/slideLayout61.xml"/><Relationship Id="rId24" Type="http://schemas.openxmlformats.org/officeDocument/2006/relationships/slideLayout" Target="../slideLayouts/slideLayout62.xml"/><Relationship Id="rId25" Type="http://schemas.openxmlformats.org/officeDocument/2006/relationships/theme" Target="../theme/theme3.xml"/><Relationship Id="rId26"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A3B166F3-B7E3-8F7D-DD55-374CDD77829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11089754"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1438"/>
            <a:ext cx="11088000" cy="475185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211" name="Graphic 210">
            <a:extLst>
              <a:ext uri="{FF2B5EF4-FFF2-40B4-BE49-F238E27FC236}">
                <a16:creationId xmlns:a16="http://schemas.microsoft.com/office/drawing/2014/main" id="{6AF4FEA6-CCA3-5154-98D3-775009DADAF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238508" y="6237352"/>
            <a:ext cx="1402108" cy="360000"/>
          </a:xfrm>
          <a:prstGeom prst="rect">
            <a:avLst/>
          </a:prstGeom>
        </p:spPr>
      </p:pic>
      <p:sp>
        <p:nvSpPr>
          <p:cNvPr id="5" name="Footer Placeholder 4">
            <a:extLst>
              <a:ext uri="{FF2B5EF4-FFF2-40B4-BE49-F238E27FC236}">
                <a16:creationId xmlns:a16="http://schemas.microsoft.com/office/drawing/2014/main" id="{C860D63A-3DCF-6F76-37D2-BB1047842876}"/>
              </a:ext>
            </a:extLst>
          </p:cNvPr>
          <p:cNvSpPr>
            <a:spLocks noGrp="1"/>
          </p:cNvSpPr>
          <p:nvPr>
            <p:ph type="ftr" sz="quarter" idx="3"/>
          </p:nvPr>
        </p:nvSpPr>
        <p:spPr>
          <a:xfrm>
            <a:off x="840000" y="6381000"/>
            <a:ext cx="1512000"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defRPr>
            </a:lvl1pPr>
          </a:lstStyle>
          <a:p>
            <a:r>
              <a:rPr lang="en-US"/>
              <a:t>© Solace   |   Proprietary &amp; Confidential</a:t>
            </a:r>
          </a:p>
        </p:txBody>
      </p:sp>
      <p:sp>
        <p:nvSpPr>
          <p:cNvPr id="6" name="Slide Number Placeholder 5">
            <a:extLst>
              <a:ext uri="{FF2B5EF4-FFF2-40B4-BE49-F238E27FC236}">
                <a16:creationId xmlns:a16="http://schemas.microsoft.com/office/drawing/2014/main" id="{1D2FE529-5FD5-3C60-3388-392DEFE0C9F7}"/>
              </a:ext>
            </a:extLst>
          </p:cNvPr>
          <p:cNvSpPr>
            <a:spLocks noGrp="1"/>
          </p:cNvSpPr>
          <p:nvPr>
            <p:ph type="sldNum" sz="quarter" idx="4"/>
          </p:nvPr>
        </p:nvSpPr>
        <p:spPr>
          <a:xfrm flipH="1">
            <a:off x="550862" y="6381000"/>
            <a:ext cx="216000" cy="216000"/>
          </a:xfrm>
          <a:prstGeom prst="rect">
            <a:avLst/>
          </a:prstGeom>
        </p:spPr>
        <p:txBody>
          <a:bodyPr vert="horz" lIns="0" tIns="0" rIns="0" bIns="0" rtlCol="0" anchor="ctr"/>
          <a:lstStyle>
            <a:lvl1pPr algn="ctr">
              <a:defRPr sz="800" b="1">
                <a:solidFill>
                  <a:schemeClr val="tx1"/>
                </a:solidFill>
              </a:defRPr>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475790673"/>
      </p:ext>
    </p:extLst>
  </p:cSld>
  <p:clrMap bg1="lt1" tx1="dk1" bg2="lt2" tx2="dk2" accent1="accent1" accent2="accent2" accent3="accent3" accent4="accent4" accent5="accent5" accent6="accent6" hlink="hlink" folHlink="folHlink"/>
  <p:sldLayoutIdLst>
    <p:sldLayoutId id="2147483664" r:id="rId1"/>
    <p:sldLayoutId id="2147483667" r:id="rId2"/>
    <p:sldLayoutId id="2147483708" r:id="rId3"/>
    <p:sldLayoutId id="2147483710" r:id="rId4"/>
    <p:sldLayoutId id="2147483712" r:id="rId5"/>
    <p:sldLayoutId id="2147483714" r:id="rId6"/>
    <p:sldLayoutId id="2147483713" r:id="rId7"/>
    <p:sldLayoutId id="2147483715" r:id="rId8"/>
    <p:sldLayoutId id="2147483717" r:id="rId9"/>
    <p:sldLayoutId id="2147483716" r:id="rId10"/>
    <p:sldLayoutId id="2147483703" r:id="rId11"/>
  </p:sldLayoutIdLst>
  <p:hf hdr="0" dt="0"/>
  <p:txStyles>
    <p:titleStyle>
      <a:lvl1pPr algn="l" defTabSz="914400" rtl="0" eaLnBrk="1" latinLnBrk="0" hangingPunct="1">
        <a:lnSpc>
          <a:spcPct val="80000"/>
        </a:lnSpc>
        <a:spcBef>
          <a:spcPct val="0"/>
        </a:spcBef>
        <a:buNone/>
        <a:defRPr sz="3200" b="1" kern="1200">
          <a:solidFill>
            <a:schemeClr val="tx1"/>
          </a:solidFill>
          <a:latin typeface="+mn-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mn-lt"/>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mn-lt"/>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mn-lt"/>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n-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38" orient="horz" pos="4065" userDrawn="1">
          <p15:clr>
            <a:srgbClr val="F26B43"/>
          </p15:clr>
        </p15:guide>
        <p15:guide id="40" orient="horz" pos="4156" userDrawn="1">
          <p15:clr>
            <a:srgbClr val="F26B43"/>
          </p15:clr>
        </p15:guide>
        <p15:guide id="41" orient="horz" pos="4320" userDrawn="1">
          <p15:clr>
            <a:srgbClr val="F26B43"/>
          </p15:clr>
        </p15:guide>
        <p15:guide id="42" orient="horz" pos="84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1761218609"/>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82" r:id="rId3"/>
    <p:sldLayoutId id="2147483752" r:id="rId4"/>
    <p:sldLayoutId id="2147483750" r:id="rId5"/>
    <p:sldLayoutId id="2147483751" r:id="rId6"/>
    <p:sldLayoutId id="2147483683" r:id="rId7"/>
    <p:sldLayoutId id="2147483684" r:id="rId8"/>
    <p:sldLayoutId id="2147483690" r:id="rId9"/>
    <p:sldLayoutId id="2147483689" r:id="rId10"/>
    <p:sldLayoutId id="2147483692" r:id="rId11"/>
    <p:sldLayoutId id="2147483694" r:id="rId12"/>
    <p:sldLayoutId id="2147483695" r:id="rId13"/>
    <p:sldLayoutId id="2147483696" r:id="rId14"/>
    <p:sldLayoutId id="2147483697" r:id="rId15"/>
    <p:sldLayoutId id="2147483698" r:id="rId16"/>
    <p:sldLayoutId id="2147483753" r:id="rId17"/>
    <p:sldLayoutId id="2147483704" r:id="rId18"/>
    <p:sldLayoutId id="2147483705" r:id="rId19"/>
    <p:sldLayoutId id="2147483699" r:id="rId20"/>
    <p:sldLayoutId id="2147483754" r:id="rId21"/>
    <p:sldLayoutId id="2147483755" r:id="rId22"/>
    <p:sldLayoutId id="2147483756" r:id="rId23"/>
    <p:sldLayoutId id="2147483757" r:id="rId24"/>
    <p:sldLayoutId id="2147483758" r:id="rId25"/>
    <p:sldLayoutId id="2147483759" r:id="rId26"/>
    <p:sldLayoutId id="2147483760" r:id="rId27"/>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40" orient="horz" pos="4156" userDrawn="1">
          <p15:clr>
            <a:srgbClr val="F26B43"/>
          </p15:clr>
        </p15:guide>
        <p15:guide id="41" orient="horz" pos="3929" userDrawn="1">
          <p15:clr>
            <a:srgbClr val="F26B43"/>
          </p15:clr>
        </p15:guide>
        <p15:guide id="42" orient="horz" pos="845" userDrawn="1">
          <p15:clr>
            <a:srgbClr val="F26B43"/>
          </p15:clr>
        </p15:guide>
        <p15:guide id="43" orient="horz" pos="406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399753072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p15:clr>
            <a:srgbClr val="F26B43"/>
          </p15:clr>
        </p15:guide>
        <p15:guide id="2" pos="347">
          <p15:clr>
            <a:srgbClr val="F26B43"/>
          </p15:clr>
        </p15:guide>
        <p15:guide id="3" pos="7333">
          <p15:clr>
            <a:srgbClr val="F26B43"/>
          </p15:clr>
        </p15:guide>
        <p15:guide id="4" pos="846">
          <p15:clr>
            <a:srgbClr val="F26B43"/>
          </p15:clr>
        </p15:guide>
        <p15:guide id="5" pos="937">
          <p15:clr>
            <a:srgbClr val="F26B43"/>
          </p15:clr>
        </p15:guide>
        <p15:guide id="6" pos="1436">
          <p15:clr>
            <a:srgbClr val="F26B43"/>
          </p15:clr>
        </p15:guide>
        <p15:guide id="7" pos="1526">
          <p15:clr>
            <a:srgbClr val="F26B43"/>
          </p15:clr>
        </p15:guide>
        <p15:guide id="8" pos="2025">
          <p15:clr>
            <a:srgbClr val="F26B43"/>
          </p15:clr>
        </p15:guide>
        <p15:guide id="9" pos="2115">
          <p15:clr>
            <a:srgbClr val="F26B43"/>
          </p15:clr>
        </p15:guide>
        <p15:guide id="10" pos="2615">
          <p15:clr>
            <a:srgbClr val="F26B43"/>
          </p15:clr>
        </p15:guide>
        <p15:guide id="11" pos="2706">
          <p15:clr>
            <a:srgbClr val="F26B43"/>
          </p15:clr>
        </p15:guide>
        <p15:guide id="12" pos="3205">
          <p15:clr>
            <a:srgbClr val="F26B43"/>
          </p15:clr>
        </p15:guide>
        <p15:guide id="13" pos="3296">
          <p15:clr>
            <a:srgbClr val="F26B43"/>
          </p15:clr>
        </p15:guide>
        <p15:guide id="14" pos="3795">
          <p15:clr>
            <a:srgbClr val="F26B43"/>
          </p15:clr>
        </p15:guide>
        <p15:guide id="15" pos="3885">
          <p15:clr>
            <a:srgbClr val="F26B43"/>
          </p15:clr>
        </p15:guide>
        <p15:guide id="16" pos="4475">
          <p15:clr>
            <a:srgbClr val="F26B43"/>
          </p15:clr>
        </p15:guide>
        <p15:guide id="17" pos="4384">
          <p15:clr>
            <a:srgbClr val="F26B43"/>
          </p15:clr>
        </p15:guide>
        <p15:guide id="18" pos="4974">
          <p15:clr>
            <a:srgbClr val="F26B43"/>
          </p15:clr>
        </p15:guide>
        <p15:guide id="19" pos="5065">
          <p15:clr>
            <a:srgbClr val="F26B43"/>
          </p15:clr>
        </p15:guide>
        <p15:guide id="20" pos="5564">
          <p15:clr>
            <a:srgbClr val="F26B43"/>
          </p15:clr>
        </p15:guide>
        <p15:guide id="21" pos="5654">
          <p15:clr>
            <a:srgbClr val="F26B43"/>
          </p15:clr>
        </p15:guide>
        <p15:guide id="22" pos="6153">
          <p15:clr>
            <a:srgbClr val="F26B43"/>
          </p15:clr>
        </p15:guide>
        <p15:guide id="23" pos="6244">
          <p15:clr>
            <a:srgbClr val="F26B43"/>
          </p15:clr>
        </p15:guide>
        <p15:guide id="24" pos="6743">
          <p15:clr>
            <a:srgbClr val="F26B43"/>
          </p15:clr>
        </p15:guide>
        <p15:guide id="25" pos="6834">
          <p15:clr>
            <a:srgbClr val="F26B43"/>
          </p15:clr>
        </p15:guide>
        <p15:guide id="26" orient="horz" pos="1706">
          <p15:clr>
            <a:srgbClr val="F26B43"/>
          </p15:clr>
        </p15:guide>
        <p15:guide id="27" orient="horz" pos="1117">
          <p15:clr>
            <a:srgbClr val="F26B43"/>
          </p15:clr>
        </p15:guide>
        <p15:guide id="28" orient="horz" pos="1207">
          <p15:clr>
            <a:srgbClr val="F26B43"/>
          </p15:clr>
        </p15:guide>
        <p15:guide id="29" orient="horz" pos="663">
          <p15:clr>
            <a:srgbClr val="F26B43"/>
          </p15:clr>
        </p15:guide>
        <p15:guide id="30" orient="horz" pos="527">
          <p15:clr>
            <a:srgbClr val="F26B43"/>
          </p15:clr>
        </p15:guide>
        <p15:guide id="31" orient="horz" pos="210">
          <p15:clr>
            <a:srgbClr val="F26B43"/>
          </p15:clr>
        </p15:guide>
        <p15:guide id="32" orient="horz" pos="2296">
          <p15:clr>
            <a:srgbClr val="F26B43"/>
          </p15:clr>
        </p15:guide>
        <p15:guide id="33" orient="horz" pos="2387">
          <p15:clr>
            <a:srgbClr val="F26B43"/>
          </p15:clr>
        </p15:guide>
        <p15:guide id="34" orient="horz" pos="2886">
          <p15:clr>
            <a:srgbClr val="F26B43"/>
          </p15:clr>
        </p15:guide>
        <p15:guide id="35" orient="horz" pos="2976">
          <p15:clr>
            <a:srgbClr val="F26B43"/>
          </p15:clr>
        </p15:guide>
        <p15:guide id="36" orient="horz" pos="3475">
          <p15:clr>
            <a:srgbClr val="F26B43"/>
          </p15:clr>
        </p15:guide>
        <p15:guide id="37" orient="horz" pos="3566">
          <p15:clr>
            <a:srgbClr val="F26B43"/>
          </p15:clr>
        </p15:guide>
        <p15:guide id="40" orient="horz" pos="4156">
          <p15:clr>
            <a:srgbClr val="F26B43"/>
          </p15:clr>
        </p15:guide>
        <p15:guide id="41" orient="horz" pos="3929">
          <p15:clr>
            <a:srgbClr val="F26B43"/>
          </p15:clr>
        </p15:guide>
        <p15:guide id="42" orient="horz" pos="845">
          <p15:clr>
            <a:srgbClr val="F26B43"/>
          </p15:clr>
        </p15:guide>
        <p15:guide id="43" orient="horz" pos="40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jpeg"/><Relationship Id="rId9"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32.svg"/><Relationship Id="rId12" Type="http://schemas.openxmlformats.org/officeDocument/2006/relationships/image" Target="../media/image33.svg"/><Relationship Id="rId13" Type="http://schemas.openxmlformats.org/officeDocument/2006/relationships/image" Target="../media/image34.jpeg"/><Relationship Id="rId14" Type="http://schemas.openxmlformats.org/officeDocument/2006/relationships/image" Target="../media/image35.jpeg"/><Relationship Id="rId15" Type="http://schemas.openxmlformats.org/officeDocument/2006/relationships/image" Target="../media/image36.png"/><Relationship Id="rId16" Type="http://schemas.openxmlformats.org/officeDocument/2006/relationships/image" Target="../media/image37.svg"/><Relationship Id="rId17" Type="http://schemas.openxmlformats.org/officeDocument/2006/relationships/image" Target="../media/image38.png"/><Relationship Id="rId18" Type="http://schemas.openxmlformats.org/officeDocument/2006/relationships/image" Target="../media/image39.svg"/><Relationship Id="rId19" Type="http://schemas.openxmlformats.org/officeDocument/2006/relationships/image" Target="../media/image40.png"/><Relationship Id="rId20" Type="http://schemas.openxmlformats.org/officeDocument/2006/relationships/image" Target="../media/image41.svg"/><Relationship Id="rId21" Type="http://schemas.openxmlformats.org/officeDocument/2006/relationships/image" Target="../media/image42.svg"/><Relationship Id="rId22" Type="http://schemas.openxmlformats.org/officeDocument/2006/relationships/image" Target="../media/image43.svg"/><Relationship Id="rId23" Type="http://schemas.openxmlformats.org/officeDocument/2006/relationships/image" Target="../media/image44.png"/><Relationship Id="rId24" Type="http://schemas.openxmlformats.org/officeDocument/2006/relationships/image" Target="../media/image45.svg"/><Relationship Id="rId25" Type="http://schemas.openxmlformats.org/officeDocument/2006/relationships/image" Target="../media/image4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jpe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Solace Agent Mesh Vision</a:t>
            </a:r>
            <a:br>
              <a:rPr lang="en-US"/>
            </a:br>
            <a:r>
              <a:rPr lang="en-US" sz="2400"/>
              <a:t>Managing Your AI Worker Lifecycle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Monitor performance</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and provide feedback</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(coming soon!)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Get them working</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together as a team</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Close oversight to ensure accuracy</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Internal education to</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improve competence</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Give access to systems &amp; tools</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Define role, responsibilities, expectations</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E627BF-781E-B7D1-E306-D54D206DDBAE}"/>
              </a:ext>
            </a:extLst>
          </p:cNvPr>
          <p:cNvSpPr>
            <a:spLocks noGrp="1"/>
          </p:cNvSpPr>
          <p:nvPr>
            <p:ph type="title"/>
          </p:nvPr>
        </p:nvSpPr>
        <p:spPr/>
        <p:txBody>
          <a:bodyPr/>
          <a:lstStyle/>
          <a:p>
            <a:r>
              <a:rPr lang="de-DE" dirty="0"/>
              <a:t xml:space="preserve">The Use Case: One Hail Cell, </a:t>
            </a:r>
            <a:r>
              <a:rPr lang="de-DE" dirty="0" err="1"/>
              <a:t>One Claim</a:t>
            </a:r>
            <a:endParaRPr lang="de-DE" dirty="0"/>
          </a:p>
        </p:txBody>
      </p:sp>
      <p:sp>
        <p:nvSpPr>
          <p:cNvPr id="3" name="Fußzeilenplatzhalter 2">
            <a:extLst>
              <a:ext uri="{FF2B5EF4-FFF2-40B4-BE49-F238E27FC236}">
                <a16:creationId xmlns:a16="http://schemas.microsoft.com/office/drawing/2014/main" id="{198FC6F6-0740-8DB0-52B7-A8B7C2D199E4}"/>
              </a:ext>
            </a:extLst>
          </p:cNvPr>
          <p:cNvSpPr>
            <a:spLocks noGrp="1"/>
          </p:cNvSpPr>
          <p:nvPr>
            <p:ph type="ftr" sz="quarter" idx="10"/>
          </p:nvPr>
        </p:nvSpPr>
        <p:spPr/>
        <p:txBody>
          <a:bodyPr/>
          <a:lstStyle/>
          <a:p>
            <a:r>
              <a:rPr lang="en-US"/>
              <a:t>© Solace   |   Proprietary &amp; Confidential</a:t>
            </a:r>
          </a:p>
        </p:txBody>
      </p:sp>
      <p:sp>
        <p:nvSpPr>
          <p:cNvPr id="4" name="Foliennummernplatzhalter 3">
            <a:extLst>
              <a:ext uri="{FF2B5EF4-FFF2-40B4-BE49-F238E27FC236}">
                <a16:creationId xmlns:a16="http://schemas.microsoft.com/office/drawing/2014/main" id="{14397BCF-AD53-5EB7-1FFD-E53F0AAF88C7}"/>
              </a:ext>
            </a:extLst>
          </p:cNvPr>
          <p:cNvSpPr>
            <a:spLocks noGrp="1"/>
          </p:cNvSpPr>
          <p:nvPr>
            <p:ph type="sldNum" sz="quarter" idx="11"/>
          </p:nvPr>
        </p:nvSpPr>
        <p:spPr/>
        <p:txBody>
          <a:bodyPr/>
          <a:lstStyle/>
          <a:p>
            <a:fld id="{5AC94115-40D6-4F9E-B464-3718F525A7D7}" type="slidenum">
              <a:rPr lang="en-US" smtClean="0"/>
              <a:pPr/>
              <a:t>2</a:t>
            </a:fld>
            <a:endParaRPr lang="en-US"/>
          </a:p>
        </p:txBody>
      </p:sp>
      <p:sp>
        <p:nvSpPr>
          <p:cNvPr id="9101" name="Stage Card"/>
          <p:cNvSpPr/>
          <p:nvPr/>
        </p:nvSpPr>
        <p:spPr>
          <a:xfrm>
            <a:off x="411480" y="1234440"/>
            <a:ext cx="3703320" cy="4105656"/>
          </a:xfrm>
          <a:prstGeom prst="roundRect">
            <a:avLst>
              <a:gd name="adj" fmla="val 9000"/>
            </a:avLst>
          </a:prstGeom>
          <a:solidFill>
            <a:srgbClr val="F3F7F5"/>
          </a:solidFill>
          <a:ln>
            <a:noFill/>
          </a:ln>
        </p:spPr>
        <p:txBody>
          <a:bodyPr wrap="square" lIns="137160" tIns="118872" rIns="137160" bIns="91440">
            <a:normAutofit/>
          </a:bodyPr>
          <a:lstStyle/>
          <a:p>
            <a:pPr>
              <a:spcAft>
                <a:spcPts val="800"/>
              </a:spcAft>
              <a:buNone/>
            </a:pPr>
            <a:r>
              <a:rPr lang="en-US" sz="1300" b="1" dirty="0">
                <a:solidFill>
                  <a:srgbClr val="17375E"/>
                </a:solidFill>
              </a:rPr>
              <a:t>THE STAGE</a:t>
            </a:r>
          </a:p>
          <a:p>
            <a:pPr>
              <a:spcAft>
                <a:spcPts val="800"/>
              </a:spcAft>
              <a:buNone/>
            </a:pPr>
            <a:r>
              <a:rPr lang="en-US" sz="1150" b="1" dirty="0">
                <a:solidFill>
                  <a:srgbClr val="3B3B3B"/>
                </a:solidFill>
              </a:rPr>
              <a:t>Acme Insurance</a:t>
            </a:r>
            <a:r>
              <a:rPr lang="en-US" sz="1150" dirty="0">
                <a:solidFill>
                  <a:srgbClr val="3B3B3B"/>
                </a:solidFill>
              </a:rPr>
              <a:t xml:space="preserve"> - motor and property insurer; 31,600 motor policies in Landkreis Boeblingen, 15,800 parked without garage.</a:t>
            </a:r>
          </a:p>
          <a:p>
            <a:pPr>
              <a:spcAft>
                <a:spcPts val="350"/>
              </a:spcAft>
              <a:buNone/>
            </a:pPr>
            <a:r>
              <a:rPr lang="en-US" sz="1150" b="1" dirty="0">
                <a:solidFill>
                  <a:srgbClr val="3B3B3B"/>
                </a:solidFill>
              </a:rPr>
              <a:t xml:space="preserve">Five FNOL channels: </a:t>
            </a:r>
            <a:r>
              <a:rPr lang="en-US" sz="1150" dirty="0">
                <a:solidFill>
                  <a:srgbClr val="3B3B3B"/>
                </a:solidFill>
              </a:rPr>
              <a:t>app, voice agent, workshop portal, drive-in scanner, agency e-mail.</a:t>
            </a:r>
          </a:p>
          <a:p>
            <a:pPr>
              <a:spcAft>
                <a:spcPts val="800"/>
              </a:spcAft>
              <a:buNone/>
            </a:pPr>
            <a:r>
              <a:rPr lang="en-US" sz="1150" b="1" dirty="0">
                <a:solidFill>
                  <a:srgbClr val="3B3B3B"/>
                </a:solidFill>
              </a:rPr>
              <a:t xml:space="preserve">Core system: </a:t>
            </a:r>
            <a:r>
              <a:rPr lang="en-US" sz="1150" dirty="0">
                <a:solidFill>
                  <a:srgbClr val="3B3B3B"/>
                </a:solidFill>
              </a:rPr>
              <a:t>policies, claims, partners, estimates, payment runs (Postgres).</a:t>
            </a:r>
          </a:p>
          <a:p>
            <a:pPr>
              <a:spcAft>
                <a:spcPts val="800"/>
              </a:spcAft>
              <a:buNone/>
            </a:pPr>
            <a:r>
              <a:rPr lang="en-US" sz="1150" b="1" dirty="0">
                <a:solidFill>
                  <a:srgbClr val="3B3B3B"/>
                </a:solidFill>
              </a:rPr>
              <a:t xml:space="preserve">Intake: </a:t>
            </a:r>
            <a:r>
              <a:rPr lang="en-US" sz="1150" dirty="0">
                <a:solidFill>
                  <a:srgbClr val="3B3B3B"/>
                </a:solidFill>
              </a:rPr>
              <a:t xml:space="preserve">every FNOL, photo set and scanner result streams over the Solace event mesh into MongoDB.  </a:t>
            </a:r>
            <a:r>
              <a:rPr lang="en-US" sz="1150" b="1" dirty="0">
                <a:solidFill>
                  <a:srgbClr val="3B3B3B"/>
                </a:solidFill>
              </a:rPr>
              <a:t xml:space="preserve">Knowledge: </a:t>
            </a:r>
            <a:r>
              <a:rPr lang="en-US" sz="1150" dirty="0">
                <a:solidFill>
                  <a:srgbClr val="3B3B3B"/>
                </a:solidFill>
              </a:rPr>
              <a:t>wordings, guidelines, contracts, playbooks in Qdrant behind MCP.</a:t>
            </a:r>
          </a:p>
          <a:p>
            <a:pPr>
              <a:spcAft>
                <a:spcPts val="350"/>
              </a:spcAft>
              <a:buNone/>
            </a:pPr>
            <a:r>
              <a:rPr lang="en-US" sz="1200" b="1" dirty="0">
                <a:solidFill>
                  <a:srgbClr val="00A76D"/>
                </a:solidFill>
              </a:rPr>
              <a:t>THE TRIGGER - HAIL CELL HZ-0913</a:t>
            </a:r>
          </a:p>
          <a:p>
            <a:pPr>
              <a:spcAft>
                <a:spcPts val="800"/>
              </a:spcAft>
              <a:buNone/>
            </a:pPr>
            <a:r>
              <a:rPr lang="en-US" sz="1150" dirty="0">
                <a:solidFill>
                  <a:srgbClr val="3B3B3B"/>
                </a:solidFill>
              </a:rPr>
              <a:t xml:space="preserve">Sat 18:40, 3.5 cm hail crosses the district. Monday 10:00: 10,400 FNOLs - 9,650 motor, 750 property. </a:t>
            </a:r>
            <a:r>
              <a:rPr lang="en-US" sz="1150" b="1" dirty="0">
                <a:solidFill>
                  <a:srgbClr val="C62828"/>
                </a:solidFill>
              </a:rPr>
              <a:t>Every one of them needs the same three questions answered.</a:t>
            </a:r>
          </a:p>
          <a:p>
            <a:pPr>
              <a:spcAft>
                <a:spcPts val="0"/>
              </a:spcAft>
              <a:buNone/>
            </a:pPr>
            <a:r>
              <a:rPr lang="en-US" sz="1150" b="1" dirty="0">
                <a:solidFill>
                  <a:srgbClr val="17375E"/>
                </a:solidFill>
              </a:rPr>
              <a:t>On stage we follow ONE of those claims, from the event to a signed decision.</a:t>
            </a:r>
          </a:p>
        </p:txBody>
      </p:sp>
      <p:sp>
        <p:nvSpPr>
          <p:cNvPr id="9102" name="Movement 1 Card"/>
          <p:cNvSpPr/>
          <p:nvPr/>
        </p:nvSpPr>
        <p:spPr>
          <a:xfrm>
            <a:off x="4343400" y="1234440"/>
            <a:ext cx="7434072" cy="1956816"/>
          </a:xfrm>
          <a:prstGeom prst="roundRect">
            <a:avLst>
              <a:gd name="adj" fmla="val 9000"/>
            </a:avLst>
          </a:prstGeom>
          <a:solidFill>
            <a:srgbClr val="FCF1F1"/>
          </a:solidFill>
          <a:ln>
            <a:noFill/>
          </a:ln>
        </p:spPr>
        <p:txBody>
          <a:bodyPr wrap="square" lIns="137160" tIns="118872" rIns="137160" bIns="91440">
            <a:normAutofit/>
          </a:bodyPr>
          <a:lstStyle/>
          <a:p>
            <a:pPr>
              <a:spcAft>
                <a:spcPts val="600"/>
              </a:spcAft>
              <a:buNone/>
            </a:pPr>
            <a:r>
              <a:rPr lang="en-US" sz="1300" b="1" dirty="0">
                <a:solidFill>
                  <a:srgbClr val="00A76D"/>
                </a:solidFill>
              </a:rPr>
              <a:t>CLAIM 1 - CLM-0913-00001</a:t>
            </a:r>
            <a:r>
              <a:rPr lang="en-US" sz="1100" dirty="0">
                <a:solidFill>
                  <a:srgbClr val="595959"/>
                </a:solidFill>
              </a:rPr>
              <a:t xml:space="preserve">   the clean claim: a decision in about half a minute</a:t>
            </a:r>
          </a:p>
          <a:p>
            <a:pPr>
              <a:spcAft>
                <a:spcPts val="600"/>
              </a:spcAft>
              <a:buNone/>
            </a:pPr>
            <a:r>
              <a:rPr lang="en-US" sz="1150" dirty="0">
                <a:solidFill>
                  <a:srgbClr val="3B3B3B"/>
                </a:solidFill>
              </a:rPr>
              <a:t xml:space="preserve">A first notice of loss arrives from the app: VW Golf, 16 dents, no glass damage, estimate EUR 640. ONE event on the mesh starts the workflow, and three specialists work in parallel. </a:t>
            </a:r>
            <a:r>
              <a:rPr lang="en-US" sz="1150" b="1" dirty="0">
                <a:solidFill>
                  <a:srgbClr val="3B3B3B"/>
                </a:solidFill>
              </a:rPr>
              <a:t>Policy</a:t>
            </a:r>
            <a:r>
              <a:rPr lang="en-US" sz="1150" dirty="0">
                <a:solidFill>
                  <a:srgbClr val="3B3B3B"/>
                </a:solidFill>
              </a:rPr>
              <a:t xml:space="preserve"> reads the system of record: ACTIVE policy, hail cover HC-7, deductible EUR 300, repair network clause RN-3. </a:t>
            </a:r>
            <a:r>
              <a:rPr lang="en-US" sz="1150" b="1" dirty="0">
                <a:solidFill>
                  <a:srgbClr val="3B3B3B"/>
                </a:solidFill>
              </a:rPr>
              <a:t>Intake</a:t>
            </a:r>
            <a:r>
              <a:rPr lang="en-US" sz="1150" dirty="0">
                <a:solidFill>
                  <a:srgbClr val="3B3B3B"/>
                </a:solidFill>
              </a:rPr>
              <a:t xml:space="preserve"> comes from the agent that runs OUTSIDE the platform: photos taken minutes after the cell, no scanner scan, no duplicate VIN. </a:t>
            </a:r>
            <a:r>
              <a:rPr lang="en-US" sz="1150" b="1" dirty="0">
                <a:solidFill>
                  <a:srgbClr val="3B3B3B"/>
                </a:solidFill>
              </a:rPr>
              <a:t>Rules</a:t>
            </a:r>
            <a:r>
              <a:rPr lang="en-US" sz="1150" dirty="0">
                <a:solidFill>
                  <a:srgbClr val="3B3B3B"/>
                </a:solidFill>
              </a:rPr>
              <a:t xml:space="preserve"> quotes the Fast Lane criteria from the knowledge base.</a:t>
            </a:r>
          </a:p>
          <a:p>
            <a:pPr>
              <a:spcAft>
                <a:spcPts val="0"/>
              </a:spcAft>
              <a:buNone/>
            </a:pPr>
            <a:r>
              <a:rPr lang="en-US" sz="1150" dirty="0">
                <a:solidFill>
                  <a:srgbClr val="3B3B3B"/>
                </a:solidFill>
              </a:rPr>
              <a:t xml:space="preserve">About half a minute later, one card in the cockpit: </a:t>
            </a:r>
            <a:r>
              <a:rPr lang="en-US" sz="1150" b="1" dirty="0">
                <a:solidFill>
                  <a:srgbClr val="00A76D"/>
                </a:solidFill>
              </a:rPr>
              <a:t>"APPROVE - Fast Lane: VW Golf, 16 dents, drive-in slot at Braendle." A human signs it, and the signature goes back onto the mesh as an event.</a:t>
            </a:r>
          </a:p>
        </p:txBody>
      </p:sp>
      <p:sp>
        <p:nvSpPr>
          <p:cNvPr id="9103" name="Movement 2 Card"/>
          <p:cNvSpPr/>
          <p:nvPr/>
        </p:nvSpPr>
        <p:spPr>
          <a:xfrm>
            <a:off x="4343400" y="3374136"/>
            <a:ext cx="7434072" cy="1965960"/>
          </a:xfrm>
          <a:prstGeom prst="roundRect">
            <a:avLst>
              <a:gd name="adj" fmla="val 9000"/>
            </a:avLst>
          </a:prstGeom>
          <a:solidFill>
            <a:srgbClr val="FDF6EA"/>
          </a:solidFill>
          <a:ln>
            <a:noFill/>
          </a:ln>
        </p:spPr>
        <p:txBody>
          <a:bodyPr wrap="square" lIns="137160" tIns="118872" rIns="137160" bIns="91440">
            <a:normAutofit/>
          </a:bodyPr>
          <a:lstStyle/>
          <a:p>
            <a:pPr>
              <a:spcAft>
                <a:spcPts val="600"/>
              </a:spcAft>
              <a:buNone/>
            </a:pPr>
            <a:r>
              <a:rPr lang="en-US" sz="1300" b="1" dirty="0">
                <a:solidFill>
                  <a:srgbClr val="C62828"/>
                </a:solidFill>
              </a:rPr>
              <a:t>CLAIM 2 - CLM-0913-08103</a:t>
            </a:r>
            <a:r>
              <a:rPr lang="en-US" sz="1100" dirty="0">
                <a:solidFill>
                  <a:srgbClr val="595959"/>
                </a:solidFill>
              </a:rPr>
              <a:t xml:space="preserve">   same workflow, same agents, opposite outcome</a:t>
            </a:r>
          </a:p>
          <a:p>
            <a:pPr>
              <a:spcAft>
                <a:spcPts val="600"/>
              </a:spcAft>
              <a:buNone/>
            </a:pPr>
            <a:r>
              <a:rPr lang="en-US" sz="1150" dirty="0">
                <a:solidFill>
                  <a:srgbClr val="3B3B3B"/>
                </a:solidFill>
              </a:rPr>
              <a:t xml:space="preserve">The second claim comes in through the drive-in scanner: Skoda Octavia, 60 dents claimed, estimate EUR 6,800. Nothing is reconfigured between the two runs. </a:t>
            </a:r>
            <a:r>
              <a:rPr lang="en-US" sz="1150" b="1" dirty="0">
                <a:solidFill>
                  <a:srgbClr val="3B3B3B"/>
                </a:solidFill>
              </a:rPr>
              <a:t>Intake</a:t>
            </a:r>
            <a:r>
              <a:rPr lang="en-US" sz="1150" dirty="0">
                <a:solidFill>
                  <a:srgbClr val="3B3B3B"/>
                </a:solidFill>
              </a:rPr>
              <a:t xml:space="preserve"> finds two indicators: the three photos carry capture times 7.3 days BEFORE the hail cell, and the scanner counted 14 dents against the 60 claimed. </a:t>
            </a:r>
            <a:r>
              <a:rPr lang="en-US" sz="1150" b="1" dirty="0">
                <a:solidFill>
                  <a:srgbClr val="3B3B3B"/>
                </a:solidFill>
              </a:rPr>
              <a:t>Policy</a:t>
            </a:r>
            <a:r>
              <a:rPr lang="en-US" sz="1150" dirty="0">
                <a:solidFill>
                  <a:srgbClr val="3B3B3B"/>
                </a:solidFill>
              </a:rPr>
              <a:t xml:space="preserve"> confirms cover and reserve. </a:t>
            </a:r>
            <a:r>
              <a:rPr lang="en-US" sz="1150" b="1" dirty="0">
                <a:solidFill>
                  <a:srgbClr val="3B3B3B"/>
                </a:solidFill>
              </a:rPr>
              <a:t>Rules</a:t>
            </a:r>
            <a:r>
              <a:rPr lang="en-US" sz="1150" dirty="0">
                <a:solidFill>
                  <a:srgbClr val="3B3B3B"/>
                </a:solidFill>
              </a:rPr>
              <a:t> quotes the fraud-indicator guideline.</a:t>
            </a:r>
          </a:p>
          <a:p>
            <a:pPr>
              <a:spcAft>
                <a:spcPts val="0"/>
              </a:spcAft>
              <a:buNone/>
            </a:pPr>
            <a:r>
              <a:rPr lang="en-US" sz="1150" dirty="0">
                <a:solidFill>
                  <a:srgbClr val="3B3B3B"/>
                </a:solidFill>
              </a:rPr>
              <a:t xml:space="preserve">About half a minute later: </a:t>
            </a:r>
            <a:r>
              <a:rPr lang="en-US" sz="1150" b="1" dirty="0">
                <a:solidFill>
                  <a:srgbClr val="C62828"/>
                </a:solidFill>
              </a:rPr>
              <a:t>"HOLD - specialist review within ten working days." The agent cites the guideline - a single indicator proves nothing, the overall picture decides, a human specialist decides - and never calls the customer a fraudster.</a:t>
            </a:r>
          </a:p>
        </p:txBody>
      </p:sp>
      <p:sp>
        <p:nvSpPr>
          <p:cNvPr id="9104" name="Causal Chain"/>
          <p:cNvSpPr/>
          <p:nvPr/>
        </p:nvSpPr>
        <p:spPr>
          <a:xfrm>
            <a:off x="411480" y="5449824"/>
            <a:ext cx="11365992" cy="384048"/>
          </a:xfrm>
          <a:prstGeom prst="roundRect">
            <a:avLst>
              <a:gd name="adj" fmla="val 50000"/>
            </a:avLst>
          </a:prstGeom>
          <a:solidFill>
            <a:srgbClr val="EDF2F8"/>
          </a:solidFill>
          <a:ln>
            <a:noFill/>
          </a:ln>
        </p:spPr>
        <p:txBody>
          <a:bodyPr wrap="square" lIns="137160" tIns="54864" rIns="137160" bIns="54864" anchor="ctr">
            <a:normAutofit/>
          </a:bodyPr>
          <a:lstStyle/>
          <a:p>
            <a:pPr algn="ctr">
              <a:buNone/>
            </a:pPr>
            <a:r>
              <a:rPr lang="en-US" sz="1150" b="1" dirty="0">
                <a:solidFill>
                  <a:srgbClr val="00A76D"/>
                </a:solidFill>
              </a:rPr>
              <a:t>ONE CLAIM EVENT</a:t>
            </a:r>
            <a:r>
              <a:rPr lang="en-US" sz="1150" dirty="0">
                <a:solidFill>
                  <a:srgbClr val="595959"/>
                </a:solidFill>
              </a:rPr>
              <a:t xml:space="preserve">  &gt;  three specialists in parallel  &gt;  </a:t>
            </a:r>
            <a:r>
              <a:rPr lang="en-US" sz="1150" b="1" dirty="0">
                <a:solidFill>
                  <a:srgbClr val="17375E"/>
                </a:solidFill>
              </a:rPr>
              <a:t>ONE DECISION CARD</a:t>
            </a:r>
            <a:r>
              <a:rPr lang="en-US" sz="1150" dirty="0">
                <a:solidFill>
                  <a:srgbClr val="595959"/>
                </a:solidFill>
              </a:rPr>
              <a:t xml:space="preserve">  in  </a:t>
            </a:r>
            <a:r>
              <a:rPr lang="en-US" sz="1150" b="1" dirty="0">
                <a:solidFill>
                  <a:srgbClr val="00A76D"/>
                </a:solidFill>
              </a:rPr>
              <a:t>ABOUT HALF A MINUTE</a:t>
            </a:r>
            <a:r>
              <a:rPr lang="en-US" sz="1150" dirty="0">
                <a:solidFill>
                  <a:srgbClr val="595959"/>
                </a:solidFill>
              </a:rPr>
              <a:t xml:space="preserve">  &gt;  </a:t>
            </a:r>
            <a:r>
              <a:rPr lang="en-US" sz="1150" b="1" dirty="0">
                <a:solidFill>
                  <a:srgbClr val="17375E"/>
                </a:solidFill>
              </a:rPr>
              <a:t>a human approves, as an event</a:t>
            </a:r>
          </a:p>
        </p:txBody>
      </p:sp>
      <p:sp>
        <p:nvSpPr>
          <p:cNvPr id="9105" name="Act 2 Strip"/>
          <p:cNvSpPr/>
          <p:nvPr/>
        </p:nvSpPr>
        <p:spPr>
          <a:xfrm>
            <a:off x="411480" y="5925312"/>
            <a:ext cx="11365992" cy="384048"/>
          </a:xfrm>
          <a:prstGeom prst="roundRect">
            <a:avLst>
              <a:gd name="adj" fmla="val 50000"/>
            </a:avLst>
          </a:prstGeom>
          <a:solidFill>
            <a:srgbClr val="FBEFEF"/>
          </a:solidFill>
          <a:ln>
            <a:noFill/>
          </a:ln>
        </p:spPr>
        <p:txBody>
          <a:bodyPr wrap="square" lIns="137160" tIns="54864" rIns="137160" bIns="54864" anchor="ctr">
            <a:normAutofit/>
          </a:bodyPr>
          <a:lstStyle/>
          <a:p>
            <a:pPr algn="ctr">
              <a:buNone/>
            </a:pPr>
            <a:r>
              <a:rPr lang="en-US" sz="1150" b="1" dirty="0">
                <a:solidFill>
                  <a:srgbClr val="C62828"/>
                </a:solidFill>
              </a:rPr>
              <a:t>THE POINT</a:t>
            </a:r>
            <a:r>
              <a:rPr lang="en-US" sz="1150" dirty="0">
                <a:solidFill>
                  <a:srgbClr val="595959"/>
                </a:solidFill>
              </a:rPr>
              <a:t xml:space="preserve">  &gt;  four agents on the platform, ONE running outside it  &gt;  </a:t>
            </a:r>
            <a:r>
              <a:rPr lang="en-US" sz="1150" b="1" dirty="0">
                <a:solidFill>
                  <a:srgbClr val="17375E"/>
                </a:solidFill>
              </a:rPr>
              <a:t>its own runtime, its own model, its own database credentials</a:t>
            </a:r>
            <a:r>
              <a:rPr lang="en-US" sz="1150" dirty="0">
                <a:solidFill>
                  <a:srgbClr val="595959"/>
                </a:solidFill>
              </a:rPr>
              <a:t xml:space="preserve">  &gt;  Solace governs the hop, not the runtime: </a:t>
            </a:r>
            <a:r>
              <a:rPr lang="en-US" sz="1150" b="1" dirty="0">
                <a:solidFill>
                  <a:srgbClr val="17375E"/>
                </a:solidFill>
              </a:rPr>
              <a:t>the card, the caller, the duration, the audit trail</a:t>
            </a:r>
          </a:p>
        </p:txBody>
      </p:sp>
    </p:spTree>
    <p:extLst>
      <p:ext uri="{BB962C8B-B14F-4D97-AF65-F5344CB8AC3E}">
        <p14:creationId xmlns:p14="http://schemas.microsoft.com/office/powerpoint/2010/main" val="218376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7" name="Group 46">
            <a:extLst>
              <a:ext uri="{FF2B5EF4-FFF2-40B4-BE49-F238E27FC236}">
                <a16:creationId xmlns:a16="http://schemas.microsoft.com/office/drawing/2014/main" id="{2557A0AF-1103-2947-D6B5-323D99B46ACF}"/>
              </a:ext>
            </a:extLst>
          </p:cNvPr>
          <p:cNvGrpSpPr/>
          <p:nvPr/>
        </p:nvGrpSpPr>
        <p:grpSpPr>
          <a:xfrm>
            <a:off x="1698882" y="3377324"/>
            <a:ext cx="2710022" cy="2512313"/>
            <a:chOff x="8535770" y="1316737"/>
            <a:chExt cx="2710022" cy="2512313"/>
          </a:xfrm>
        </p:grpSpPr>
        <p:sp>
          <p:nvSpPr>
            <p:cNvPr id="1078" name="Rectangle 33">
              <a:extLst>
                <a:ext uri="{FF2B5EF4-FFF2-40B4-BE49-F238E27FC236}">
                  <a16:creationId xmlns:a16="http://schemas.microsoft.com/office/drawing/2014/main" id="{D125C814-84EF-A9A1-F7D7-4C28AE998471}"/>
                </a:ext>
              </a:extLst>
            </p:cNvPr>
            <p:cNvSpPr/>
            <p:nvPr/>
          </p:nvSpPr>
          <p:spPr>
            <a:xfrm>
              <a:off x="8557730" y="1316737"/>
              <a:ext cx="1629434" cy="2512313"/>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79" name="Rectangle 45">
              <a:extLst>
                <a:ext uri="{FF2B5EF4-FFF2-40B4-BE49-F238E27FC236}">
                  <a16:creationId xmlns:a16="http://schemas.microsoft.com/office/drawing/2014/main" id="{240B91F9-6037-C668-374F-D088AC73BCDB}"/>
                </a:ext>
              </a:extLst>
            </p:cNvPr>
            <p:cNvSpPr/>
            <p:nvPr/>
          </p:nvSpPr>
          <p:spPr>
            <a:xfrm>
              <a:off x="8762343" y="2254869"/>
              <a:ext cx="1216731" cy="1428131"/>
            </a:xfrm>
            <a:prstGeom prst="rect">
              <a:avLst/>
            </a:prstGeom>
            <a:solidFill>
              <a:srgbClr val="FFFFFF"/>
            </a:solidFill>
            <a:ln w="12700" cap="flat">
              <a:solidFill>
                <a:srgbClr val="E5E5E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80" name="Picture 10">
              <a:extLst>
                <a:ext uri="{FF2B5EF4-FFF2-40B4-BE49-F238E27FC236}">
                  <a16:creationId xmlns:a16="http://schemas.microsoft.com/office/drawing/2014/main" id="{0233296F-A91B-82BF-D3F5-BCDAAA8F42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099" y="1707162"/>
              <a:ext cx="856737" cy="232032"/>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14">
              <a:extLst>
                <a:ext uri="{FF2B5EF4-FFF2-40B4-BE49-F238E27FC236}">
                  <a16:creationId xmlns:a16="http://schemas.microsoft.com/office/drawing/2014/main" id="{4DCB87B7-5352-F3A0-3C3D-5BE85896231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5673" y="2009697"/>
              <a:ext cx="1143000" cy="128588"/>
            </a:xfrm>
            <a:prstGeom prst="rect">
              <a:avLst/>
            </a:prstGeom>
            <a:noFill/>
            <a:extLst>
              <a:ext uri="{909E8E84-426E-40DD-AFC4-6F175D3DCCD1}">
                <a14:hiddenFill xmlns:a14="http://schemas.microsoft.com/office/drawing/2010/main">
                  <a:solidFill>
                    <a:srgbClr val="FFFFFF"/>
                  </a:solidFill>
                </a14:hiddenFill>
              </a:ext>
            </a:extLst>
          </p:spPr>
        </p:pic>
        <p:sp>
          <p:nvSpPr>
            <p:cNvPr id="1082" name="TextBox 18">
              <a:extLst>
                <a:ext uri="{FF2B5EF4-FFF2-40B4-BE49-F238E27FC236}">
                  <a16:creationId xmlns:a16="http://schemas.microsoft.com/office/drawing/2014/main" id="{A3EF85DD-CBB2-8EED-2144-19C578CFB547}"/>
                </a:ext>
              </a:extLst>
            </p:cNvPr>
            <p:cNvSpPr txBox="1"/>
            <p:nvPr/>
          </p:nvSpPr>
          <p:spPr>
            <a:xfrm>
              <a:off x="8535770" y="1333427"/>
              <a:ext cx="1651393" cy="44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External LLMs</a:t>
              </a:r>
            </a:p>
          </p:txBody>
        </p:sp>
        <p:pic>
          <p:nvPicPr>
            <p:cNvPr id="1083" name="Picture 2" descr="Buy LiteLLM stock and other Pre-IPO shares on UpMarket">
              <a:extLst>
                <a:ext uri="{FF2B5EF4-FFF2-40B4-BE49-F238E27FC236}">
                  <a16:creationId xmlns:a16="http://schemas.microsoft.com/office/drawing/2014/main" id="{652FBFF7-7012-1627-2DB3-864B5F36C25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652" b="31677"/>
            <a:stretch/>
          </p:blipFill>
          <p:spPr bwMode="auto">
            <a:xfrm>
              <a:off x="8813808" y="2320234"/>
              <a:ext cx="1064141" cy="347670"/>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39">
              <a:extLst>
                <a:ext uri="{FF2B5EF4-FFF2-40B4-BE49-F238E27FC236}">
                  <a16:creationId xmlns:a16="http://schemas.microsoft.com/office/drawing/2014/main" id="{916CBC19-C072-9C86-CE04-B303F68B1ECD}"/>
                </a:ext>
              </a:extLst>
            </p:cNvPr>
            <p:cNvPicPr>
              <a:picLocks noChangeAspect="1"/>
            </p:cNvPicPr>
            <p:nvPr/>
          </p:nvPicPr>
          <p:blipFill>
            <a:blip r:embed="rId6"/>
            <a:srcRect t="38200" b="41134"/>
            <a:stretch/>
          </p:blipFill>
          <p:spPr>
            <a:xfrm>
              <a:off x="9011467" y="2787915"/>
              <a:ext cx="713276" cy="147405"/>
            </a:xfrm>
            <a:prstGeom prst="rect">
              <a:avLst/>
            </a:prstGeom>
          </p:spPr>
        </p:pic>
        <p:pic>
          <p:nvPicPr>
            <p:cNvPr id="1085" name="Picture 47">
              <a:extLst>
                <a:ext uri="{FF2B5EF4-FFF2-40B4-BE49-F238E27FC236}">
                  <a16:creationId xmlns:a16="http://schemas.microsoft.com/office/drawing/2014/main" id="{1B5DB0D1-232C-0C27-CCFD-5F1D918CF2B3}"/>
                </a:ext>
              </a:extLst>
            </p:cNvPr>
            <p:cNvPicPr>
              <a:picLocks noChangeAspect="1"/>
            </p:cNvPicPr>
            <p:nvPr/>
          </p:nvPicPr>
          <p:blipFill>
            <a:blip r:embed="rId7">
              <a:clrChange>
                <a:clrFrom>
                  <a:srgbClr val="F8F8F8"/>
                </a:clrFrom>
                <a:clrTo>
                  <a:srgbClr val="F8F8F8">
                    <a:alpha val="0"/>
                  </a:srgbClr>
                </a:clrTo>
              </a:clrChange>
            </a:blip>
            <a:srcRect t="37399" b="20458"/>
            <a:stretch/>
          </p:blipFill>
          <p:spPr>
            <a:xfrm>
              <a:off x="9033496" y="3003126"/>
              <a:ext cx="669217" cy="188385"/>
            </a:xfrm>
            <a:prstGeom prst="rect">
              <a:avLst/>
            </a:prstGeom>
          </p:spPr>
        </p:pic>
        <p:pic>
          <p:nvPicPr>
            <p:cNvPr id="1086" name="Picture 51">
              <a:extLst>
                <a:ext uri="{FF2B5EF4-FFF2-40B4-BE49-F238E27FC236}">
                  <a16:creationId xmlns:a16="http://schemas.microsoft.com/office/drawing/2014/main" id="{88B54644-2402-0E76-F69E-EA537829F003}"/>
                </a:ext>
              </a:extLst>
            </p:cNvPr>
            <p:cNvPicPr>
              <a:picLocks noChangeAspect="1"/>
            </p:cNvPicPr>
            <p:nvPr/>
          </p:nvPicPr>
          <p:blipFill>
            <a:blip r:embed="rId8"/>
            <a:stretch>
              <a:fillRect/>
            </a:stretch>
          </p:blipFill>
          <p:spPr>
            <a:xfrm>
              <a:off x="9226578" y="3193354"/>
              <a:ext cx="359450" cy="188385"/>
            </a:xfrm>
            <a:prstGeom prst="rect">
              <a:avLst/>
            </a:prstGeom>
          </p:spPr>
        </p:pic>
        <p:pic>
          <p:nvPicPr>
            <p:cNvPr id="1087" name="Picture 56">
              <a:extLst>
                <a:ext uri="{FF2B5EF4-FFF2-40B4-BE49-F238E27FC236}">
                  <a16:creationId xmlns:a16="http://schemas.microsoft.com/office/drawing/2014/main" id="{064FA3A4-0517-8BAB-F58A-0A48F6D06394}"/>
                </a:ext>
              </a:extLst>
            </p:cNvPr>
            <p:cNvPicPr>
              <a:picLocks noChangeAspect="1"/>
            </p:cNvPicPr>
            <p:nvPr/>
          </p:nvPicPr>
          <p:blipFill>
            <a:blip r:embed="rId9"/>
            <a:srcRect l="35169" t="39084" r="34324" b="39789"/>
            <a:stretch/>
          </p:blipFill>
          <p:spPr>
            <a:xfrm>
              <a:off x="9145741" y="3434443"/>
              <a:ext cx="521124" cy="177785"/>
            </a:xfrm>
            <a:prstGeom prst="rect">
              <a:avLst/>
            </a:prstGeom>
          </p:spPr>
        </p:pic>
        <p:cxnSp>
          <p:nvCxnSpPr>
            <p:cNvPr id="1088" name="Straight Connector 58">
              <a:extLst>
                <a:ext uri="{FF2B5EF4-FFF2-40B4-BE49-F238E27FC236}">
                  <a16:creationId xmlns:a16="http://schemas.microsoft.com/office/drawing/2014/main" id="{3F34A3AC-3E08-ACBC-ADD4-E53B83B91669}"/>
                </a:ext>
              </a:extLst>
            </p:cNvPr>
            <p:cNvCxnSpPr/>
            <p:nvPr/>
          </p:nvCxnSpPr>
          <p:spPr>
            <a:xfrm>
              <a:off x="8874811" y="2708268"/>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sp>
          <p:nvSpPr>
            <p:cNvPr id="1089" name="TextBox 59">
              <a:extLst>
                <a:ext uri="{FF2B5EF4-FFF2-40B4-BE49-F238E27FC236}">
                  <a16:creationId xmlns:a16="http://schemas.microsoft.com/office/drawing/2014/main" id="{7AD58E54-A305-F49E-504F-316EAD911977}"/>
                </a:ext>
              </a:extLst>
            </p:cNvPr>
            <p:cNvSpPr txBox="1"/>
            <p:nvPr/>
          </p:nvSpPr>
          <p:spPr>
            <a:xfrm>
              <a:off x="9226578" y="2472120"/>
              <a:ext cx="623265"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100+ LLMS</a:t>
              </a:r>
            </a:p>
          </p:txBody>
        </p:sp>
        <p:pic>
          <p:nvPicPr>
            <p:cNvPr id="1090" name="Graphic 11">
              <a:extLst>
                <a:ext uri="{FF2B5EF4-FFF2-40B4-BE49-F238E27FC236}">
                  <a16:creationId xmlns:a16="http://schemas.microsoft.com/office/drawing/2014/main" id="{ADD3D416-24F2-0752-5251-273884A5033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86245" y="2296495"/>
              <a:ext cx="376368" cy="376368"/>
            </a:xfrm>
            <a:prstGeom prst="rect">
              <a:avLst/>
            </a:prstGeom>
          </p:spPr>
        </p:pic>
        <p:sp>
          <p:nvSpPr>
            <p:cNvPr id="1091" name="Up-Down Arrow 19">
              <a:extLst>
                <a:ext uri="{FF2B5EF4-FFF2-40B4-BE49-F238E27FC236}">
                  <a16:creationId xmlns:a16="http://schemas.microsoft.com/office/drawing/2014/main" id="{52FE3E18-00A0-B6B7-4557-7B7928232E71}"/>
                </a:ext>
              </a:extLst>
            </p:cNvPr>
            <p:cNvSpPr/>
            <p:nvPr/>
          </p:nvSpPr>
          <p:spPr>
            <a:xfrm rot="16200000">
              <a:off x="10620485" y="1074756"/>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el 1">
            <a:extLst>
              <a:ext uri="{FF2B5EF4-FFF2-40B4-BE49-F238E27FC236}">
                <a16:creationId xmlns:a16="http://schemas.microsoft.com/office/drawing/2014/main" id="{C8E627BF-781E-B7D1-E306-D54D206DDBAE}"/>
              </a:ext>
            </a:extLst>
          </p:cNvPr>
          <p:cNvSpPr>
            <a:spLocks noGrp="1"/>
          </p:cNvSpPr>
          <p:nvPr>
            <p:ph type="title"/>
          </p:nvPr>
        </p:nvSpPr>
        <p:spPr/>
        <p:txBody>
          <a:bodyPr/>
          <a:lstStyle/>
          <a:p>
            <a:r>
              <a:rPr lang="de-DE" dirty="0"/>
              <a:t xml:space="preserve">The Setup: One Event, </a:t>
            </a:r>
            <a:r>
              <a:rPr lang="de-DE" dirty="0" err="1"/>
              <a:t>One Workflow</a:t>
            </a:r>
            <a:endParaRPr lang="de-DE" dirty="0"/>
          </a:p>
        </p:txBody>
      </p:sp>
      <p:sp>
        <p:nvSpPr>
          <p:cNvPr id="3" name="Fußzeilenplatzhalter 2">
            <a:extLst>
              <a:ext uri="{FF2B5EF4-FFF2-40B4-BE49-F238E27FC236}">
                <a16:creationId xmlns:a16="http://schemas.microsoft.com/office/drawing/2014/main" id="{198FC6F6-0740-8DB0-52B7-A8B7C2D199E4}"/>
              </a:ext>
            </a:extLst>
          </p:cNvPr>
          <p:cNvSpPr>
            <a:spLocks noGrp="1"/>
          </p:cNvSpPr>
          <p:nvPr>
            <p:ph type="ftr" sz="quarter" idx="10"/>
          </p:nvPr>
        </p:nvSpPr>
        <p:spPr/>
        <p:txBody>
          <a:bodyPr/>
          <a:lstStyle/>
          <a:p>
            <a:r>
              <a:rPr lang="en-US"/>
              <a:t>© Solace   |   Proprietary &amp; Confidential</a:t>
            </a:r>
          </a:p>
        </p:txBody>
      </p:sp>
      <p:sp>
        <p:nvSpPr>
          <p:cNvPr id="4" name="Foliennummernplatzhalter 3">
            <a:extLst>
              <a:ext uri="{FF2B5EF4-FFF2-40B4-BE49-F238E27FC236}">
                <a16:creationId xmlns:a16="http://schemas.microsoft.com/office/drawing/2014/main" id="{14397BCF-AD53-5EB7-1FFD-E53F0AAF88C7}"/>
              </a:ext>
            </a:extLst>
          </p:cNvPr>
          <p:cNvSpPr>
            <a:spLocks noGrp="1"/>
          </p:cNvSpPr>
          <p:nvPr>
            <p:ph type="sldNum" sz="quarter" idx="11"/>
          </p:nvPr>
        </p:nvSpPr>
        <p:spPr/>
        <p:txBody>
          <a:bodyPr/>
          <a:lstStyle/>
          <a:p>
            <a:fld id="{5AC94115-40D6-4F9E-B464-3718F525A7D7}" type="slidenum">
              <a:rPr lang="en-US" smtClean="0"/>
              <a:pPr/>
              <a:t>3</a:t>
            </a:fld>
            <a:endParaRPr lang="en-US"/>
          </a:p>
        </p:txBody>
      </p:sp>
      <p:sp>
        <p:nvSpPr>
          <p:cNvPr id="6" name="TextBox 5">
            <a:extLst>
              <a:ext uri="{FF2B5EF4-FFF2-40B4-BE49-F238E27FC236}">
                <a16:creationId xmlns:a16="http://schemas.microsoft.com/office/drawing/2014/main" id="{75809974-8D84-C518-AA4D-77C8E85083E7}"/>
              </a:ext>
            </a:extLst>
          </p:cNvPr>
          <p:cNvSpPr txBox="1"/>
          <p:nvPr/>
        </p:nvSpPr>
        <p:spPr>
          <a:xfrm>
            <a:off x="202800" y="5682600"/>
            <a:ext cx="914400" cy="914400"/>
          </a:xfrm>
          <a:prstGeom prst="rect">
            <a:avLst/>
          </a:prstGeom>
          <a:noFill/>
        </p:spPr>
        <p:txBody>
          <a:bodyPr wrap="none" lIns="0" tIns="0" rIns="0" bIns="0" rtlCol="0">
            <a:noAutofit/>
          </a:bodyPr>
          <a:lstStyle/>
          <a:p>
            <a:pPr algn="l"/>
            <a:r>
              <a:rPr lang="en-US" sz="1600" b="1" dirty="0">
                <a:solidFill>
                  <a:srgbClr val="979797"/>
                </a:solidFill>
              </a:rPr>
              <a:t>EVENT SOURCES</a:t>
            </a:r>
          </a:p>
        </p:txBody>
      </p:sp>
      <p:pic>
        <p:nvPicPr>
          <p:cNvPr id="7" name="Graphic 18">
            <a:extLst>
              <a:ext uri="{FF2B5EF4-FFF2-40B4-BE49-F238E27FC236}">
                <a16:creationId xmlns:a16="http://schemas.microsoft.com/office/drawing/2014/main" id="{DB224022-064F-A370-8FF9-F49D27646AB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45206" y="5492005"/>
            <a:ext cx="665759" cy="665759"/>
          </a:xfrm>
          <a:prstGeom prst="rect">
            <a:avLst/>
          </a:prstGeom>
        </p:spPr>
      </p:pic>
      <p:pic>
        <p:nvPicPr>
          <p:cNvPr id="8" name="Graphic 18">
            <a:extLst>
              <a:ext uri="{FF2B5EF4-FFF2-40B4-BE49-F238E27FC236}">
                <a16:creationId xmlns:a16="http://schemas.microsoft.com/office/drawing/2014/main" id="{E33694E1-64A3-8080-39DD-F4BA656361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59606" y="5492004"/>
            <a:ext cx="665759" cy="665759"/>
          </a:xfrm>
          <a:prstGeom prst="rect">
            <a:avLst/>
          </a:prstGeom>
        </p:spPr>
      </p:pic>
      <p:pic>
        <p:nvPicPr>
          <p:cNvPr id="9" name="Graphic 18">
            <a:extLst>
              <a:ext uri="{FF2B5EF4-FFF2-40B4-BE49-F238E27FC236}">
                <a16:creationId xmlns:a16="http://schemas.microsoft.com/office/drawing/2014/main" id="{6E76FA38-4D3A-E6B9-0B07-51D08CF60C4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74006" y="5492004"/>
            <a:ext cx="665759" cy="665759"/>
          </a:xfrm>
          <a:prstGeom prst="rect">
            <a:avLst/>
          </a:prstGeom>
        </p:spPr>
      </p:pic>
      <p:pic>
        <p:nvPicPr>
          <p:cNvPr id="10" name="Graphic 18">
            <a:extLst>
              <a:ext uri="{FF2B5EF4-FFF2-40B4-BE49-F238E27FC236}">
                <a16:creationId xmlns:a16="http://schemas.microsoft.com/office/drawing/2014/main" id="{75B0A552-6F24-20DE-10B8-F22FAC9CC53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52235" y="5492005"/>
            <a:ext cx="665759" cy="665759"/>
          </a:xfrm>
          <a:prstGeom prst="rect">
            <a:avLst/>
          </a:prstGeom>
        </p:spPr>
      </p:pic>
      <p:pic>
        <p:nvPicPr>
          <p:cNvPr id="11" name="Graphic 18">
            <a:extLst>
              <a:ext uri="{FF2B5EF4-FFF2-40B4-BE49-F238E27FC236}">
                <a16:creationId xmlns:a16="http://schemas.microsoft.com/office/drawing/2014/main" id="{33F639E7-09D7-F23E-B788-94920B1B6E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66635" y="5492005"/>
            <a:ext cx="665759" cy="665759"/>
          </a:xfrm>
          <a:prstGeom prst="rect">
            <a:avLst/>
          </a:prstGeom>
        </p:spPr>
      </p:pic>
      <p:sp>
        <p:nvSpPr>
          <p:cNvPr id="35" name="TextBox 5">
            <a:extLst>
              <a:ext uri="{FF2B5EF4-FFF2-40B4-BE49-F238E27FC236}">
                <a16:creationId xmlns:a16="http://schemas.microsoft.com/office/drawing/2014/main" id="{4726F6F7-30E6-E6F9-4BAA-6C5E20C3514E}"/>
              </a:ext>
            </a:extLst>
          </p:cNvPr>
          <p:cNvSpPr txBox="1"/>
          <p:nvPr/>
        </p:nvSpPr>
        <p:spPr>
          <a:xfrm>
            <a:off x="1263459" y="6139800"/>
            <a:ext cx="914400" cy="914400"/>
          </a:xfrm>
          <a:prstGeom prst="rect">
            <a:avLst/>
          </a:prstGeom>
          <a:noFill/>
        </p:spPr>
        <p:txBody>
          <a:bodyPr wrap="none" lIns="0" tIns="0" rIns="0" bIns="0" rtlCol="0">
            <a:noAutofit/>
          </a:bodyPr>
          <a:lstStyle/>
          <a:p>
            <a:pPr algn="l"/>
            <a:r>
              <a:rPr lang="en-US" sz="1600" b="1" dirty="0">
                <a:solidFill>
                  <a:srgbClr val="979797"/>
                </a:solidFill>
              </a:rPr>
              <a:t>COCKPIT</a:t>
            </a:r>
          </a:p>
        </p:txBody>
      </p:sp>
      <p:sp>
        <p:nvSpPr>
          <p:cNvPr id="36" name="TextBox 5">
            <a:extLst>
              <a:ext uri="{FF2B5EF4-FFF2-40B4-BE49-F238E27FC236}">
                <a16:creationId xmlns:a16="http://schemas.microsoft.com/office/drawing/2014/main" id="{1FE20C10-DC99-A108-8DED-D81B3F6DC230}"/>
              </a:ext>
            </a:extLst>
          </p:cNvPr>
          <p:cNvSpPr txBox="1"/>
          <p:nvPr/>
        </p:nvSpPr>
        <p:spPr>
          <a:xfrm>
            <a:off x="202800" y="3955726"/>
            <a:ext cx="914400" cy="914400"/>
          </a:xfrm>
          <a:prstGeom prst="rect">
            <a:avLst/>
          </a:prstGeom>
          <a:noFill/>
        </p:spPr>
        <p:txBody>
          <a:bodyPr wrap="none" lIns="0" tIns="0" rIns="0" bIns="0" rtlCol="0">
            <a:noAutofit/>
          </a:bodyPr>
          <a:lstStyle/>
          <a:p>
            <a:pPr algn="l"/>
            <a:r>
              <a:rPr lang="en-US" sz="1600" b="1" dirty="0">
                <a:solidFill>
                  <a:srgbClr val="979797"/>
                </a:solidFill>
              </a:rPr>
              <a:t>ACME CLOUD</a:t>
            </a:r>
          </a:p>
        </p:txBody>
      </p:sp>
      <p:pic>
        <p:nvPicPr>
          <p:cNvPr id="37" name="Graphic 18">
            <a:extLst>
              <a:ext uri="{FF2B5EF4-FFF2-40B4-BE49-F238E27FC236}">
                <a16:creationId xmlns:a16="http://schemas.microsoft.com/office/drawing/2014/main" id="{14207D01-D51C-7D44-3B1C-A0A152207DD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50458" y="3747167"/>
            <a:ext cx="665759" cy="665759"/>
          </a:xfrm>
          <a:prstGeom prst="rect">
            <a:avLst/>
          </a:prstGeom>
        </p:spPr>
      </p:pic>
      <p:cxnSp>
        <p:nvCxnSpPr>
          <p:cNvPr id="38" name="Straight Arrow Connector 2102">
            <a:extLst>
              <a:ext uri="{FF2B5EF4-FFF2-40B4-BE49-F238E27FC236}">
                <a16:creationId xmlns:a16="http://schemas.microsoft.com/office/drawing/2014/main" id="{42D40051-3688-FF1A-2A6E-A92B151DBA8D}"/>
              </a:ext>
            </a:extLst>
          </p:cNvPr>
          <p:cNvCxnSpPr>
            <a:cxnSpLocks/>
          </p:cNvCxnSpPr>
          <p:nvPr/>
        </p:nvCxnSpPr>
        <p:spPr>
          <a:xfrm>
            <a:off x="13834819" y="7213215"/>
            <a:ext cx="520080"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4" name="Picture 10" descr="MongoDB logo and symbol, meaning, history, PNG">
            <a:extLst>
              <a:ext uri="{FF2B5EF4-FFF2-40B4-BE49-F238E27FC236}">
                <a16:creationId xmlns:a16="http://schemas.microsoft.com/office/drawing/2014/main" id="{9F598CCA-1DED-E065-964D-D4A5D2BCFEC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49485" y="3255926"/>
            <a:ext cx="2637183" cy="1648239"/>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5">
            <a:extLst>
              <a:ext uri="{FF2B5EF4-FFF2-40B4-BE49-F238E27FC236}">
                <a16:creationId xmlns:a16="http://schemas.microsoft.com/office/drawing/2014/main" id="{0D363235-07FD-6C6B-2AB0-DF9E58C1945E}"/>
              </a:ext>
            </a:extLst>
          </p:cNvPr>
          <p:cNvSpPr txBox="1"/>
          <p:nvPr/>
        </p:nvSpPr>
        <p:spPr>
          <a:xfrm>
            <a:off x="10308638" y="3841505"/>
            <a:ext cx="914400" cy="914400"/>
          </a:xfrm>
          <a:prstGeom prst="rect">
            <a:avLst/>
          </a:prstGeom>
          <a:noFill/>
        </p:spPr>
        <p:txBody>
          <a:bodyPr wrap="none" lIns="0" tIns="0" rIns="0" bIns="0" rtlCol="0">
            <a:noAutofit/>
          </a:bodyPr>
          <a:lstStyle/>
          <a:p>
            <a:pPr algn="l"/>
            <a:r>
              <a:rPr lang="en-US" sz="1600" b="1" dirty="0">
                <a:solidFill>
                  <a:srgbClr val="979797"/>
                </a:solidFill>
              </a:rPr>
              <a:t>INTAKE STREAM</a:t>
            </a:r>
          </a:p>
          <a:p>
            <a:pPr algn="l"/>
            <a:r>
              <a:rPr lang="en-US" sz="1600" b="1" dirty="0">
                <a:solidFill>
                  <a:srgbClr val="979797"/>
                </a:solidFill>
              </a:rPr>
              <a:t>MongoDB</a:t>
            </a:r>
          </a:p>
          <a:p>
            <a:pPr algn="l"/>
            <a:r>
              <a:rPr lang="en-US" sz="1600" b="1" dirty="0">
                <a:solidFill>
                  <a:srgbClr val="979797"/>
                </a:solidFill>
              </a:rPr>
              <a:t>acme_claims</a:t>
            </a:r>
          </a:p>
        </p:txBody>
      </p:sp>
      <p:cxnSp>
        <p:nvCxnSpPr>
          <p:cNvPr id="42" name="Straight Arrow Connector 2102">
            <a:extLst>
              <a:ext uri="{FF2B5EF4-FFF2-40B4-BE49-F238E27FC236}">
                <a16:creationId xmlns:a16="http://schemas.microsoft.com/office/drawing/2014/main" id="{59E23F1F-A102-0064-53E7-62FE632F9BA0}"/>
              </a:ext>
            </a:extLst>
          </p:cNvPr>
          <p:cNvCxnSpPr>
            <a:cxnSpLocks/>
            <a:endCxn id="1034" idx="1"/>
          </p:cNvCxnSpPr>
          <p:nvPr/>
        </p:nvCxnSpPr>
        <p:spPr>
          <a:xfrm flipV="1">
            <a:off x="6411991" y="4080046"/>
            <a:ext cx="1137494" cy="1481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4" name="Graphic 2052">
            <a:extLst>
              <a:ext uri="{FF2B5EF4-FFF2-40B4-BE49-F238E27FC236}">
                <a16:creationId xmlns:a16="http://schemas.microsoft.com/office/drawing/2014/main" id="{320D91A3-6B1D-10B6-89AC-96D16B68E2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680549" y="4114349"/>
            <a:ext cx="6786970" cy="2497450"/>
          </a:xfrm>
          <a:prstGeom prst="roundRect">
            <a:avLst>
              <a:gd name="adj" fmla="val 41045"/>
            </a:avLst>
          </a:prstGeom>
        </p:spPr>
      </p:pic>
      <p:cxnSp>
        <p:nvCxnSpPr>
          <p:cNvPr id="46" name="Gerade Verbindung 45">
            <a:extLst>
              <a:ext uri="{FF2B5EF4-FFF2-40B4-BE49-F238E27FC236}">
                <a16:creationId xmlns:a16="http://schemas.microsoft.com/office/drawing/2014/main" id="{46582733-9314-13C7-2854-7DDBC862AE36}"/>
              </a:ext>
            </a:extLst>
          </p:cNvPr>
          <p:cNvCxnSpPr>
            <a:stCxn id="7" idx="0"/>
            <a:endCxn id="37" idx="2"/>
          </p:cNvCxnSpPr>
          <p:nvPr/>
        </p:nvCxnSpPr>
        <p:spPr>
          <a:xfrm flipV="1">
            <a:off x="3178086" y="4412926"/>
            <a:ext cx="2905252"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Gerade Verbindung 46">
            <a:extLst>
              <a:ext uri="{FF2B5EF4-FFF2-40B4-BE49-F238E27FC236}">
                <a16:creationId xmlns:a16="http://schemas.microsoft.com/office/drawing/2014/main" id="{456E8880-F4CF-1495-2EAD-120675AF2A9F}"/>
              </a:ext>
            </a:extLst>
          </p:cNvPr>
          <p:cNvCxnSpPr>
            <a:cxnSpLocks/>
            <a:stCxn id="8" idx="0"/>
            <a:endCxn id="37" idx="2"/>
          </p:cNvCxnSpPr>
          <p:nvPr/>
        </p:nvCxnSpPr>
        <p:spPr>
          <a:xfrm flipV="1">
            <a:off x="4092486" y="4412926"/>
            <a:ext cx="1990852"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Gerade Verbindung 49">
            <a:extLst>
              <a:ext uri="{FF2B5EF4-FFF2-40B4-BE49-F238E27FC236}">
                <a16:creationId xmlns:a16="http://schemas.microsoft.com/office/drawing/2014/main" id="{CD5B1F8C-4145-078B-EA78-146B5965F028}"/>
              </a:ext>
            </a:extLst>
          </p:cNvPr>
          <p:cNvCxnSpPr>
            <a:cxnSpLocks/>
            <a:stCxn id="9" idx="0"/>
          </p:cNvCxnSpPr>
          <p:nvPr/>
        </p:nvCxnSpPr>
        <p:spPr>
          <a:xfrm flipV="1">
            <a:off x="5006886" y="4412925"/>
            <a:ext cx="1056233"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Gerade Verbindung 52">
            <a:extLst>
              <a:ext uri="{FF2B5EF4-FFF2-40B4-BE49-F238E27FC236}">
                <a16:creationId xmlns:a16="http://schemas.microsoft.com/office/drawing/2014/main" id="{D052A4B5-DDF6-9E0A-6681-344AE1A261AA}"/>
              </a:ext>
            </a:extLst>
          </p:cNvPr>
          <p:cNvCxnSpPr>
            <a:cxnSpLocks/>
            <a:stCxn id="10" idx="0"/>
          </p:cNvCxnSpPr>
          <p:nvPr/>
        </p:nvCxnSpPr>
        <p:spPr>
          <a:xfrm flipH="1" flipV="1">
            <a:off x="6083338" y="4412925"/>
            <a:ext cx="1101777" cy="107908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Gerade Verbindung 55">
            <a:extLst>
              <a:ext uri="{FF2B5EF4-FFF2-40B4-BE49-F238E27FC236}">
                <a16:creationId xmlns:a16="http://schemas.microsoft.com/office/drawing/2014/main" id="{53506848-8D88-6DB5-C8C5-9624977D8303}"/>
              </a:ext>
            </a:extLst>
          </p:cNvPr>
          <p:cNvCxnSpPr>
            <a:cxnSpLocks/>
            <a:stCxn id="11" idx="0"/>
            <a:endCxn id="37" idx="2"/>
          </p:cNvCxnSpPr>
          <p:nvPr/>
        </p:nvCxnSpPr>
        <p:spPr>
          <a:xfrm flipH="1" flipV="1">
            <a:off x="6083338" y="4412926"/>
            <a:ext cx="2016177"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050" name="TextBox 1051">
            <a:extLst>
              <a:ext uri="{FF2B5EF4-FFF2-40B4-BE49-F238E27FC236}">
                <a16:creationId xmlns:a16="http://schemas.microsoft.com/office/drawing/2014/main" id="{5E6E41BC-6E8A-0317-2F7B-A0333FF91C26}"/>
              </a:ext>
            </a:extLst>
          </p:cNvPr>
          <p:cNvSpPr txBox="1"/>
          <p:nvPr/>
        </p:nvSpPr>
        <p:spPr>
          <a:xfrm>
            <a:off x="2537946" y="2894291"/>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SAM UI + MCP</a:t>
            </a:r>
          </a:p>
        </p:txBody>
      </p:sp>
      <p:sp>
        <p:nvSpPr>
          <p:cNvPr id="1051" name="Rectangle 1034">
            <a:extLst>
              <a:ext uri="{FF2B5EF4-FFF2-40B4-BE49-F238E27FC236}">
                <a16:creationId xmlns:a16="http://schemas.microsoft.com/office/drawing/2014/main" id="{5A498E47-5021-7CD8-08B3-CA3B9E0F38FC}"/>
              </a:ext>
            </a:extLst>
          </p:cNvPr>
          <p:cNvSpPr/>
          <p:nvPr/>
        </p:nvSpPr>
        <p:spPr>
          <a:xfrm>
            <a:off x="1724125" y="1078340"/>
            <a:ext cx="1629434" cy="2221349"/>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54" name="Picture 4" descr="Microsoft Teams Logo, symbol, meaning, history, PNG, brand">
            <a:extLst>
              <a:ext uri="{FF2B5EF4-FFF2-40B4-BE49-F238E27FC236}">
                <a16:creationId xmlns:a16="http://schemas.microsoft.com/office/drawing/2014/main" id="{3307C80F-1212-9A6F-8288-E47D3063F925}"/>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66307" y="1975738"/>
            <a:ext cx="724783" cy="407691"/>
          </a:xfrm>
          <a:prstGeom prst="rect">
            <a:avLst/>
          </a:prstGeom>
          <a:noFill/>
          <a:extLst>
            <a:ext uri="{909E8E84-426E-40DD-AFC4-6F175D3DCCD1}">
              <a14:hiddenFill xmlns:a14="http://schemas.microsoft.com/office/drawing/2010/main">
                <a:solidFill>
                  <a:srgbClr val="FFFFFF"/>
                </a:solidFill>
              </a14:hiddenFill>
            </a:ext>
          </a:extLst>
        </p:spPr>
      </p:pic>
      <p:sp>
        <p:nvSpPr>
          <p:cNvPr id="1056" name="TextBox 21">
            <a:extLst>
              <a:ext uri="{FF2B5EF4-FFF2-40B4-BE49-F238E27FC236}">
                <a16:creationId xmlns:a16="http://schemas.microsoft.com/office/drawing/2014/main" id="{18F976E2-71FF-2EBF-D3BD-368406B675CB}"/>
              </a:ext>
            </a:extLst>
          </p:cNvPr>
          <p:cNvSpPr txBox="1"/>
          <p:nvPr/>
        </p:nvSpPr>
        <p:spPr>
          <a:xfrm>
            <a:off x="1771939" y="1028137"/>
            <a:ext cx="1629433" cy="2257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App Interfaces</a:t>
            </a:r>
          </a:p>
        </p:txBody>
      </p:sp>
      <p:pic>
        <p:nvPicPr>
          <p:cNvPr id="1058" name="Graphic 1023">
            <a:extLst>
              <a:ext uri="{FF2B5EF4-FFF2-40B4-BE49-F238E27FC236}">
                <a16:creationId xmlns:a16="http://schemas.microsoft.com/office/drawing/2014/main" id="{A9206CF2-ED17-65F6-51DC-AFDE090AAC0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197889" y="2463005"/>
            <a:ext cx="339489" cy="339489"/>
          </a:xfrm>
          <a:prstGeom prst="rect">
            <a:avLst/>
          </a:prstGeom>
        </p:spPr>
      </p:pic>
      <p:sp>
        <p:nvSpPr>
          <p:cNvPr id="1059" name="TextBox 1024">
            <a:extLst>
              <a:ext uri="{FF2B5EF4-FFF2-40B4-BE49-F238E27FC236}">
                <a16:creationId xmlns:a16="http://schemas.microsoft.com/office/drawing/2014/main" id="{C3498806-5AEF-CCC9-FD62-250ED94BB4FC}"/>
              </a:ext>
            </a:extLst>
          </p:cNvPr>
          <p:cNvSpPr txBox="1"/>
          <p:nvPr/>
        </p:nvSpPr>
        <p:spPr>
          <a:xfrm>
            <a:off x="2492269" y="2445447"/>
            <a:ext cx="555004" cy="339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0C0"/>
                </a:solidFill>
                <a:effectLst/>
                <a:uLnTx/>
                <a:uFillTx/>
                <a:latin typeface="Calibri" panose="020F0502020204030204"/>
                <a:ea typeface="Gill Sans"/>
                <a:cs typeface="Gill Sans"/>
                <a:sym typeface="Gill Sans"/>
              </a:rPr>
              <a:t>REST</a:t>
            </a:r>
          </a:p>
        </p:txBody>
      </p:sp>
      <p:sp>
        <p:nvSpPr>
          <p:cNvPr id="1060" name="TextBox 1032">
            <a:extLst>
              <a:ext uri="{FF2B5EF4-FFF2-40B4-BE49-F238E27FC236}">
                <a16:creationId xmlns:a16="http://schemas.microsoft.com/office/drawing/2014/main" id="{10A96D3C-8029-E7F3-DA22-F36B37736A41}"/>
              </a:ext>
            </a:extLst>
          </p:cNvPr>
          <p:cNvSpPr txBox="1"/>
          <p:nvPr/>
        </p:nvSpPr>
        <p:spPr>
          <a:xfrm>
            <a:off x="2201901" y="1633884"/>
            <a:ext cx="914400"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r"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40+</a:t>
            </a:r>
            <a:r>
              <a:rPr kumimoji="0" lang="en-US" sz="1000" b="1" i="0" u="none" strike="noStrike" kern="0" cap="none" spc="0" normalizeH="0" baseline="0" noProof="0">
                <a:ln>
                  <a:noFill/>
                </a:ln>
                <a:solidFill>
                  <a:srgbClr val="000000"/>
                </a:solidFill>
                <a:effectLst/>
                <a:uLnTx/>
                <a:uFillTx/>
                <a:latin typeface="Calibri" panose="020F0502020204030204"/>
                <a:sym typeface="Gill Sans"/>
              </a:rPr>
              <a:t> Integrations</a:t>
            </a:r>
            <a:endPar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endParaRPr>
          </a:p>
        </p:txBody>
      </p:sp>
      <p:pic>
        <p:nvPicPr>
          <p:cNvPr id="1061" name="Picture 1038">
            <a:extLst>
              <a:ext uri="{FF2B5EF4-FFF2-40B4-BE49-F238E27FC236}">
                <a16:creationId xmlns:a16="http://schemas.microsoft.com/office/drawing/2014/main" id="{B4E50E8D-5890-633A-268B-A903FDF76F18}"/>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179941" y="1441427"/>
            <a:ext cx="914400" cy="254000"/>
          </a:xfrm>
          <a:prstGeom prst="rect">
            <a:avLst/>
          </a:prstGeom>
        </p:spPr>
      </p:pic>
      <p:cxnSp>
        <p:nvCxnSpPr>
          <p:cNvPr id="1062" name="Straight Connector 1040">
            <a:extLst>
              <a:ext uri="{FF2B5EF4-FFF2-40B4-BE49-F238E27FC236}">
                <a16:creationId xmlns:a16="http://schemas.microsoft.com/office/drawing/2014/main" id="{B6FB0136-FD18-C5E2-EB73-942176A61683}"/>
              </a:ext>
            </a:extLst>
          </p:cNvPr>
          <p:cNvCxnSpPr/>
          <p:nvPr/>
        </p:nvCxnSpPr>
        <p:spPr>
          <a:xfrm>
            <a:off x="2130809" y="1914057"/>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pic>
        <p:nvPicPr>
          <p:cNvPr id="1063" name="Graphic 1050">
            <a:extLst>
              <a:ext uri="{FF2B5EF4-FFF2-40B4-BE49-F238E27FC236}">
                <a16:creationId xmlns:a16="http://schemas.microsoft.com/office/drawing/2014/main" id="{2922FD00-7F03-793F-97B5-55E08E95925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flipH="1">
            <a:off x="1977522" y="2735637"/>
            <a:ext cx="623175" cy="623175"/>
          </a:xfrm>
          <a:prstGeom prst="rect">
            <a:avLst/>
          </a:prstGeom>
        </p:spPr>
      </p:pic>
      <p:sp>
        <p:nvSpPr>
          <p:cNvPr id="1064" name="Oval 1063">
            <a:extLst>
              <a:ext uri="{FF2B5EF4-FFF2-40B4-BE49-F238E27FC236}">
                <a16:creationId xmlns:a16="http://schemas.microsoft.com/office/drawing/2014/main" id="{24A425A9-B5AA-C366-D4CC-10C59D0E8745}"/>
              </a:ext>
            </a:extLst>
          </p:cNvPr>
          <p:cNvSpPr/>
          <p:nvPr/>
        </p:nvSpPr>
        <p:spPr>
          <a:xfrm>
            <a:off x="2129882" y="2908497"/>
            <a:ext cx="315640" cy="329509"/>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65" name="Graphic 1046" descr="Conductor male with solid fill">
            <a:extLst>
              <a:ext uri="{FF2B5EF4-FFF2-40B4-BE49-F238E27FC236}">
                <a16:creationId xmlns:a16="http://schemas.microsoft.com/office/drawing/2014/main" id="{B398363A-1BC0-8D51-BD21-D04EDDC3BF2C}"/>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172626" y="2953120"/>
            <a:ext cx="230151" cy="240264"/>
          </a:xfrm>
          <a:prstGeom prst="rect">
            <a:avLst/>
          </a:prstGeom>
        </p:spPr>
      </p:pic>
      <p:grpSp>
        <p:nvGrpSpPr>
          <p:cNvPr id="1031" name="Group 36">
            <a:extLst>
              <a:ext uri="{FF2B5EF4-FFF2-40B4-BE49-F238E27FC236}">
                <a16:creationId xmlns:a16="http://schemas.microsoft.com/office/drawing/2014/main" id="{1EDD1819-11C1-FB9A-486B-6CDA4AE533DD}"/>
              </a:ext>
            </a:extLst>
          </p:cNvPr>
          <p:cNvGrpSpPr/>
          <p:nvPr/>
        </p:nvGrpSpPr>
        <p:grpSpPr>
          <a:xfrm>
            <a:off x="3406809" y="972682"/>
            <a:ext cx="4202476" cy="3765200"/>
            <a:chOff x="3303577" y="1341493"/>
            <a:chExt cx="4202476" cy="3765200"/>
          </a:xfrm>
        </p:grpSpPr>
        <p:sp>
          <p:nvSpPr>
            <p:cNvPr id="1033" name="Rectangle: Rounded Corners 7">
              <a:extLst>
                <a:ext uri="{FF2B5EF4-FFF2-40B4-BE49-F238E27FC236}">
                  <a16:creationId xmlns:a16="http://schemas.microsoft.com/office/drawing/2014/main" id="{D6574021-68F0-A34A-5CD6-9F3825E3BF17}"/>
                </a:ext>
              </a:extLst>
            </p:cNvPr>
            <p:cNvSpPr/>
            <p:nvPr/>
          </p:nvSpPr>
          <p:spPr>
            <a:xfrm>
              <a:off x="4328716" y="1341493"/>
              <a:ext cx="2995567" cy="3765200"/>
            </a:xfrm>
            <a:prstGeom prst="roundRect">
              <a:avLst>
                <a:gd name="adj" fmla="val 11549"/>
              </a:avLst>
            </a:prstGeom>
            <a:no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CA"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35" name="Oval 1034">
              <a:extLst>
                <a:ext uri="{FF2B5EF4-FFF2-40B4-BE49-F238E27FC236}">
                  <a16:creationId xmlns:a16="http://schemas.microsoft.com/office/drawing/2014/main" id="{B8FF4539-7DB4-D06C-6323-177A41F3E00D}"/>
                </a:ext>
              </a:extLst>
            </p:cNvPr>
            <p:cNvSpPr/>
            <p:nvPr/>
          </p:nvSpPr>
          <p:spPr>
            <a:xfrm>
              <a:off x="5121104" y="1875469"/>
              <a:ext cx="1554480" cy="1554480"/>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37" name="Graphic 55" descr="Conductor male with solid fill">
              <a:extLst>
                <a:ext uri="{FF2B5EF4-FFF2-40B4-BE49-F238E27FC236}">
                  <a16:creationId xmlns:a16="http://schemas.microsoft.com/office/drawing/2014/main" id="{EAF520FA-D318-DB45-C71A-8B938E18905A}"/>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331614" y="2085979"/>
              <a:ext cx="1133460" cy="1133460"/>
            </a:xfrm>
            <a:prstGeom prst="rect">
              <a:avLst/>
            </a:prstGeom>
          </p:spPr>
        </p:pic>
        <p:sp>
          <p:nvSpPr>
            <p:cNvPr id="1038" name="TextBox 9">
              <a:extLst>
                <a:ext uri="{FF2B5EF4-FFF2-40B4-BE49-F238E27FC236}">
                  <a16:creationId xmlns:a16="http://schemas.microsoft.com/office/drawing/2014/main" id="{35217BF2-666E-298B-93E3-0D7A7722AB83}"/>
                </a:ext>
              </a:extLst>
            </p:cNvPr>
            <p:cNvSpPr txBox="1"/>
            <p:nvPr/>
          </p:nvSpPr>
          <p:spPr>
            <a:xfrm>
              <a:off x="4328715" y="1437483"/>
              <a:ext cx="317733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9575" rtl="0" eaLnBrk="1" fontAlgn="auto" latinLnBrk="0" hangingPunct="0">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panose="020F0502020204030204"/>
                  <a:sym typeface="Gill Sans"/>
                </a:rPr>
                <a:t>Solace Agent Mesh</a:t>
              </a:r>
              <a:endParaRPr kumimoji="0" lang="en-US" sz="2400" b="0" i="0" u="none" strike="noStrike" kern="0" cap="none" spc="0" normalizeH="0" baseline="0" noProof="0">
                <a:ln>
                  <a:noFill/>
                </a:ln>
                <a:solidFill>
                  <a:srgbClr val="000000"/>
                </a:solidFill>
                <a:effectLst/>
                <a:uLnTx/>
                <a:uFillTx/>
                <a:latin typeface="Gill Sans"/>
                <a:sym typeface="Gill Sans"/>
              </a:endParaRPr>
            </a:p>
          </p:txBody>
        </p:sp>
        <p:pic>
          <p:nvPicPr>
            <p:cNvPr id="1039" name="Graphic 8">
              <a:extLst>
                <a:ext uri="{FF2B5EF4-FFF2-40B4-BE49-F238E27FC236}">
                  <a16:creationId xmlns:a16="http://schemas.microsoft.com/office/drawing/2014/main" id="{B9FF3540-502F-F6D5-2D09-DABE2F3A48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13349" y="1952640"/>
              <a:ext cx="376368" cy="376368"/>
            </a:xfrm>
            <a:prstGeom prst="rect">
              <a:avLst/>
            </a:prstGeom>
          </p:spPr>
        </p:pic>
        <p:sp>
          <p:nvSpPr>
            <p:cNvPr id="1040" name="TextBox 23">
              <a:extLst>
                <a:ext uri="{FF2B5EF4-FFF2-40B4-BE49-F238E27FC236}">
                  <a16:creationId xmlns:a16="http://schemas.microsoft.com/office/drawing/2014/main" id="{B98FB564-888A-04D5-E6E8-5F4526293CDE}"/>
                </a:ext>
              </a:extLst>
            </p:cNvPr>
            <p:cNvSpPr txBox="1"/>
            <p:nvPr/>
          </p:nvSpPr>
          <p:spPr>
            <a:xfrm>
              <a:off x="4512893" y="3777103"/>
              <a:ext cx="1410177" cy="289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Built-In </a:t>
              </a:r>
              <a:r>
                <a:rPr kumimoji="0" lang="en-US" sz="1200" b="1" i="0" u="none" strike="noStrike" kern="0" cap="none" spc="0" normalizeH="0" baseline="0" noProof="0" dirty="0">
                  <a:ln>
                    <a:noFill/>
                  </a:ln>
                  <a:solidFill>
                    <a:srgbClr val="000000"/>
                  </a:solidFill>
                  <a:effectLst/>
                  <a:uLnTx/>
                  <a:uFillTx/>
                  <a:latin typeface="Calibri" panose="020F0502020204030204"/>
                  <a:sym typeface="Gill Sans"/>
                </a:rPr>
                <a:t>Agents</a:t>
              </a:r>
              <a:endParaRPr lang="en-US" sz="1200" b="1" dirty="0">
                <a:latin typeface="Calibri" panose="020F0502020204030204"/>
              </a:endParaRPr>
            </a:p>
            <a:p>
              <a:pPr marL="0" marR="0" lvl="0" indent="0" algn="l" defTabSz="81915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Calibri" panose="020F0502020204030204"/>
                <a:sym typeface="Gill Sans"/>
              </a:endParaRPr>
            </a:p>
          </p:txBody>
        </p:sp>
        <p:pic>
          <p:nvPicPr>
            <p:cNvPr id="1042" name="Graphic 34">
              <a:extLst>
                <a:ext uri="{FF2B5EF4-FFF2-40B4-BE49-F238E27FC236}">
                  <a16:creationId xmlns:a16="http://schemas.microsoft.com/office/drawing/2014/main" id="{C984F6DF-3375-F5A5-5EAC-1B759A01617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90600" y="4020528"/>
              <a:ext cx="281501" cy="281501"/>
            </a:xfrm>
            <a:prstGeom prst="rect">
              <a:avLst/>
            </a:prstGeom>
          </p:spPr>
        </p:pic>
        <p:sp>
          <p:nvSpPr>
            <p:cNvPr id="1043" name="TextBox 35">
              <a:extLst>
                <a:ext uri="{FF2B5EF4-FFF2-40B4-BE49-F238E27FC236}">
                  <a16:creationId xmlns:a16="http://schemas.microsoft.com/office/drawing/2014/main" id="{4D46E97D-F110-72BB-8E42-48327BF6F8C0}"/>
                </a:ext>
              </a:extLst>
            </p:cNvPr>
            <p:cNvSpPr txBox="1"/>
            <p:nvPr/>
          </p:nvSpPr>
          <p:spPr>
            <a:xfrm>
              <a:off x="4760562" y="4011778"/>
              <a:ext cx="555004" cy="4020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74747">
                      <a:lumMod val="50000"/>
                    </a:srgbClr>
                  </a:solidFill>
                  <a:effectLst/>
                  <a:uLnTx/>
                  <a:uFillTx/>
                  <a:latin typeface="Calibri" panose="020F0502020204030204"/>
                  <a:ea typeface="Gill Sans"/>
                  <a:cs typeface="Gill Sans"/>
                  <a:sym typeface="Gill Sans"/>
                </a:rPr>
                <a:t>REST</a:t>
              </a:r>
            </a:p>
          </p:txBody>
        </p:sp>
        <p:pic>
          <p:nvPicPr>
            <p:cNvPr id="1044" name="Graphic 37">
              <a:extLst>
                <a:ext uri="{FF2B5EF4-FFF2-40B4-BE49-F238E27FC236}">
                  <a16:creationId xmlns:a16="http://schemas.microsoft.com/office/drawing/2014/main" id="{BDC52DC8-7012-F3EB-A84E-8FC96A1EFF79}"/>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510594" y="4318245"/>
              <a:ext cx="334687" cy="334687"/>
            </a:xfrm>
            <a:prstGeom prst="rect">
              <a:avLst/>
            </a:prstGeom>
          </p:spPr>
        </p:pic>
        <p:sp>
          <p:nvSpPr>
            <p:cNvPr id="1045" name="TextBox 44">
              <a:extLst>
                <a:ext uri="{FF2B5EF4-FFF2-40B4-BE49-F238E27FC236}">
                  <a16:creationId xmlns:a16="http://schemas.microsoft.com/office/drawing/2014/main" id="{8D276BEE-34C7-3E55-79F7-EC0A4E273889}"/>
                </a:ext>
              </a:extLst>
            </p:cNvPr>
            <p:cNvSpPr txBox="1"/>
            <p:nvPr/>
          </p:nvSpPr>
          <p:spPr>
            <a:xfrm>
              <a:off x="4788274" y="428238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Image </a:t>
              </a:r>
            </a:p>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Processing</a:t>
              </a:r>
            </a:p>
          </p:txBody>
        </p:sp>
        <p:pic>
          <p:nvPicPr>
            <p:cNvPr id="1046" name="Graphic 24">
              <a:extLst>
                <a:ext uri="{FF2B5EF4-FFF2-40B4-BE49-F238E27FC236}">
                  <a16:creationId xmlns:a16="http://schemas.microsoft.com/office/drawing/2014/main" id="{3F66F8AD-EA72-0B1F-BF5F-A717E00750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90569" y="3436553"/>
              <a:ext cx="376368" cy="376368"/>
            </a:xfrm>
            <a:prstGeom prst="rect">
              <a:avLst/>
            </a:prstGeom>
          </p:spPr>
        </p:pic>
        <p:sp>
          <p:nvSpPr>
            <p:cNvPr id="1047" name="Rectangle 32">
              <a:extLst>
                <a:ext uri="{FF2B5EF4-FFF2-40B4-BE49-F238E27FC236}">
                  <a16:creationId xmlns:a16="http://schemas.microsoft.com/office/drawing/2014/main" id="{7ED3A15F-7418-A200-40D7-1004B01F5964}"/>
                </a:ext>
              </a:extLst>
            </p:cNvPr>
            <p:cNvSpPr/>
            <p:nvPr/>
          </p:nvSpPr>
          <p:spPr>
            <a:xfrm>
              <a:off x="4488621" y="3742032"/>
              <a:ext cx="1076429" cy="1042290"/>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48" name="TextBox 25">
              <a:extLst>
                <a:ext uri="{FF2B5EF4-FFF2-40B4-BE49-F238E27FC236}">
                  <a16:creationId xmlns:a16="http://schemas.microsoft.com/office/drawing/2014/main" id="{0E52529C-0EAF-F368-3348-9594D9335D99}"/>
                </a:ext>
              </a:extLst>
            </p:cNvPr>
            <p:cNvSpPr txBox="1"/>
            <p:nvPr/>
          </p:nvSpPr>
          <p:spPr>
            <a:xfrm>
              <a:off x="4489835" y="3457564"/>
              <a:ext cx="1895081" cy="3541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lang="en-US" sz="1200" b="1" dirty="0">
                  <a:latin typeface="Calibri" panose="020F0502020204030204"/>
                  <a:ea typeface="Gill Sans"/>
                  <a:cs typeface="Gill Sans"/>
                </a:rPr>
                <a:t>Agent</a:t>
              </a:r>
              <a:r>
                <a:rPr lang="en-US" sz="1200" b="1" dirty="0">
                  <a:latin typeface="Calibri" panose="020F0502020204030204"/>
                </a:rPr>
                <a:t>2Agent Protocol </a:t>
              </a: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(A2</a:t>
              </a:r>
              <a:r>
                <a:rPr lang="en-US" sz="1200" b="1" dirty="0">
                  <a:latin typeface="Calibri" panose="020F0502020204030204"/>
                </a:rPr>
                <a:t>A)</a:t>
              </a:r>
              <a:endPar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endParaRPr>
            </a:p>
          </p:txBody>
        </p:sp>
        <p:sp>
          <p:nvSpPr>
            <p:cNvPr id="1049" name="Up-Down Arrow 14">
              <a:extLst>
                <a:ext uri="{FF2B5EF4-FFF2-40B4-BE49-F238E27FC236}">
                  <a16:creationId xmlns:a16="http://schemas.microsoft.com/office/drawing/2014/main" id="{55026B7E-A505-0C34-DF8D-2F79EF6C0096}"/>
                </a:ext>
              </a:extLst>
            </p:cNvPr>
            <p:cNvSpPr/>
            <p:nvPr/>
          </p:nvSpPr>
          <p:spPr>
            <a:xfrm rot="16200000">
              <a:off x="3703408" y="2311114"/>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69" name="Picture 14" descr="database Icon - Free PNG &amp; SVG 5079138 - Noun Project">
            <a:extLst>
              <a:ext uri="{FF2B5EF4-FFF2-40B4-BE49-F238E27FC236}">
                <a16:creationId xmlns:a16="http://schemas.microsoft.com/office/drawing/2014/main" id="{E7460B21-8E5D-3431-EFC2-CB1A96217BE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601452" y="1068672"/>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14" descr="database Icon - Free PNG &amp; SVG 5079138 - Noun Project">
            <a:extLst>
              <a:ext uri="{FF2B5EF4-FFF2-40B4-BE49-F238E27FC236}">
                <a16:creationId xmlns:a16="http://schemas.microsoft.com/office/drawing/2014/main" id="{7BEAEC29-74CB-182B-B4F5-49976A72BB8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601452" y="1831626"/>
            <a:ext cx="585216" cy="585216"/>
          </a:xfrm>
          <a:prstGeom prst="rect">
            <a:avLst/>
          </a:prstGeom>
          <a:noFill/>
          <a:extLst>
            <a:ext uri="{909E8E84-426E-40DD-AFC4-6F175D3DCCD1}">
              <a14:hiddenFill xmlns:a14="http://schemas.microsoft.com/office/drawing/2010/main">
                <a:solidFill>
                  <a:srgbClr val="FFFFFF"/>
                </a:solidFill>
              </a14:hiddenFill>
            </a:ext>
          </a:extLst>
        </p:spPr>
      </p:pic>
      <p:sp>
        <p:nvSpPr>
          <p:cNvPr id="1071" name="TextBox 5">
            <a:extLst>
              <a:ext uri="{FF2B5EF4-FFF2-40B4-BE49-F238E27FC236}">
                <a16:creationId xmlns:a16="http://schemas.microsoft.com/office/drawing/2014/main" id="{DD40BCCE-64FC-B274-3A74-3B029A09EE0F}"/>
              </a:ext>
            </a:extLst>
          </p:cNvPr>
          <p:cNvSpPr txBox="1"/>
          <p:nvPr/>
        </p:nvSpPr>
        <p:spPr>
          <a:xfrm>
            <a:off x="10280580" y="1010903"/>
            <a:ext cx="914400" cy="914400"/>
          </a:xfrm>
          <a:prstGeom prst="rect">
            <a:avLst/>
          </a:prstGeom>
          <a:noFill/>
        </p:spPr>
        <p:txBody>
          <a:bodyPr wrap="none" lIns="0" tIns="0" rIns="0" bIns="0" rtlCol="0">
            <a:noAutofit/>
          </a:bodyPr>
          <a:lstStyle/>
          <a:p>
            <a:pPr algn="l"/>
            <a:r>
              <a:rPr lang="en-US" sz="1600" b="1" dirty="0">
                <a:solidFill>
                  <a:srgbClr val="979797"/>
                </a:solidFill>
              </a:rPr>
              <a:t>Postgres</a:t>
            </a:r>
          </a:p>
          <a:p>
            <a:pPr algn="l"/>
            <a:r>
              <a:rPr lang="en-US" sz="1600" b="1" dirty="0">
                <a:solidFill>
                  <a:srgbClr val="979797"/>
                </a:solidFill>
              </a:rPr>
              <a:t>acme_insurance</a:t>
            </a:r>
          </a:p>
          <a:p>
            <a:pPr algn="l"/>
            <a:endParaRPr lang="en-US" sz="1600" b="1" dirty="0">
              <a:solidFill>
                <a:srgbClr val="979797"/>
              </a:solidFill>
            </a:endParaRPr>
          </a:p>
        </p:txBody>
      </p:sp>
      <p:sp>
        <p:nvSpPr>
          <p:cNvPr id="1072" name="TextBox 5">
            <a:extLst>
              <a:ext uri="{FF2B5EF4-FFF2-40B4-BE49-F238E27FC236}">
                <a16:creationId xmlns:a16="http://schemas.microsoft.com/office/drawing/2014/main" id="{C62B5860-266D-57E1-5C61-133645FC26E9}"/>
              </a:ext>
            </a:extLst>
          </p:cNvPr>
          <p:cNvSpPr txBox="1"/>
          <p:nvPr/>
        </p:nvSpPr>
        <p:spPr>
          <a:xfrm>
            <a:off x="10280580" y="1867275"/>
            <a:ext cx="914400" cy="914400"/>
          </a:xfrm>
          <a:prstGeom prst="rect">
            <a:avLst/>
          </a:prstGeom>
          <a:noFill/>
        </p:spPr>
        <p:txBody>
          <a:bodyPr wrap="none" lIns="0" tIns="0" rIns="0" bIns="0" rtlCol="0">
            <a:noAutofit/>
          </a:bodyPr>
          <a:lstStyle/>
          <a:p>
            <a:pPr algn="l"/>
            <a:r>
              <a:rPr lang="en-US" sz="1600" b="1" dirty="0">
                <a:solidFill>
                  <a:srgbClr val="979797"/>
                </a:solidFill>
              </a:rPr>
              <a:t>Qdrant via MCP</a:t>
            </a:r>
          </a:p>
          <a:p>
            <a:pPr algn="l"/>
            <a:r>
              <a:rPr lang="en-US" sz="1600" b="1" dirty="0">
                <a:solidFill>
                  <a:srgbClr val="979797"/>
                </a:solidFill>
              </a:rPr>
              <a:t>acme_knowledge</a:t>
            </a:r>
          </a:p>
        </p:txBody>
      </p:sp>
      <p:sp>
        <p:nvSpPr>
          <p:cNvPr id="1092" name="TextBox 1052">
            <a:extLst>
              <a:ext uri="{FF2B5EF4-FFF2-40B4-BE49-F238E27FC236}">
                <a16:creationId xmlns:a16="http://schemas.microsoft.com/office/drawing/2014/main" id="{C1F9F214-9408-5D45-718C-71CD544C45E7}"/>
              </a:ext>
            </a:extLst>
          </p:cNvPr>
          <p:cNvSpPr txBox="1"/>
          <p:nvPr/>
        </p:nvSpPr>
        <p:spPr>
          <a:xfrm>
            <a:off x="7973904" y="116670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Query Expert</a:t>
            </a:r>
          </a:p>
        </p:txBody>
      </p:sp>
      <p:pic>
        <p:nvPicPr>
          <p:cNvPr id="1093" name="Graphic 1054">
            <a:extLst>
              <a:ext uri="{FF2B5EF4-FFF2-40B4-BE49-F238E27FC236}">
                <a16:creationId xmlns:a16="http://schemas.microsoft.com/office/drawing/2014/main" id="{2C01455E-EEFB-5508-B9CF-23F5A4FA3242}"/>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675797" y="1194872"/>
            <a:ext cx="281501" cy="281501"/>
          </a:xfrm>
          <a:prstGeom prst="rect">
            <a:avLst/>
          </a:prstGeom>
        </p:spPr>
      </p:pic>
      <p:sp>
        <p:nvSpPr>
          <p:cNvPr id="1094" name="TextBox 1052">
            <a:extLst>
              <a:ext uri="{FF2B5EF4-FFF2-40B4-BE49-F238E27FC236}">
                <a16:creationId xmlns:a16="http://schemas.microsoft.com/office/drawing/2014/main" id="{AF6FA72B-A8DE-56C4-1A87-72722850FFAB}"/>
              </a:ext>
            </a:extLst>
          </p:cNvPr>
          <p:cNvSpPr txBox="1"/>
          <p:nvPr/>
        </p:nvSpPr>
        <p:spPr>
          <a:xfrm>
            <a:off x="7970211" y="193000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Knowledge Expert</a:t>
            </a:r>
          </a:p>
        </p:txBody>
      </p:sp>
      <p:pic>
        <p:nvPicPr>
          <p:cNvPr id="1095" name="Graphic 1054">
            <a:extLst>
              <a:ext uri="{FF2B5EF4-FFF2-40B4-BE49-F238E27FC236}">
                <a16:creationId xmlns:a16="http://schemas.microsoft.com/office/drawing/2014/main" id="{2989A496-2160-861E-2E44-7B12DF50659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672104" y="1958173"/>
            <a:ext cx="281501" cy="281501"/>
          </a:xfrm>
          <a:prstGeom prst="rect">
            <a:avLst/>
          </a:prstGeom>
        </p:spPr>
      </p:pic>
      <p:sp>
        <p:nvSpPr>
          <p:cNvPr id="1096" name="Up-Down Arrow 22">
            <a:extLst>
              <a:ext uri="{FF2B5EF4-FFF2-40B4-BE49-F238E27FC236}">
                <a16:creationId xmlns:a16="http://schemas.microsoft.com/office/drawing/2014/main" id="{95D9E068-071F-155A-1796-A2CED7164EC7}"/>
              </a:ext>
            </a:extLst>
          </p:cNvPr>
          <p:cNvSpPr/>
          <p:nvPr/>
        </p:nvSpPr>
        <p:spPr>
          <a:xfrm rot="2853404" flipH="1">
            <a:off x="7115174" y="123051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Up-Down Arrow 22">
            <a:extLst>
              <a:ext uri="{FF2B5EF4-FFF2-40B4-BE49-F238E27FC236}">
                <a16:creationId xmlns:a16="http://schemas.microsoft.com/office/drawing/2014/main" id="{C64D994C-31B3-BB4F-8A47-D9CEC73B238C}"/>
              </a:ext>
            </a:extLst>
          </p:cNvPr>
          <p:cNvSpPr/>
          <p:nvPr/>
        </p:nvSpPr>
        <p:spPr>
          <a:xfrm rot="5400000" flipH="1">
            <a:off x="7122030" y="165199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Up-Down Arrow 22">
            <a:extLst>
              <a:ext uri="{FF2B5EF4-FFF2-40B4-BE49-F238E27FC236}">
                <a16:creationId xmlns:a16="http://schemas.microsoft.com/office/drawing/2014/main" id="{AFBFB484-A64C-E76F-FA47-E25C088DF217}"/>
              </a:ext>
            </a:extLst>
          </p:cNvPr>
          <p:cNvSpPr/>
          <p:nvPr/>
        </p:nvSpPr>
        <p:spPr>
          <a:xfrm rot="6345828" flipH="1">
            <a:off x="7099441" y="2178437"/>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Down Arrow 22">
            <a:extLst>
              <a:ext uri="{FF2B5EF4-FFF2-40B4-BE49-F238E27FC236}">
                <a16:creationId xmlns:a16="http://schemas.microsoft.com/office/drawing/2014/main" id="{0822553D-68CF-E16D-1FA3-9B68D9FE2F5C}"/>
              </a:ext>
            </a:extLst>
          </p:cNvPr>
          <p:cNvSpPr/>
          <p:nvPr/>
        </p:nvSpPr>
        <p:spPr>
          <a:xfrm rot="8318964" flipH="1">
            <a:off x="7011883" y="2598249"/>
            <a:ext cx="187410" cy="1444094"/>
          </a:xfrm>
          <a:prstGeom prst="up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1" descr="claude.png">
            <a:extLst>
              <a:ext uri="{FF2B5EF4-FFF2-40B4-BE49-F238E27FC236}">
                <a16:creationId xmlns:a16="http://schemas.microsoft.com/office/drawing/2014/main" id="{143B0B45-B5C8-78FD-BA0D-4AE01923F912}"/>
              </a:ext>
            </a:extLst>
          </p:cNvPr>
          <p:cNvPicPr>
            <a:picLocks noChangeAspect="1"/>
          </p:cNvPicPr>
          <p:nvPr/>
        </p:nvPicPr>
        <p:blipFill>
          <a:blip r:embed="rId25"/>
          <a:stretch>
            <a:fillRect/>
          </a:stretch>
        </p:blipFill>
        <p:spPr>
          <a:xfrm>
            <a:off x="1816254" y="1993231"/>
            <a:ext cx="402240" cy="402240"/>
          </a:xfrm>
          <a:prstGeom prst="rect">
            <a:avLst/>
          </a:prstGeom>
        </p:spPr>
      </p:pic>
      <p:sp>
        <p:nvSpPr>
          <p:cNvPr id="1103" name="TextBox 1052">
            <a:extLst>
              <a:ext uri="{FF2B5EF4-FFF2-40B4-BE49-F238E27FC236}">
                <a16:creationId xmlns:a16="http://schemas.microsoft.com/office/drawing/2014/main" id="{AF6FA72B-A8DE-56C4-1A87-72722850FFAB}"/>
              </a:ext>
            </a:extLst>
          </p:cNvPr>
          <p:cNvSpPr txBox="1"/>
          <p:nvPr/>
        </p:nvSpPr>
        <p:spPr>
          <a:xfrm>
            <a:off x="7970211" y="275234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Intake Liaison</a:t>
            </a:r>
          </a:p>
        </p:txBody>
      </p:sp>
      <p:sp>
        <p:nvSpPr>
          <p:cNvPr id="1104" name="TextBox 1052">
            <a:extLst>
              <a:ext uri="{FF2B5EF4-FFF2-40B4-BE49-F238E27FC236}">
                <a16:creationId xmlns:a16="http://schemas.microsoft.com/office/drawing/2014/main" id="{AF6FA72B-A8DE-56C4-1A87-72722850FFAB}"/>
              </a:ext>
            </a:extLst>
          </p:cNvPr>
          <p:cNvSpPr txBox="1"/>
          <p:nvPr/>
        </p:nvSpPr>
        <p:spPr>
          <a:xfrm>
            <a:off x="7970211" y="334670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Triage Decision</a:t>
            </a:r>
          </a:p>
        </p:txBody>
      </p:sp>
      <p:pic>
        <p:nvPicPr>
          <p:cNvPr id="1105" name="Graphic 1054">
            <a:extLst>
              <a:ext uri="{FF2B5EF4-FFF2-40B4-BE49-F238E27FC236}">
                <a16:creationId xmlns:a16="http://schemas.microsoft.com/office/drawing/2014/main" id="{2989A496-2160-861E-2E44-7B12DF50659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672104" y="2779776"/>
            <a:ext cx="281501" cy="281501"/>
          </a:xfrm>
          <a:prstGeom prst="rect">
            <a:avLst/>
          </a:prstGeom>
        </p:spPr>
      </p:pic>
      <p:pic>
        <p:nvPicPr>
          <p:cNvPr id="1106" name="Graphic 1054">
            <a:extLst>
              <a:ext uri="{FF2B5EF4-FFF2-40B4-BE49-F238E27FC236}">
                <a16:creationId xmlns:a16="http://schemas.microsoft.com/office/drawing/2014/main" id="{2989A496-2160-861E-2E44-7B12DF50659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672104" y="3374136"/>
            <a:ext cx="281501" cy="281501"/>
          </a:xfrm>
          <a:prstGeom prst="rect">
            <a:avLst/>
          </a:prstGeom>
        </p:spPr>
      </p:pic>
      <p:sp>
        <p:nvSpPr>
          <p:cNvPr id="1107" name="TextBox 5">
            <a:extLst>
              <a:ext uri="{FF2B5EF4-FFF2-40B4-BE49-F238E27FC236}">
                <a16:creationId xmlns:a16="http://schemas.microsoft.com/office/drawing/2014/main" id="{8718990F-C139-B219-617C-7765341DBF2F}"/>
              </a:ext>
            </a:extLst>
          </p:cNvPr>
          <p:cNvSpPr txBox="1"/>
          <p:nvPr/>
        </p:nvSpPr>
        <p:spPr>
          <a:xfrm>
            <a:off x="9601200" y="3191256"/>
            <a:ext cx="914400" cy="914400"/>
          </a:xfrm>
          <a:prstGeom prst="rect">
            <a:avLst/>
          </a:prstGeom>
          <a:noFill/>
        </p:spPr>
        <p:txBody>
          <a:bodyPr wrap="none" lIns="0" tIns="0" rIns="0" bIns="0" rtlCol="0">
            <a:noAutofit/>
          </a:bodyPr>
          <a:lstStyle/>
          <a:p>
            <a:r>
              <a:rPr lang="en-US" sz="1600" b="1" dirty="0">
                <a:solidFill>
                  <a:srgbClr val="979797"/>
                </a:solidFill>
              </a:rPr>
              <a:t>WORKFLOW</a:t>
            </a:r>
          </a:p>
          <a:p>
            <a:r>
              <a:rPr lang="en-US" sz="1600" b="1" dirty="0">
                <a:solidFill>
                  <a:srgbClr val="979797"/>
                </a:solidFill>
              </a:rPr>
              <a:t>claim-triage</a:t>
            </a:r>
          </a:p>
          <a:p>
            <a:endParaRPr lang="en-US" sz="1600" b="1" dirty="0">
              <a:solidFill>
                <a:srgbClr val="979797"/>
              </a:solidFill>
            </a:endParaRPr>
          </a:p>
        </p:txBody>
      </p:sp>
      <p:sp>
        <p:nvSpPr>
          <p:cNvPr id="1108" name="Up-Down Arrow 22">
            <a:extLst>
              <a:ext uri="{FF2B5EF4-FFF2-40B4-BE49-F238E27FC236}">
                <a16:creationId xmlns:a16="http://schemas.microsoft.com/office/drawing/2014/main" id="{AFBFB484-A64C-E76F-FA47-E25C088DF217}"/>
              </a:ext>
            </a:extLst>
          </p:cNvPr>
          <p:cNvSpPr/>
          <p:nvPr/>
        </p:nvSpPr>
        <p:spPr>
          <a:xfrm rot="7355480" flipH="1">
            <a:off x="7102319" y="2389532"/>
            <a:ext cx="166032" cy="1171635"/>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9" name="Story Badge 1"/>
          <p:cNvSpPr/>
          <p:nvPr/>
        </p:nvSpPr>
        <p:spPr>
          <a:xfrm>
            <a:off x="201168" y="4681728"/>
            <a:ext cx="384048" cy="384048"/>
          </a:xfrm>
          <a:prstGeom prst="ellipse">
            <a:avLst/>
          </a:prstGeom>
          <a:solidFill>
            <a:srgbClr val="00A76D"/>
          </a:solidFill>
          <a:ln>
            <a:noFill/>
          </a:ln>
        </p:spPr>
        <p:txBody>
          <a:bodyPr lIns="0" tIns="0" rIns="0" bIns="0" anchor="ctr"/>
          <a:lstStyle/>
          <a:p>
            <a:pPr algn="ctr"/>
            <a:r>
              <a:rPr lang="en-US" sz="1600" b="1" dirty="0">
                <a:solidFill>
                  <a:srgbClr val="FFFFFF"/>
                </a:solidFill>
              </a:rPr>
              <a:t>1</a:t>
            </a:r>
          </a:p>
        </p:txBody>
      </p:sp>
      <p:sp>
        <p:nvSpPr>
          <p:cNvPr id="1115" name="Burst Counter"/>
          <p:cNvSpPr/>
          <p:nvPr/>
        </p:nvSpPr>
        <p:spPr>
          <a:xfrm>
            <a:off x="5730240" y="5459123"/>
            <a:ext cx="731520" cy="731520"/>
          </a:xfrm>
          <a:prstGeom prst="ellipse">
            <a:avLst/>
          </a:prstGeom>
          <a:solidFill>
            <a:srgbClr val="2F2F2F"/>
          </a:solidFill>
          <a:ln>
            <a:noFill/>
          </a:ln>
        </p:spPr>
        <p:txBody>
          <a:bodyPr lIns="0" tIns="0" rIns="0" bIns="0" anchor="ctr"/>
          <a:lstStyle/>
          <a:p>
            <a:pPr algn="ctr"/>
            <a:r>
              <a:rPr lang="en-US" sz="1100" b="1" dirty="0">
                <a:solidFill>
                  <a:srgbClr val="FFFFFF"/>
                </a:solidFill>
              </a:rPr>
              <a:t>10,400</a:t>
            </a:r>
          </a:p>
          <a:p>
            <a:pPr algn="ctr"/>
            <a:r>
              <a:rPr lang="en-US" sz="900" b="1" dirty="0">
                <a:solidFill>
                  <a:srgbClr val="FFFFFF"/>
                </a:solidFill>
              </a:rPr>
              <a:t>FNOLs</a:t>
            </a:r>
          </a:p>
        </p:txBody>
      </p:sp>
      <p:sp>
        <p:nvSpPr>
          <p:cNvPr id="1110" name="Story Text 1"/>
          <p:cNvSpPr txBox="1"/>
          <p:nvPr/>
        </p:nvSpPr>
        <p:spPr>
          <a:xfrm>
            <a:off x="676656" y="4663440"/>
            <a:ext cx="1133856" cy="914400"/>
          </a:xfrm>
          <a:prstGeom prst="rect">
            <a:avLst/>
          </a:prstGeom>
          <a:noFill/>
        </p:spPr>
        <p:txBody>
          <a:bodyPr wrap="square" lIns="0" tIns="0" rIns="0" bIns="0">
            <a:normAutofit/>
          </a:bodyPr>
          <a:lstStyle/>
          <a:p>
            <a:r>
              <a:rPr lang="en-US" sz="1100" b="1" dirty="0">
                <a:solidFill>
                  <a:srgbClr val="00A76D"/>
                </a:solidFill>
              </a:rPr>
              <a:t>Claim comes in</a:t>
            </a:r>
          </a:p>
          <a:p>
            <a:r>
              <a:rPr lang="en-US" sz="900" dirty="0">
                <a:solidFill>
                  <a:srgbClr val="595959"/>
                </a:solidFill>
              </a:rPr>
              <a:t>ONE first notice of loss, published on the event mesh</a:t>
            </a:r>
          </a:p>
        </p:txBody>
      </p:sp>
      <p:sp>
        <p:nvSpPr>
          <p:cNvPr id="1123" name="Entrypoint Label"/>
          <p:cNvSpPr txBox="1"/>
          <p:nvPr/>
        </p:nvSpPr>
        <p:spPr>
          <a:xfrm>
            <a:off x="6382512" y="4133088"/>
            <a:ext cx="914400" cy="329184"/>
          </a:xfrm>
          <a:prstGeom prst="rect">
            <a:avLst/>
          </a:prstGeom>
          <a:noFill/>
        </p:spPr>
        <p:txBody>
          <a:bodyPr wrap="square" lIns="0" tIns="0" rIns="0" bIns="0">
            <a:normAutofit/>
          </a:bodyPr>
          <a:lstStyle/>
          <a:p>
            <a:r>
              <a:rPr lang="en-US" sz="900" b="1" dirty="0">
                <a:solidFill>
                  <a:srgbClr val="3B3B3B"/>
                </a:solidFill>
              </a:rPr>
              <a:t>claims-triage</a:t>
            </a:r>
          </a:p>
          <a:p>
            <a:r>
              <a:rPr lang="en-US" sz="900" dirty="0">
                <a:solidFill>
                  <a:srgbClr val="595959"/>
                </a:solidFill>
              </a:rPr>
              <a:t>entrypoint</a:t>
            </a:r>
          </a:p>
        </p:txBody>
      </p:sp>
      <p:sp>
        <p:nvSpPr>
          <p:cNvPr id="1122" name="Analyst Label"/>
          <p:cNvSpPr txBox="1"/>
          <p:nvPr/>
        </p:nvSpPr>
        <p:spPr>
          <a:xfrm>
            <a:off x="7699248" y="4590288"/>
            <a:ext cx="2377440" cy="274320"/>
          </a:xfrm>
          <a:prstGeom prst="rect">
            <a:avLst/>
          </a:prstGeom>
          <a:noFill/>
        </p:spPr>
        <p:txBody>
          <a:bodyPr wrap="square" lIns="0" tIns="0" rIns="0" bIns="0">
            <a:normAutofit/>
          </a:bodyPr>
          <a:lstStyle/>
          <a:p>
            <a:r>
              <a:rPr lang="en-US" sz="1000" b="1" dirty="0">
                <a:solidFill>
                  <a:srgbClr val="C62828"/>
                </a:solidFill>
              </a:rPr>
              <a:t>Claims Intake Analyst</a:t>
            </a:r>
          </a:p>
        </p:txBody>
      </p:sp>
      <p:sp>
        <p:nvSpPr>
          <p:cNvPr id="1120" name="Channel Chip AGENCY"/>
          <p:cNvSpPr txBox="1"/>
          <p:nvPr/>
        </p:nvSpPr>
        <p:spPr>
          <a:xfrm>
            <a:off x="7550875" y="6217920"/>
            <a:ext cx="1097280" cy="475488"/>
          </a:xfrm>
          <a:prstGeom prst="rect">
            <a:avLst/>
          </a:prstGeom>
          <a:noFill/>
        </p:spPr>
        <p:txBody>
          <a:bodyPr wrap="square" lIns="0" tIns="0" rIns="0" bIns="0">
            <a:normAutofit/>
          </a:bodyPr>
          <a:lstStyle/>
          <a:p>
            <a:pPr algn="ctr"/>
            <a:r>
              <a:rPr lang="en-US" sz="900" b="1" dirty="0">
                <a:solidFill>
                  <a:srgbClr val="3B3B3B"/>
                </a:solidFill>
              </a:rPr>
              <a:t>AGENCY</a:t>
            </a:r>
            <a:br>
              <a:rPr lang="en-US" sz="1100" b="1" dirty="0">
                <a:solidFill>
                  <a:srgbClr val="00A76D"/>
                </a:solidFill>
              </a:rPr>
            </a:br>
            <a:r>
              <a:rPr lang="en-US" sz="900" b="1" dirty="0">
                <a:solidFill>
                  <a:srgbClr val="3B3B3B"/>
                </a:solidFill>
              </a:rPr>
              <a:t>E-MAIL</a:t>
            </a:r>
          </a:p>
          <a:p>
            <a:pPr algn="ctr"/>
            <a:r>
              <a:rPr lang="en-US" sz="900" dirty="0">
                <a:solidFill>
                  <a:srgbClr val="595959"/>
                </a:solidFill>
              </a:rPr>
              <a:t>10 %</a:t>
            </a:r>
          </a:p>
        </p:txBody>
      </p:sp>
      <p:sp>
        <p:nvSpPr>
          <p:cNvPr id="1119" name="Channel Chip DRIVE-IN"/>
          <p:cNvSpPr txBox="1"/>
          <p:nvPr/>
        </p:nvSpPr>
        <p:spPr>
          <a:xfrm>
            <a:off x="6636474" y="6217920"/>
            <a:ext cx="1097280" cy="475488"/>
          </a:xfrm>
          <a:prstGeom prst="rect">
            <a:avLst/>
          </a:prstGeom>
          <a:noFill/>
        </p:spPr>
        <p:txBody>
          <a:bodyPr wrap="square" lIns="0" tIns="0" rIns="0" bIns="0">
            <a:normAutofit/>
          </a:bodyPr>
          <a:lstStyle/>
          <a:p>
            <a:pPr algn="ctr"/>
            <a:r>
              <a:rPr lang="en-US" sz="900" b="1" dirty="0">
                <a:solidFill>
                  <a:srgbClr val="3B3B3B"/>
                </a:solidFill>
              </a:rPr>
              <a:t>DRIVE-IN</a:t>
            </a:r>
            <a:br>
              <a:rPr lang="en-US" sz="1100" b="1" dirty="0">
                <a:solidFill>
                  <a:srgbClr val="00A76D"/>
                </a:solidFill>
              </a:rPr>
            </a:br>
            <a:r>
              <a:rPr lang="en-US" sz="900" b="1" dirty="0">
                <a:solidFill>
                  <a:srgbClr val="3B3B3B"/>
                </a:solidFill>
              </a:rPr>
              <a:t>SCANNER</a:t>
            </a:r>
          </a:p>
          <a:p>
            <a:pPr algn="ctr"/>
            <a:r>
              <a:rPr lang="en-US" sz="900" dirty="0">
                <a:solidFill>
                  <a:srgbClr val="595959"/>
                </a:solidFill>
              </a:rPr>
              <a:t>10 %</a:t>
            </a:r>
          </a:p>
        </p:txBody>
      </p:sp>
      <p:sp>
        <p:nvSpPr>
          <p:cNvPr id="1118" name="Channel Chip WORKSHOP"/>
          <p:cNvSpPr txBox="1"/>
          <p:nvPr/>
        </p:nvSpPr>
        <p:spPr>
          <a:xfrm>
            <a:off x="4458246" y="6217920"/>
            <a:ext cx="1097280" cy="475488"/>
          </a:xfrm>
          <a:prstGeom prst="rect">
            <a:avLst/>
          </a:prstGeom>
          <a:noFill/>
        </p:spPr>
        <p:txBody>
          <a:bodyPr wrap="square" lIns="0" tIns="0" rIns="0" bIns="0">
            <a:normAutofit/>
          </a:bodyPr>
          <a:lstStyle/>
          <a:p>
            <a:pPr algn="ctr"/>
            <a:r>
              <a:rPr lang="en-US" sz="900" b="1" dirty="0">
                <a:solidFill>
                  <a:srgbClr val="3B3B3B"/>
                </a:solidFill>
              </a:rPr>
              <a:t>WORKSHOP</a:t>
            </a:r>
            <a:br>
              <a:rPr lang="en-US" sz="1100" b="1" dirty="0">
                <a:solidFill>
                  <a:srgbClr val="00A76D"/>
                </a:solidFill>
              </a:rPr>
            </a:br>
            <a:r>
              <a:rPr lang="en-US" sz="900" b="1" dirty="0">
                <a:solidFill>
                  <a:srgbClr val="3B3B3B"/>
                </a:solidFill>
              </a:rPr>
              <a:t>PORTAL</a:t>
            </a:r>
          </a:p>
          <a:p>
            <a:pPr algn="ctr"/>
            <a:r>
              <a:rPr lang="en-US" sz="900" dirty="0">
                <a:solidFill>
                  <a:srgbClr val="595959"/>
                </a:solidFill>
              </a:rPr>
              <a:t>15 %</a:t>
            </a:r>
          </a:p>
        </p:txBody>
      </p:sp>
      <p:sp>
        <p:nvSpPr>
          <p:cNvPr id="1117" name="Channel Chip VOICE"/>
          <p:cNvSpPr txBox="1"/>
          <p:nvPr/>
        </p:nvSpPr>
        <p:spPr>
          <a:xfrm>
            <a:off x="3543845" y="6217920"/>
            <a:ext cx="1097280" cy="475488"/>
          </a:xfrm>
          <a:prstGeom prst="rect">
            <a:avLst/>
          </a:prstGeom>
          <a:noFill/>
        </p:spPr>
        <p:txBody>
          <a:bodyPr wrap="square" lIns="0" tIns="0" rIns="0" bIns="0">
            <a:normAutofit/>
          </a:bodyPr>
          <a:lstStyle/>
          <a:p>
            <a:pPr algn="ctr"/>
            <a:r>
              <a:rPr lang="en-US" sz="900" b="1" dirty="0">
                <a:solidFill>
                  <a:srgbClr val="3B3B3B"/>
                </a:solidFill>
              </a:rPr>
              <a:t>VOICE</a:t>
            </a:r>
            <a:br>
              <a:rPr lang="en-US" sz="1100" b="1" dirty="0">
                <a:solidFill>
                  <a:srgbClr val="00A76D"/>
                </a:solidFill>
              </a:rPr>
            </a:br>
            <a:r>
              <a:rPr lang="en-US" sz="900" b="1" dirty="0">
                <a:solidFill>
                  <a:srgbClr val="3B3B3B"/>
                </a:solidFill>
              </a:rPr>
              <a:t>AGENT</a:t>
            </a:r>
          </a:p>
          <a:p>
            <a:pPr algn="ctr"/>
            <a:r>
              <a:rPr lang="en-US" sz="900" dirty="0">
                <a:solidFill>
                  <a:srgbClr val="595959"/>
                </a:solidFill>
              </a:rPr>
              <a:t>25 %</a:t>
            </a:r>
          </a:p>
        </p:txBody>
      </p:sp>
      <p:sp>
        <p:nvSpPr>
          <p:cNvPr id="1116" name="Channel Chip APP"/>
          <p:cNvSpPr txBox="1"/>
          <p:nvPr/>
        </p:nvSpPr>
        <p:spPr>
          <a:xfrm>
            <a:off x="2629446" y="6217920"/>
            <a:ext cx="1097280" cy="475488"/>
          </a:xfrm>
          <a:prstGeom prst="rect">
            <a:avLst/>
          </a:prstGeom>
          <a:noFill/>
        </p:spPr>
        <p:txBody>
          <a:bodyPr wrap="square" lIns="0" tIns="0" rIns="0" bIns="0">
            <a:normAutofit/>
          </a:bodyPr>
          <a:lstStyle/>
          <a:p>
            <a:pPr algn="ctr"/>
            <a:r>
              <a:rPr lang="en-US" sz="900" b="1" dirty="0">
                <a:solidFill>
                  <a:srgbClr val="3B3B3B"/>
                </a:solidFill>
              </a:rPr>
              <a:t>APP</a:t>
            </a:r>
          </a:p>
          <a:p>
            <a:pPr algn="ctr"/>
            <a:r>
              <a:rPr lang="en-US" sz="900" dirty="0">
                <a:solidFill>
                  <a:srgbClr val="595959"/>
                </a:solidFill>
              </a:rPr>
              <a:t>40 %</a:t>
            </a:r>
          </a:p>
        </p:txBody>
      </p:sp>
      <p:sp>
        <p:nvSpPr>
          <p:cNvPr id="1111" name="Story Badge 3"/>
          <p:cNvSpPr/>
          <p:nvPr/>
        </p:nvSpPr>
        <p:spPr>
          <a:xfrm>
            <a:off x="10277856" y="4700016"/>
            <a:ext cx="384048" cy="384048"/>
          </a:xfrm>
          <a:prstGeom prst="ellipse">
            <a:avLst/>
          </a:prstGeom>
          <a:solidFill>
            <a:srgbClr val="E8890C"/>
          </a:solidFill>
          <a:ln>
            <a:noFill/>
          </a:ln>
        </p:spPr>
        <p:txBody>
          <a:bodyPr lIns="0" tIns="0" rIns="0" bIns="0" anchor="ctr"/>
          <a:lstStyle/>
          <a:p>
            <a:pPr algn="ctr"/>
            <a:r>
              <a:rPr lang="en-US" sz="1600" b="1" dirty="0">
                <a:solidFill>
                  <a:srgbClr val="FFFFFF"/>
                </a:solidFill>
              </a:rPr>
              <a:t>2</a:t>
            </a:r>
          </a:p>
        </p:txBody>
      </p:sp>
      <p:sp>
        <p:nvSpPr>
          <p:cNvPr id="1112" name="Story Text 3"/>
          <p:cNvSpPr txBox="1"/>
          <p:nvPr/>
        </p:nvSpPr>
        <p:spPr>
          <a:xfrm>
            <a:off x="10771632" y="4681728"/>
            <a:ext cx="1353312" cy="868680"/>
          </a:xfrm>
          <a:prstGeom prst="rect">
            <a:avLst/>
          </a:prstGeom>
          <a:noFill/>
        </p:spPr>
        <p:txBody>
          <a:bodyPr wrap="square" lIns="0" tIns="0" rIns="0" bIns="0">
            <a:normAutofit/>
          </a:bodyPr>
          <a:lstStyle/>
          <a:p>
            <a:r>
              <a:rPr lang="en-US" sz="1200" b="1" dirty="0">
                <a:solidFill>
                  <a:srgbClr val="17375E"/>
                </a:solidFill>
              </a:rPr>
              <a:t>Three in parallel</a:t>
            </a:r>
          </a:p>
          <a:p>
            <a:r>
              <a:rPr lang="en-US" sz="1000" dirty="0">
                <a:solidFill>
                  <a:srgbClr val="595959"/>
                </a:solidFill>
              </a:rPr>
              <a:t>policy DB, intake (outside), rules - then one merge agent decides</a:t>
            </a:r>
          </a:p>
        </p:txBody>
      </p:sp>
      <p:sp>
        <p:nvSpPr>
          <p:cNvPr id="1113" name="Story Badge 2"/>
          <p:cNvSpPr/>
          <p:nvPr/>
        </p:nvSpPr>
        <p:spPr>
          <a:xfrm>
            <a:off x="10277856" y="5532120"/>
            <a:ext cx="384048" cy="384048"/>
          </a:xfrm>
          <a:prstGeom prst="ellipse">
            <a:avLst/>
          </a:prstGeom>
          <a:solidFill>
            <a:srgbClr val="C62828"/>
          </a:solidFill>
          <a:ln>
            <a:noFill/>
          </a:ln>
        </p:spPr>
        <p:txBody>
          <a:bodyPr lIns="0" tIns="0" rIns="0" bIns="0" anchor="ctr"/>
          <a:lstStyle/>
          <a:p>
            <a:pPr algn="ctr"/>
            <a:r>
              <a:rPr lang="en-US" sz="1600" b="1" dirty="0">
                <a:solidFill>
                  <a:srgbClr val="FFFFFF"/>
                </a:solidFill>
              </a:rPr>
              <a:t>3</a:t>
            </a:r>
          </a:p>
        </p:txBody>
      </p:sp>
      <p:sp>
        <p:nvSpPr>
          <p:cNvPr id="1114" name="Story Text 2"/>
          <p:cNvSpPr txBox="1"/>
          <p:nvPr/>
        </p:nvSpPr>
        <p:spPr>
          <a:xfrm>
            <a:off x="10771632" y="5513832"/>
            <a:ext cx="1353312" cy="822960"/>
          </a:xfrm>
          <a:prstGeom prst="rect">
            <a:avLst/>
          </a:prstGeom>
          <a:noFill/>
        </p:spPr>
        <p:txBody>
          <a:bodyPr wrap="square" lIns="0" tIns="0" rIns="0" bIns="0">
            <a:normAutofit/>
          </a:bodyPr>
          <a:lstStyle/>
          <a:p>
            <a:r>
              <a:rPr lang="en-US" sz="1200" b="1" dirty="0">
                <a:solidFill>
                  <a:srgbClr val="00A76D"/>
                </a:solidFill>
              </a:rPr>
              <a:t>Decision lands</a:t>
            </a:r>
          </a:p>
          <a:p>
            <a:r>
              <a:rPr lang="en-US" sz="1000" dirty="0">
                <a:solidFill>
                  <a:srgbClr val="595959"/>
                </a:solidFill>
              </a:rPr>
              <a:t>one card in the cockpit about half a minute later - a human approves, as an event</a:t>
            </a:r>
          </a:p>
        </p:txBody>
      </p:sp>
      <p:sp>
        <p:nvSpPr>
          <p:cNvPr id="1124" name="Rounded Rectangle 1123"/>
          <p:cNvSpPr/>
          <p:nvPr/>
        </p:nvSpPr>
        <p:spPr>
          <a:xfrm>
            <a:off x="9546336" y="2542032"/>
            <a:ext cx="2578608" cy="603504"/>
          </a:xfrm>
          <a:prstGeom prst="roundRect">
            <a:avLst>
              <a:gd name="adj" fmla="val 8000"/>
            </a:avLst>
          </a:prstGeom>
          <a:no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00" b="1">
                <a:solidFill>
                  <a:srgbClr val="C62828"/>
                </a:solidFill>
                <a:latin typeface="Segoe UI"/>
              </a:rPr>
              <a:t>ALLOW LIST  </a:t>
            </a:r>
            <a:r>
              <a:rPr sz="800" b="0">
                <a:solidFill>
                  <a:srgbClr val="3B3B3B"/>
                </a:solidFill>
                <a:latin typeface="Segoe UI"/>
              </a:rPr>
              <a:t>the Intake Liaison may call exactly ONE agent outside the platform: ClaimsIntakeAnalyst</a:t>
            </a:r>
          </a:p>
        </p:txBody>
      </p:sp>
      <p:sp>
        <p:nvSpPr>
          <p:cNvPr id="1125" name="Rounded Rectangle 1124"/>
          <p:cNvSpPr/>
          <p:nvPr/>
        </p:nvSpPr>
        <p:spPr>
          <a:xfrm>
            <a:off x="7498079" y="3931920"/>
            <a:ext cx="2724912" cy="1133856"/>
          </a:xfrm>
          <a:prstGeom prst="roundRect">
            <a:avLst>
              <a:gd name="adj" fmla="val 6000"/>
            </a:avLst>
          </a:prstGeom>
          <a:noFill/>
          <a:ln w="19050">
            <a:solidFill>
              <a:srgbClr val="C6282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6" name="TextBox 1125"/>
          <p:cNvSpPr txBox="1"/>
          <p:nvPr/>
        </p:nvSpPr>
        <p:spPr>
          <a:xfrm>
            <a:off x="7589520" y="3986784"/>
            <a:ext cx="2468880" cy="164592"/>
          </a:xfrm>
          <a:prstGeom prst="rect">
            <a:avLst/>
          </a:prstGeom>
          <a:noFill/>
        </p:spPr>
        <p:txBody>
          <a:bodyPr wrap="square" lIns="0" rIns="0" tIns="0" bIns="0">
            <a:spAutoFit/>
          </a:bodyPr>
          <a:lstStyle/>
          <a:p>
            <a:r>
              <a:rPr sz="800" b="1">
                <a:solidFill>
                  <a:srgbClr val="C62828"/>
                </a:solidFill>
                <a:latin typeface="Segoe UI"/>
              </a:rPr>
              <a:t>OUTSIDE THE PLATFORM</a:t>
            </a:r>
          </a:p>
        </p:txBody>
      </p:sp>
      <p:sp>
        <p:nvSpPr>
          <p:cNvPr id="1127" name="TextBox 1126"/>
          <p:cNvSpPr txBox="1"/>
          <p:nvPr/>
        </p:nvSpPr>
        <p:spPr>
          <a:xfrm>
            <a:off x="7607808" y="5120640"/>
            <a:ext cx="2697480" cy="420624"/>
          </a:xfrm>
          <a:prstGeom prst="rect">
            <a:avLst/>
          </a:prstGeom>
          <a:noFill/>
        </p:spPr>
        <p:txBody>
          <a:bodyPr wrap="square" lIns="0" rIns="0" tIns="0" bIns="0">
            <a:spAutoFit/>
          </a:bodyPr>
          <a:lstStyle/>
          <a:p>
            <a:r>
              <a:rPr sz="750" b="0">
                <a:solidFill>
                  <a:srgbClr val="595959"/>
                </a:solidFill>
                <a:latin typeface="Segoe UI"/>
              </a:rPr>
              <a:t>discovered over the broker: SAM sees the card, the hop,</a:t>
            </a:r>
          </a:p>
          <a:p>
            <a:r>
              <a:rPr sz="750" b="0">
                <a:solidFill>
                  <a:srgbClr val="595959"/>
                </a:solidFill>
                <a:latin typeface="Segoe UI"/>
              </a:rPr>
              <a:t>the caller and the duration - not its tools or its tokens</a:t>
            </a:r>
          </a:p>
        </p:txBody>
      </p:sp>
      <p:cxnSp>
        <p:nvCxnSpPr>
          <p:cNvPr id="1129" name="Connector 1128"/>
          <p:cNvCxnSpPr/>
          <p:nvPr/>
        </p:nvCxnSpPr>
        <p:spPr>
          <a:xfrm>
            <a:off x="9272016" y="1344168"/>
            <a:ext cx="301752" cy="0"/>
          </a:xfrm>
          <a:prstGeom prst="line">
            <a:avLst/>
          </a:prstGeom>
          <a:ln w="15875">
            <a:solidFill>
              <a:srgbClr val="979797"/>
            </a:solidFill>
          </a:ln>
        </p:spPr>
        <p:style>
          <a:lnRef idx="2">
            <a:schemeClr val="accent1"/>
          </a:lnRef>
          <a:fillRef idx="0">
            <a:schemeClr val="accent1"/>
          </a:fillRef>
          <a:effectRef idx="1">
            <a:schemeClr val="accent1"/>
          </a:effectRef>
          <a:fontRef idx="minor">
            <a:schemeClr val="tx1"/>
          </a:fontRef>
        </p:style>
      </p:cxnSp>
      <p:cxnSp>
        <p:nvCxnSpPr>
          <p:cNvPr id="1130" name="Connector 1129"/>
          <p:cNvCxnSpPr/>
          <p:nvPr/>
        </p:nvCxnSpPr>
        <p:spPr>
          <a:xfrm>
            <a:off x="9272016" y="2103120"/>
            <a:ext cx="301752" cy="0"/>
          </a:xfrm>
          <a:prstGeom prst="line">
            <a:avLst/>
          </a:prstGeom>
          <a:ln w="15875">
            <a:solidFill>
              <a:srgbClr val="97979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376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7"/>
                                        </p:tgtEl>
                                        <p:attrNameLst>
                                          <p:attrName>style.visibility</p:attrName>
                                        </p:attrNameLst>
                                      </p:cBhvr>
                                      <p:to>
                                        <p:strVal val="visible"/>
                                      </p:to>
                                    </p:set>
                                    <p:animEffect transition="in" filter="fade">
                                      <p:cBhvr>
                                        <p:cTn id="7"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The Demo in the Lifecycle</a:t>
            </a:r>
            <a:br>
              <a:rPr lang="en-US"/>
            </a:br>
            <a:r>
              <a:rPr lang="en-US" sz="2400"/>
              <a:t>What you just saw, stage by stage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Three test sets, all passing;</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Grafana cost and latency per claim</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3"/>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5">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(coming soon!)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 One event, three specialists in</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parallel, schema-bound merge</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Human approval as an event</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(GDV: the human decides)</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Skills: acme-insurance-schema,</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acme-knowledge-guide</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Postgres + MCP connectors,</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credentials held by the platform</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Four agents declared as config,</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one discovered over the broker</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6">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theme/theme1.xml><?xml version="1.0" encoding="utf-8"?>
<a:theme xmlns:a="http://schemas.openxmlformats.org/drawingml/2006/main" name="Solace Cover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Solace PPT Template - v2.3" id="{6ED5406F-02DB-0040-8A15-E91D241744F1}" vid="{C7064155-23FD-BF44-B3E0-18CB5DA18D1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ompetitors xmlns="3a815f5c-a5cd-4b90-880c-94b0fde8c1f2" xsi:nil="true"/>
    <Industry xmlns="3a815f5c-a5cd-4b90-880c-94b0fde8c1f2" xsi:nil="true"/>
    <Product_x002f_Feature_x002f_Function_x0020__x0028_Multi-select_x0029_ xmlns="3a815f5c-a5cd-4b90-880c-94b0fde8c1f2" xsi:nil="true"/>
    <Partner xmlns="3a815f5c-a5cd-4b90-880c-94b0fde8c1f2" xsi:nil="true"/>
    <lcf76f155ced4ddcb4097134ff3c332f xmlns="22c9c32c-1409-489b-8a0e-8e72e0a66b7a">
      <Terms xmlns="http://schemas.microsoft.com/office/infopath/2007/PartnerControls"/>
    </lcf76f155ced4ddcb4097134ff3c332f>
    <TaxCatchAll xmlns="3a815f5c-a5cd-4b90-880c-94b0fde8c1f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436CFE72F23C489C3D6E05FEE7A7E7" ma:contentTypeVersion="26" ma:contentTypeDescription="Create a new document." ma:contentTypeScope="" ma:versionID="a2048592e12e647f808186a62f2da4c8">
  <xsd:schema xmlns:xsd="http://www.w3.org/2001/XMLSchema" xmlns:xs="http://www.w3.org/2001/XMLSchema" xmlns:p="http://schemas.microsoft.com/office/2006/metadata/properties" xmlns:ns2="22c9c32c-1409-489b-8a0e-8e72e0a66b7a" xmlns:ns3="3a815f5c-a5cd-4b90-880c-94b0fde8c1f2" targetNamespace="http://schemas.microsoft.com/office/2006/metadata/properties" ma:root="true" ma:fieldsID="c6545fdc1f898683995ceceab67032c1" ns2:_="" ns3:_="">
    <xsd:import namespace="22c9c32c-1409-489b-8a0e-8e72e0a66b7a"/>
    <xsd:import namespace="3a815f5c-a5cd-4b90-880c-94b0fde8c1f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OCR" minOccurs="0"/>
                <xsd:element ref="ns2:MediaServiceGenerationTime" minOccurs="0"/>
                <xsd:element ref="ns2:MediaServiceEventHashCode" minOccurs="0"/>
                <xsd:element ref="ns3:Industry" minOccurs="0"/>
                <xsd:element ref="ns3:Competitors" minOccurs="0"/>
                <xsd:element ref="ns3:Partner" minOccurs="0"/>
                <xsd:element ref="ns3:Product_x002f_Feature_x002f_Function_x0020__x0028_Multi-select_x0029_"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9c32c-1409-489b-8a0e-8e72e0a66b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dexed="true"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c2f205f-3591-4b07-93bc-42e411de0517"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Location" ma:index="29" nillable="true" ma:displayName="Location" ma:indexed="true" ma:internalName="MediaServiceLocation"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815f5c-a5cd-4b90-880c-94b0fde8c1f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Industry" ma:index="20" nillable="true" ma:displayName="Solutions" ma:internalName="Industry">
      <xsd:complexType>
        <xsd:complexContent>
          <xsd:extension base="dms:MultiChoice">
            <xsd:sequence>
              <xsd:element name="Value" maxOccurs="unbounded" minOccurs="0" nillable="true">
                <xsd:simpleType>
                  <xsd:restriction base="dms:Choice">
                    <xsd:enumeration value="--IndustryOrVertical--"/>
                    <xsd:enumeration value="Aviation"/>
                    <xsd:enumeration value="Capital Markets"/>
                    <xsd:enumeration value="Post-Trade Processing Modernization"/>
                    <xsd:enumeration value="eFX Modernization"/>
                    <xsd:enumeration value="FX Trading"/>
                    <xsd:enumeration value="Exchanges"/>
                    <xsd:enumeration value="Banking"/>
                    <xsd:enumeration value="Insurance"/>
                    <xsd:enumeration value="Payments"/>
                    <xsd:enumeration value="Telecom"/>
                    <xsd:enumeration value="Transportation and Logistics"/>
                    <xsd:enumeration value="Pharmaceuticals"/>
                    <xsd:enumeration value="Manufacturing"/>
                    <xsd:enumeration value="Retail​​​​​​​"/>
                    <xsd:enumeration value="Consumer Packaged Goods (CPG)"/>
                    <xsd:enumeration value="Energy and Resources"/>
                    <xsd:enumeration value="Gaming"/>
                    <xsd:enumeration value="Government"/>
                    <xsd:enumeration value="--Horizontal Business--"/>
                    <xsd:enumeration value="Real-time Supply Chain"/>
                    <xsd:enumeration value="Real-time Order and Inventory Management - Lead to Cash"/>
                    <xsd:enumeration value="Post Trade Event Mesh"/>
                    <xsd:enumeration value="Real Time Payments Transformation"/>
                    <xsd:enumeration value="Digital Factory"/>
                    <xsd:enumeration value="Hire to retire"/>
                    <xsd:enumeration value="Connected Vehicle - Car, Rail, Marine, Air"/>
                    <xsd:enumeration value="E-comm and Retail Store Transformation"/>
                    <xsd:enumeration value="--Horizontal Technical--"/>
                    <xsd:enumeration value="Middleware Modernization (rip and replace)"/>
                    <xsd:enumeration value="Event Driven IoT​​​​​​​"/>
                    <xsd:enumeration value="Event Driven Integration"/>
                    <xsd:enumeration value="Event Driven Architecture"/>
                    <xsd:enumeration value="Event Driven APIs"/>
                    <xsd:enumeration value="Event Driven Microservices"/>
                    <xsd:enumeration value="Hybrid Cloud"/>
                    <xsd:enumeration value="Event Streaming"/>
                    <xsd:enumeration value="High Performance Messaging"/>
                  </xsd:restriction>
                </xsd:simpleType>
              </xsd:element>
            </xsd:sequence>
          </xsd:extension>
        </xsd:complexContent>
      </xsd:complexType>
    </xsd:element>
    <xsd:element name="Competitors" ma:index="21" nillable="true" ma:displayName="Competitors" ma:description="Competitors or competitor brokers" ma:indexed="true" ma:internalName="Competitors">
      <xsd:simpleType>
        <xsd:restriction base="dms:Text">
          <xsd:maxLength value="255"/>
        </xsd:restriction>
      </xsd:simpleType>
    </xsd:element>
    <xsd:element name="Partner" ma:index="22" nillable="true" ma:displayName="Partner" ma:indexed="true" ma:internalName="Partner">
      <xsd:simpleType>
        <xsd:restriction base="dms:Text">
          <xsd:maxLength value="255"/>
        </xsd:restriction>
      </xsd:simpleType>
    </xsd:element>
    <xsd:element name="Product_x002f_Feature_x002f_Function_x0020__x0028_Multi-select_x0029_" ma:index="23" nillable="true" ma:displayName="Product/Feature/Function (Multi-select)" ma:internalName="Product_x002F_Feature_x002F_Function_x0020__x0028_Multi_x002d_select_x0029_">
      <xsd:complexType>
        <xsd:complexContent>
          <xsd:extension base="dms:MultiChoice">
            <xsd:sequence>
              <xsd:element name="Value" maxOccurs="unbounded" minOccurs="0" nillable="true">
                <xsd:simpleType>
                  <xsd:restriction base="dms:Choice">
                    <xsd:enumeration value="Distributed Tracing"/>
                    <xsd:enumeration value="Event Portal for Solace"/>
                    <xsd:enumeration value="Event Portal for Kafka"/>
                    <xsd:enumeration value="Partitioned Queues"/>
                    <xsd:enumeration value="Support Services"/>
                  </xsd:restriction>
                </xsd:simpleType>
              </xsd:element>
            </xsd:sequence>
          </xsd:extension>
        </xsd:complexContent>
      </xsd:complexType>
    </xsd:element>
    <xsd:element name="TaxCatchAll" ma:index="27" nillable="true" ma:displayName="Taxonomy Catch All Column" ma:hidden="true" ma:list="{021e00c7-3115-49f0-b64a-cb3b8180b352}" ma:internalName="TaxCatchAll" ma:showField="CatchAllData" ma:web="3a815f5c-a5cd-4b90-880c-94b0fde8c1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4DDC01-D87E-4995-8BE8-CDC838272225}">
  <ds:schemaRefs>
    <ds:schemaRef ds:uri="http://schemas.microsoft.com/sharepoint/v3/contenttype/forms"/>
  </ds:schemaRefs>
</ds:datastoreItem>
</file>

<file path=customXml/itemProps2.xml><?xml version="1.0" encoding="utf-8"?>
<ds:datastoreItem xmlns:ds="http://schemas.openxmlformats.org/officeDocument/2006/customXml" ds:itemID="{F87374D4-38C3-4AB6-BA51-B10FCF82067A}">
  <ds:schemaRefs>
    <ds:schemaRef ds:uri="http://schemas.microsoft.com/office/2006/metadata/properties"/>
    <ds:schemaRef ds:uri="http://schemas.microsoft.com/office/infopath/2007/PartnerControls"/>
    <ds:schemaRef ds:uri="3a815f5c-a5cd-4b90-880c-94b0fde8c1f2"/>
    <ds:schemaRef ds:uri="22c9c32c-1409-489b-8a0e-8e72e0a66b7a"/>
  </ds:schemaRefs>
</ds:datastoreItem>
</file>

<file path=customXml/itemProps3.xml><?xml version="1.0" encoding="utf-8"?>
<ds:datastoreItem xmlns:ds="http://schemas.openxmlformats.org/officeDocument/2006/customXml" ds:itemID="{3C6A39DD-970A-44A1-A020-E57285054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c9c32c-1409-489b-8a0e-8e72e0a66b7a"/>
    <ds:schemaRef ds:uri="3a815f5c-a5cd-4b90-880c-94b0fde8c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896</Words>
  <Application>Microsoft Macintosh PowerPoint</Application>
  <PresentationFormat>Breitbild</PresentationFormat>
  <Paragraphs>126</Paragraphs>
  <Slides>4</Slides>
  <Notes>2</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4</vt:i4>
      </vt:variant>
    </vt:vector>
  </HeadingPairs>
  <TitlesOfParts>
    <vt:vector size="13" baseType="lpstr">
      <vt:lpstr>72 Brand Medium</vt:lpstr>
      <vt:lpstr>Aptos</vt:lpstr>
      <vt:lpstr>Arial</vt:lpstr>
      <vt:lpstr>Calibri</vt:lpstr>
      <vt:lpstr>Gill Sans</vt:lpstr>
      <vt:lpstr>Segoe UI</vt:lpstr>
      <vt:lpstr>Solace Covers</vt:lpstr>
      <vt:lpstr>Solace Slides</vt:lpstr>
      <vt:lpstr>1_Solace Slides</vt:lpstr>
      <vt:lpstr>Solace Agent Mesh Vision Managing Your AI Worker Lifecycle</vt:lpstr>
      <vt:lpstr>The Use Case: One Engineering Change, Two Movements</vt:lpstr>
      <vt:lpstr>Live Demo: Event-Driven Manufacturing Operations</vt:lpstr>
      <vt:lpstr>The Demo in the Lifecycle What you just saw, stage by stage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 v2 - AI Worker Lifecycle - Manufacturing</dc:title>
  <dc:creator>Luke Johnson</dc:creator>
  <cp:lastModifiedBy>EXTERNAL Martens Alexander (Solace, BD/DPA-GOI7)</cp:lastModifiedBy>
  <cp:revision>21</cp:revision>
  <dcterms:created xsi:type="dcterms:W3CDTF">2025-05-07T00:01:48Z</dcterms:created>
  <dcterms:modified xsi:type="dcterms:W3CDTF">2026-08-11T11:31:57Z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0x0101004A436CFE72F23C489C3D6E05FEE7A7E7</vt:lpwstr>
  </property>
</Properties>
</file>