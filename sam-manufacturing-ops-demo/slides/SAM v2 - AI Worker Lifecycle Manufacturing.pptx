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  <p:sldMasterId id="2147483761" r:id="rId6"/>
  </p:sldMasterIdLst>
  <p:notesMasterIdLst>
    <p:notesMasterId r:id="rId11"/>
  </p:notesMasterIdLst>
  <p:sldIdLst>
    <p:sldId id="258" r:id="rId7"/>
    <p:sldId id="313" r:id="rId8"/>
    <p:sldId id="311" r:id="rId9"/>
    <p:sldId id="31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858F5-D1AE-7179-FEBE-A4E040C90DB2}" v="49" dt="2025-07-08T13:51:20.1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24"/>
    <p:restoredTop sz="94589"/>
  </p:normalViewPr>
  <p:slideViewPr>
    <p:cSldViewPr snapToGrid="0">
      <p:cViewPr varScale="1">
        <p:scale>
          <a:sx n="120" d="100"/>
          <a:sy n="120" d="100"/>
        </p:scale>
        <p:origin x="912" y="184"/>
      </p:cViewPr>
      <p:guideLst>
        <p:guide orient="horz" pos="374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AAD14-9C34-4AA5-B94E-6692F6349C36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7F935-64E3-4FF9-8DEF-2D51FA78877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9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AFF6E-C83F-8F6D-FAA9-6348B152E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E8F5D-804C-7604-621C-F5AE2DB48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5E436-ADB7-2B04-1BDC-4FC761F28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AF706-5D86-E111-E475-8AC1DAB96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B7F935-64E3-4FF9-8DEF-2D51FA788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774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High-level scenario (github.com/martensa/solace-demo-artifacts, sam-manufacturing-ops-demo). Acme Manufacturing: power tools + automotive components, two plants (Hamburg automotive, Graz power tools). Plants stream end-of-line telemetry and material consumption through the Solace event mesh into MongoDB (mfg_plant); PDM, OMS, CRM and SCM stay in Postgres and are reached through dynamic DB agents.</a:t>
            </a:r>
          </a:p>
          <a:p>
            <a:endParaRPr/>
          </a:p>
          <a:p>
            <a:r>
              <a:t>Demo flow: (1) the cockpit releases the production orders as events onto the same mesh (sam VPN), (2) movement 1 - an EOL torque failure at Graz triggers the quality-incident analysis; root cause: ECO-2025-118 never acknowledged at Graz (new HD-22 clutch disc, old test spec), (3) movement 2 - the same ECO ramps HD-22 consumption at Hamburg past plan; the stock threshold event triggers the replenishment recommendation before the line stops, (4) OMS, PDM, SCM and the newly built Shop Floor Analyst analyze in parallel; the reports are published back as events - visible in the cockpit, in the SAM UI and through the MCP entrypoint in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8.svg"/><Relationship Id="rId4" Type="http://schemas.openxmlformats.org/officeDocument/2006/relationships/image" Target="../media/image5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6.svg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56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2" y="4581000"/>
            <a:ext cx="4681137" cy="14339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spcAft>
                <a:spcPts val="0"/>
              </a:spcAft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59E6556-57B1-B408-D804-9FA5BC1308C4}"/>
              </a:ext>
            </a:extLst>
          </p:cNvPr>
          <p:cNvGrpSpPr/>
          <p:nvPr userDrawn="1"/>
        </p:nvGrpSpPr>
        <p:grpSpPr>
          <a:xfrm>
            <a:off x="5797318" y="332656"/>
            <a:ext cx="6276674" cy="5843298"/>
            <a:chOff x="5797318" y="332656"/>
            <a:chExt cx="6276674" cy="5843298"/>
          </a:xfrm>
        </p:grpSpPr>
        <p:sp>
          <p:nvSpPr>
            <p:cNvPr id="43" name="Graphic 41">
              <a:extLst>
                <a:ext uri="{FF2B5EF4-FFF2-40B4-BE49-F238E27FC236}">
                  <a16:creationId xmlns:a16="http://schemas.microsoft.com/office/drawing/2014/main" id="{969F7A7C-F56B-5EA2-CEDB-C3018FB3E56D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026AA2B3-ADD5-9E91-EE90-8CA8079DF07E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46F980C-D371-51A4-BFAF-0D988442E896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224D33AA-17A5-AD3C-47CB-C235523F6E95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EC3E93C-3A6F-6643-610C-12296CC8C6D9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094DF1C-A969-A8D9-6C37-6553A2B71AFC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C03329D2-BC94-696A-4C35-CDDD8197EB39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A3591DD-F3A8-A03D-EB5B-A0EB18871B7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8196927-BBB7-FF95-A5F7-090E1F89D514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" name="Graphic 4">
              <a:extLst>
                <a:ext uri="{FF2B5EF4-FFF2-40B4-BE49-F238E27FC236}">
                  <a16:creationId xmlns:a16="http://schemas.microsoft.com/office/drawing/2014/main" id="{9BD377A2-FF86-B752-6A7B-0C7B42F2A65E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A819162-4F92-9CE1-266D-C3036C094DBE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228DA33-39B2-4FAA-AE60-99CB558A6DCB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766673F-117F-B1A0-5E0C-011B96A80452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ABB9DD75-E623-1063-4AF7-B388B7C36A44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D0A0E295-63B7-6BCC-483C-4BC95EFEE61C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A4E385-FF66-6719-4CB5-DC19293047E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B37082CB-E60C-66BA-112C-7E110A2EF0B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94426DAB-EC49-97B6-8BAA-250B2F3420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EFF8D-C896-9FCB-CCD9-055E2DE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2438CF-A668-47D4-D56F-CEE9B521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3311E4-A084-8644-4A2C-81E8B32124A6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7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14C4D-992C-08AD-7433-20C760BC8A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4F4FA-2BB1-E76D-62AA-FDCD0FCA08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4CC65-E1B1-5D09-E60C-9501318FFDE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898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0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A80E0-3E50-3DF4-4445-AE33835012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3DA5D-C211-08C0-E0A0-CB9651D538C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F7999-AF75-0EA8-FBAC-B1B74CC6CE42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25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40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E443BB-51E7-DCF5-FEEB-985CCD23F574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EDB31-4921-CA49-6DA3-58F3042736A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4C5DF-A694-0B09-FE66-2795919627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902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5" y="4940969"/>
            <a:ext cx="4681538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4CE7AE-58CE-96AA-2526-1BF47A40356F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6" name="Graphic 4">
              <a:extLst>
                <a:ext uri="{FF2B5EF4-FFF2-40B4-BE49-F238E27FC236}">
                  <a16:creationId xmlns:a16="http://schemas.microsoft.com/office/drawing/2014/main" id="{6EB65E8F-9CA9-71F0-D8F5-FC29B043F334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5ACC53D-4BEE-AF60-5546-66484D659290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89411C5-A6F5-99D2-3BDC-5C3CFF34ED65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EAA1BD2F-9C96-DE17-0088-89B7F888387A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2F1C5AF-4D3A-56CE-4C75-36C68FDF2DBE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2D1A5563-412F-07A3-64A6-BA1F4855709D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41675E5-1421-9250-2206-0488152261E1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B8EA3808-935F-D778-9C15-1CBBE02D9CEC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5A035051-F97B-FA8D-40FB-E532C67F6D8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1B42713-5ECC-8BEE-8009-11345F43396E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358644B3-4F92-30F4-EC10-670E2BE38857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A577E4B5-D893-1D5E-669C-6ED12171ED5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F15FC91-0296-2B22-C397-D09390596468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172C320-CA9E-AE83-770E-4FDEE7129954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5794F540-E0D1-FD97-1FC6-99443EE8606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9D301E-9BC1-7C89-5422-AF1C6AE4EBD2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F908A56D-7EC7-11ED-1838-7E47227B0ED5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F528C196-0211-E2A6-5E71-1D5663AE1962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0F084FA-C7F7-D6A2-E20A-05C2A383E5B8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A381927-5B6B-931B-B2AF-84E024B4958C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617A130-F3C7-5FA9-8ACD-12B33D9C98CC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8D4D623D-9E3A-F172-BBD7-4407133986C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2E8E86D-96BA-DFEE-6031-9E75779DEF7E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13650FE-10A1-0101-9CB9-E78D91E6D78D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B1BFACE-16C4-8D5F-D215-24FB7316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5985F65F-C79E-326A-2CDA-4BD9345D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9E720A2-8E73-02A2-9CD1-B84C8DEDA97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570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07A176-DCF7-5B9F-9B5B-5EB7CBACB7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CED80-8344-2C03-8D60-01696E11AB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80E6B12-F1B2-16E3-6D92-6C94E647C03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96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CD92BFD-36C4-49A1-D690-5237D9655006}"/>
              </a:ext>
            </a:extLst>
          </p:cNvPr>
          <p:cNvGrpSpPr/>
          <p:nvPr userDrawn="1"/>
        </p:nvGrpSpPr>
        <p:grpSpPr>
          <a:xfrm>
            <a:off x="6672064" y="764704"/>
            <a:ext cx="5193362" cy="4834784"/>
            <a:chOff x="5797318" y="332656"/>
            <a:chExt cx="6276674" cy="5843298"/>
          </a:xfrm>
        </p:grpSpPr>
        <p:sp>
          <p:nvSpPr>
            <p:cNvPr id="6" name="Graphic 41">
              <a:extLst>
                <a:ext uri="{FF2B5EF4-FFF2-40B4-BE49-F238E27FC236}">
                  <a16:creationId xmlns:a16="http://schemas.microsoft.com/office/drawing/2014/main" id="{4B582EBD-573E-70FB-47B4-2585AF28624A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7F003DB5-18AB-CB92-5006-3AE20CEADE21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DC8F65E-CB97-D68F-D728-2BFCC84E4561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94F25E8B-87E0-B541-86A9-0B997527D469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7FFA6ACC-473C-2C2D-2066-4CF9C4CD675C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C27447E5-7416-0D79-6550-1EDE8795BAB9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FB64D6A-98B8-7D49-5034-6E6130343CC6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4AB58F-35D6-76E7-6A96-8BB0B247A5CC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B56BB953-645C-2DB1-B367-3776F8F5221C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CE1C37B9-8134-A7DE-CB46-7AA6AD9F948B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0AB55F8-31A0-F272-D57E-4327EA8305D7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97509D5-73F7-05FB-BFDB-B77904D87C7C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580D843-07B7-EB97-7433-9E0FC6203617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56A99D9B-E6A5-D506-3CB7-3FE2CAB34A43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0822A634-A566-3095-A3A1-377BB11AAC43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7839078-6E36-1B38-C796-8CC92F1E2D6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F01975D-9061-B6D0-D41E-BB672376CE8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8C5C117-6772-0B3F-B242-116E0EEBEB6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13CB243-44C1-F6F9-A894-48972650F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25AA9A5A-A367-8D0A-D191-34683CE23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A594FD-8A50-7193-07B8-4E4810456FCA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4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2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een Divide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39995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E216BBF-AD11-64D7-E0AF-8D45D2476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8D4E34-A7C3-E1B7-7486-438F6750315A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Graphic 15">
            <a:extLst>
              <a:ext uri="{FF2B5EF4-FFF2-40B4-BE49-F238E27FC236}">
                <a16:creationId xmlns:a16="http://schemas.microsoft.com/office/drawing/2014/main" id="{FC61A1CB-D9F9-A727-40EB-A2C367E865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680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8408"/>
            <a:ext cx="5833169" cy="3233116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BB5BD1-BFD0-3AC6-C718-D5707C28AFD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753A11D-F30A-BF3A-76C0-84C62D52A1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1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482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585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4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42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53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190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84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0816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0906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960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6132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952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357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00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542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465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497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41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36082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387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524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pos="3674">
          <p15:clr>
            <a:srgbClr val="FBAE40"/>
          </p15:clr>
        </p15:guide>
        <p15:guide id="5" pos="4007">
          <p15:clr>
            <a:srgbClr val="FBAE40"/>
          </p15:clr>
        </p15:guide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  <p15:guide id="8" orient="horz" pos="102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36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3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551">
          <p15:clr>
            <a:srgbClr val="FBAE40"/>
          </p15:clr>
        </p15:guide>
        <p15:guide id="5" orient="horz" pos="3992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5059" y="252000"/>
            <a:ext cx="4066941" cy="6606000"/>
          </a:xfrm>
          <a:solidFill>
            <a:schemeClr val="tx2">
              <a:alpha val="70000"/>
            </a:schemeClr>
          </a:solidFill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7905" rtl="0" eaLnBrk="1" latinLnBrk="0" hangingPunct="1">
              <a:spcBef>
                <a:spcPts val="1927"/>
              </a:spcBef>
              <a:buClr>
                <a:schemeClr val="accent1"/>
              </a:buClr>
              <a:buSzPct val="80000"/>
              <a:buFontTx/>
              <a:buNone/>
              <a:defRPr lang="de-DE" sz="16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868" y="1620000"/>
            <a:ext cx="7090154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709015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3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4786">
          <p15:clr>
            <a:srgbClr val="FBAE40"/>
          </p15:clr>
        </p15:guide>
        <p15:guide id="4" pos="5119">
          <p15:clr>
            <a:srgbClr val="FBAE40"/>
          </p15:clr>
        </p15:guide>
        <p15:guide id="5" orient="horz" pos="317">
          <p15:clr>
            <a:srgbClr val="FBAE40"/>
          </p15:clr>
        </p15:guide>
        <p15:guide id="6" orient="horz" pos="551">
          <p15:clr>
            <a:srgbClr val="FBAE40"/>
          </p15:clr>
        </p15:guide>
        <p15:guide id="7" orient="horz" pos="102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ll Emphasis/Image Le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2A21E6-C700-F04A-AFBF-D249BF836C0A}"/>
              </a:ext>
            </a:extLst>
          </p:cNvPr>
          <p:cNvSpPr/>
          <p:nvPr userDrawn="1"/>
        </p:nvSpPr>
        <p:spPr>
          <a:xfrm>
            <a:off x="2" y="1091638"/>
            <a:ext cx="3389298" cy="5766362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386" tIns="25386" rIns="25386" bIns="25386" numCol="1" spcCol="38100" rtlCol="0" anchor="ctr">
            <a:noAutofit/>
          </a:bodyPr>
          <a:lstStyle/>
          <a:p>
            <a:pPr marL="0" marR="0" indent="0" algn="ctr" defTabSz="43788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998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6373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F6E24-A6C9-478B-8001-FECF88B8A3B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43840" y="1337310"/>
            <a:ext cx="2743200" cy="4810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6FBE0D6B-28F6-4E51-B374-0D80AB415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262" y="348398"/>
            <a:ext cx="11147766" cy="457048"/>
          </a:xfrm>
        </p:spPr>
        <p:txBody>
          <a:bodyPr anchor="ctr" anchorCtr="0"/>
          <a:lstStyle>
            <a:lvl1pPr>
              <a:lnSpc>
                <a:spcPct val="90000"/>
              </a:lnSpc>
              <a:defRPr sz="3298" b="0">
                <a:solidFill>
                  <a:srgbClr val="474747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591F5-7480-4829-801E-64461B4085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59826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pyright">
            <a:extLst>
              <a:ext uri="{FF2B5EF4-FFF2-40B4-BE49-F238E27FC236}">
                <a16:creationId xmlns:a16="http://schemas.microsoft.com/office/drawing/2014/main" id="{FE7BE675-DF07-A079-5A51-982091CCDC7A}"/>
              </a:ext>
            </a:extLst>
          </p:cNvPr>
          <p:cNvSpPr txBox="1"/>
          <p:nvPr userDrawn="1"/>
        </p:nvSpPr>
        <p:spPr bwMode="black">
          <a:xfrm>
            <a:off x="503870" y="6559837"/>
            <a:ext cx="226908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4071" marR="0" indent="-84071" algn="l" defTabSz="1087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©"/>
              <a:tabLst/>
              <a:defRPr/>
            </a:pPr>
            <a:r>
              <a:rPr lang="en-US" sz="600" noProof="0">
                <a:solidFill>
                  <a:schemeClr val="tx1"/>
                </a:solidFill>
              </a:rPr>
              <a:t>2022 SAP SE or an SAP affiliate company. All rights reserved.  </a:t>
            </a:r>
            <a:r>
              <a:rPr kumimoji="0" lang="en-US" sz="600" b="0" i="0" u="none" kern="0" baseline="0">
                <a:solidFill>
                  <a:schemeClr val="tx1"/>
                </a:solidFill>
                <a:latin typeface="Arial"/>
                <a:ea typeface="Arial Unicode MS"/>
                <a:cs typeface="Arial Unicode MS" pitchFamily="34" charset="-128"/>
                <a:sym typeface="Arial"/>
              </a:rPr>
              <a:t>ǀ</a:t>
            </a:r>
          </a:p>
        </p:txBody>
      </p:sp>
    </p:spTree>
    <p:extLst>
      <p:ext uri="{BB962C8B-B14F-4D97-AF65-F5344CB8AC3E}">
        <p14:creationId xmlns:p14="http://schemas.microsoft.com/office/powerpoint/2010/main" val="166060721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3869" y="1620000"/>
            <a:ext cx="11183565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67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6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101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3869" y="1557338"/>
            <a:ext cx="11182288" cy="4778662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62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orient="horz" pos="551">
          <p15:clr>
            <a:srgbClr val="FBAE40"/>
          </p15:clr>
        </p15:guide>
        <p15:guide id="4" orient="horz" pos="981">
          <p15:clr>
            <a:srgbClr val="FBAE40"/>
          </p15:clr>
        </p15:guide>
        <p15:guide id="5" orient="horz" pos="3991">
          <p15:clr>
            <a:srgbClr val="FBAE40"/>
          </p15:clr>
        </p15:guide>
        <p15:guide id="6" pos="7364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32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0911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62658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589281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60203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1155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5088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5285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139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9656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7156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72793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480056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7509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9587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700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111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42752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3915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8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24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94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7"/>
            <a:ext cx="11088000" cy="4895851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1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1" y="1053000"/>
            <a:ext cx="321438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3512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364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-column 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8261" y="1347854"/>
            <a:ext cx="5069486" cy="4800600"/>
          </a:xfrm>
        </p:spPr>
        <p:txBody>
          <a:bodyPr/>
          <a:lstStyle>
            <a:lvl1pPr>
              <a:defRPr b="0"/>
            </a:lvl1pPr>
            <a:lvl2pPr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9FDF5E-4912-46E1-BC83-7C00373624A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347470"/>
            <a:ext cx="5069682" cy="4800600"/>
          </a:xfrm>
        </p:spPr>
        <p:txBody>
          <a:bodyPr/>
          <a:lstStyle>
            <a:lvl2pPr marL="571500" indent="-187325"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5DC2B4BF-E585-5CF2-A59B-561A9024EC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6982" y="6476284"/>
            <a:ext cx="1586914" cy="244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 b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Copyright Solace</a:t>
            </a:r>
            <a:br>
              <a:rPr lang="en-US"/>
            </a:br>
            <a:r>
              <a:rPr lang="en-US"/>
              <a:t>Proprietary &amp; Confidential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D11A02F-8FD9-4E5F-7E9C-BEB26C60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988" y="6479144"/>
            <a:ext cx="504825" cy="224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093B5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46295180-FDB1-4196-84A4-AB3CBFFFE894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Text">
            <a:extLst>
              <a:ext uri="{FF2B5EF4-FFF2-40B4-BE49-F238E27FC236}">
                <a16:creationId xmlns:a16="http://schemas.microsoft.com/office/drawing/2014/main" id="{EA6BA173-541C-63CD-AB4F-E32C9A2BBA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8263" y="59465"/>
            <a:ext cx="11231789" cy="965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76200" tIns="76200" rIns="76200" bIns="76200" anchor="ctr" anchorCtr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302524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3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26" Type="http://schemas.openxmlformats.org/officeDocument/2006/relationships/image" Target="../media/image3.svg"/><Relationship Id="rId3" Type="http://schemas.openxmlformats.org/officeDocument/2006/relationships/slideLayout" Target="../slideLayouts/slideLayout41.xml"/><Relationship Id="rId21" Type="http://schemas.openxmlformats.org/officeDocument/2006/relationships/slideLayout" Target="../slideLayouts/slideLayout59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A3B166F3-B7E3-8F7D-DD55-374CDD77829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11089754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1438"/>
            <a:ext cx="11088000" cy="475185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211" name="Graphic 210">
            <a:extLst>
              <a:ext uri="{FF2B5EF4-FFF2-40B4-BE49-F238E27FC236}">
                <a16:creationId xmlns:a16="http://schemas.microsoft.com/office/drawing/2014/main" id="{6AF4FEA6-CCA3-5154-98D3-775009DAD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0D63A-3DCF-6F76-37D2-BB1047842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0000" y="6381000"/>
            <a:ext cx="1512000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E529-5FD5-3C60-3388-392DEFE0C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550862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9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7" r:id="rId2"/>
    <p:sldLayoutId id="2147483708" r:id="rId3"/>
    <p:sldLayoutId id="2147483710" r:id="rId4"/>
    <p:sldLayoutId id="2147483712" r:id="rId5"/>
    <p:sldLayoutId id="2147483714" r:id="rId6"/>
    <p:sldLayoutId id="2147483713" r:id="rId7"/>
    <p:sldLayoutId id="2147483715" r:id="rId8"/>
    <p:sldLayoutId id="2147483717" r:id="rId9"/>
    <p:sldLayoutId id="2147483716" r:id="rId10"/>
    <p:sldLayoutId id="2147483703" r:id="rId11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38" orient="horz" pos="4065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4320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18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82" r:id="rId3"/>
    <p:sldLayoutId id="2147483752" r:id="rId4"/>
    <p:sldLayoutId id="2147483750" r:id="rId5"/>
    <p:sldLayoutId id="2147483751" r:id="rId6"/>
    <p:sldLayoutId id="2147483683" r:id="rId7"/>
    <p:sldLayoutId id="2147483684" r:id="rId8"/>
    <p:sldLayoutId id="2147483690" r:id="rId9"/>
    <p:sldLayoutId id="2147483689" r:id="rId10"/>
    <p:sldLayoutId id="2147483692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753" r:id="rId17"/>
    <p:sldLayoutId id="2147483704" r:id="rId18"/>
    <p:sldLayoutId id="2147483705" r:id="rId19"/>
    <p:sldLayoutId id="2147483699" r:id="rId20"/>
    <p:sldLayoutId id="2147483754" r:id="rId21"/>
    <p:sldLayoutId id="2147483755" r:id="rId22"/>
    <p:sldLayoutId id="2147483756" r:id="rId23"/>
    <p:sldLayoutId id="2147483757" r:id="rId24"/>
    <p:sldLayoutId id="2147483758" r:id="rId25"/>
    <p:sldLayoutId id="2147483759" r:id="rId26"/>
    <p:sldLayoutId id="2147483760" r:id="rId2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3929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  <p15:guide id="43" orient="horz" pos="4065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3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  <p:sldLayoutId id="2147483779" r:id="rId18"/>
    <p:sldLayoutId id="2147483780" r:id="rId19"/>
    <p:sldLayoutId id="2147483781" r:id="rId20"/>
    <p:sldLayoutId id="2147483782" r:id="rId21"/>
    <p:sldLayoutId id="2147483783" r:id="rId22"/>
    <p:sldLayoutId id="2147483784" r:id="rId23"/>
    <p:sldLayoutId id="2147483785" r:id="rId24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>
          <p15:clr>
            <a:srgbClr val="F26B43"/>
          </p15:clr>
        </p15:guide>
        <p15:guide id="2" pos="347">
          <p15:clr>
            <a:srgbClr val="F26B43"/>
          </p15:clr>
        </p15:guide>
        <p15:guide id="3" pos="7333">
          <p15:clr>
            <a:srgbClr val="F26B43"/>
          </p15:clr>
        </p15:guide>
        <p15:guide id="4" pos="846">
          <p15:clr>
            <a:srgbClr val="F26B43"/>
          </p15:clr>
        </p15:guide>
        <p15:guide id="5" pos="937">
          <p15:clr>
            <a:srgbClr val="F26B43"/>
          </p15:clr>
        </p15:guide>
        <p15:guide id="6" pos="1436">
          <p15:clr>
            <a:srgbClr val="F26B43"/>
          </p15:clr>
        </p15:guide>
        <p15:guide id="7" pos="1526">
          <p15:clr>
            <a:srgbClr val="F26B43"/>
          </p15:clr>
        </p15:guide>
        <p15:guide id="8" pos="2025">
          <p15:clr>
            <a:srgbClr val="F26B43"/>
          </p15:clr>
        </p15:guide>
        <p15:guide id="9" pos="2115">
          <p15:clr>
            <a:srgbClr val="F26B43"/>
          </p15:clr>
        </p15:guide>
        <p15:guide id="10" pos="2615">
          <p15:clr>
            <a:srgbClr val="F26B43"/>
          </p15:clr>
        </p15:guide>
        <p15:guide id="11" pos="2706">
          <p15:clr>
            <a:srgbClr val="F26B43"/>
          </p15:clr>
        </p15:guide>
        <p15:guide id="12" pos="3205">
          <p15:clr>
            <a:srgbClr val="F26B43"/>
          </p15:clr>
        </p15:guide>
        <p15:guide id="13" pos="3296">
          <p15:clr>
            <a:srgbClr val="F26B43"/>
          </p15:clr>
        </p15:guide>
        <p15:guide id="14" pos="3795">
          <p15:clr>
            <a:srgbClr val="F26B43"/>
          </p15:clr>
        </p15:guide>
        <p15:guide id="15" pos="3885">
          <p15:clr>
            <a:srgbClr val="F26B43"/>
          </p15:clr>
        </p15:guide>
        <p15:guide id="16" pos="4475">
          <p15:clr>
            <a:srgbClr val="F26B43"/>
          </p15:clr>
        </p15:guide>
        <p15:guide id="17" pos="4384">
          <p15:clr>
            <a:srgbClr val="F26B43"/>
          </p15:clr>
        </p15:guide>
        <p15:guide id="18" pos="4974">
          <p15:clr>
            <a:srgbClr val="F26B43"/>
          </p15:clr>
        </p15:guide>
        <p15:guide id="19" pos="5065">
          <p15:clr>
            <a:srgbClr val="F26B43"/>
          </p15:clr>
        </p15:guide>
        <p15:guide id="20" pos="5564">
          <p15:clr>
            <a:srgbClr val="F26B43"/>
          </p15:clr>
        </p15:guide>
        <p15:guide id="21" pos="5654">
          <p15:clr>
            <a:srgbClr val="F26B43"/>
          </p15:clr>
        </p15:guide>
        <p15:guide id="22" pos="6153">
          <p15:clr>
            <a:srgbClr val="F26B43"/>
          </p15:clr>
        </p15:guide>
        <p15:guide id="23" pos="6244">
          <p15:clr>
            <a:srgbClr val="F26B43"/>
          </p15:clr>
        </p15:guide>
        <p15:guide id="24" pos="6743">
          <p15:clr>
            <a:srgbClr val="F26B43"/>
          </p15:clr>
        </p15:guide>
        <p15:guide id="25" pos="6834">
          <p15:clr>
            <a:srgbClr val="F26B43"/>
          </p15:clr>
        </p15:guide>
        <p15:guide id="26" orient="horz" pos="1706">
          <p15:clr>
            <a:srgbClr val="F26B43"/>
          </p15:clr>
        </p15:guide>
        <p15:guide id="27" orient="horz" pos="1117">
          <p15:clr>
            <a:srgbClr val="F26B43"/>
          </p15:clr>
        </p15:guide>
        <p15:guide id="28" orient="horz" pos="1207">
          <p15:clr>
            <a:srgbClr val="F26B43"/>
          </p15:clr>
        </p15:guide>
        <p15:guide id="29" orient="horz" pos="663">
          <p15:clr>
            <a:srgbClr val="F26B43"/>
          </p15:clr>
        </p15:guide>
        <p15:guide id="30" orient="horz" pos="527">
          <p15:clr>
            <a:srgbClr val="F26B43"/>
          </p15:clr>
        </p15:guide>
        <p15:guide id="31" orient="horz" pos="210">
          <p15:clr>
            <a:srgbClr val="F26B43"/>
          </p15:clr>
        </p15:guide>
        <p15:guide id="32" orient="horz" pos="2296">
          <p15:clr>
            <a:srgbClr val="F26B43"/>
          </p15:clr>
        </p15:guide>
        <p15:guide id="33" orient="horz" pos="2387">
          <p15:clr>
            <a:srgbClr val="F26B43"/>
          </p15:clr>
        </p15:guide>
        <p15:guide id="34" orient="horz" pos="2886">
          <p15:clr>
            <a:srgbClr val="F26B43"/>
          </p15:clr>
        </p15:guide>
        <p15:guide id="35" orient="horz" pos="2976">
          <p15:clr>
            <a:srgbClr val="F26B43"/>
          </p15:clr>
        </p15:guide>
        <p15:guide id="36" orient="horz" pos="3475">
          <p15:clr>
            <a:srgbClr val="F26B43"/>
          </p15:clr>
        </p15:guide>
        <p15:guide id="37" orient="horz" pos="3566">
          <p15:clr>
            <a:srgbClr val="F26B43"/>
          </p15:clr>
        </p15:guide>
        <p15:guide id="40" orient="horz" pos="4156">
          <p15:clr>
            <a:srgbClr val="F26B43"/>
          </p15:clr>
        </p15:guide>
        <p15:guide id="41" orient="horz" pos="3929">
          <p15:clr>
            <a:srgbClr val="F26B43"/>
          </p15:clr>
        </p15:guide>
        <p15:guide id="42" orient="horz" pos="845">
          <p15:clr>
            <a:srgbClr val="F26B43"/>
          </p15:clr>
        </p15:guide>
        <p15:guide id="43" orient="horz" pos="40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jpe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21" Type="http://schemas.openxmlformats.org/officeDocument/2006/relationships/image" Target="../media/image42.sv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svg"/><Relationship Id="rId20" Type="http://schemas.openxmlformats.org/officeDocument/2006/relationships/image" Target="../media/image41.sv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24" Type="http://schemas.openxmlformats.org/officeDocument/2006/relationships/image" Target="../media/image45.sv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sv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jpeg"/><Relationship Id="rId22" Type="http://schemas.openxmlformats.org/officeDocument/2006/relationships/image" Target="../media/image4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Solace Agent Mesh Vision</a:t>
            </a:r>
            <a:br>
              <a:rPr lang="en-US"/>
            </a:br>
            <a:r>
              <a:rPr lang="en-US" sz="2400"/>
              <a:t>Managing Your AI Worker Lifecycle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performance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provide feedback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Get them working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together as a team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Close oversight to ensure accuracy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Internal education to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improve competence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Give access to systems &amp; tools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Define role, responsibilities, expectations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Use Case: One Engineering Change, </a:t>
            </a:r>
            <a:r>
              <a:rPr lang="de-DE" dirty="0" err="1"/>
              <a:t>Two Movements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9101" name="Stage Card"/>
          <p:cNvSpPr/>
          <p:nvPr/>
        </p:nvSpPr>
        <p:spPr>
          <a:xfrm>
            <a:off x="411480" y="1234440"/>
            <a:ext cx="3703320" cy="4480560"/>
          </a:xfrm>
          <a:prstGeom prst="roundRect">
            <a:avLst>
              <a:gd name="adj" fmla="val 9000"/>
            </a:avLst>
          </a:prstGeom>
          <a:solidFill>
            <a:srgbClr val="F3F7F5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7375E"/>
                </a:solidFill>
              </a:rPr>
              <a:t>THE STAGE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Acme Manufacturing</a:t>
            </a:r>
            <a:r>
              <a:rPr lang="en-US" sz="1150" dirty="0">
                <a:solidFill>
                  <a:srgbClr val="3B3B3B"/>
                </a:solidFill>
              </a:rPr>
              <a:t> - power tools and automotive components (brakes, clutches, bearings) for OEM customers.</a:t>
            </a:r>
          </a:p>
          <a:p>
            <a:pPr>
              <a:spcAft>
                <a:spcPts val="35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Plant 1 Hamburg: </a:t>
            </a:r>
            <a:r>
              <a:rPr lang="en-US" sz="1150" dirty="0">
                <a:solidFill>
                  <a:srgbClr val="3B3B3B"/>
                </a:solidFill>
              </a:rPr>
              <a:t>automotive, builds the CK-350 clutch kit.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Plant 2 Graz: </a:t>
            </a:r>
            <a:r>
              <a:rPr lang="en-US" sz="1150" dirty="0">
                <a:solidFill>
                  <a:srgbClr val="3B3B3B"/>
                </a:solidFill>
              </a:rPr>
              <a:t>power tools, builds the IX-450 impact driver.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IT: </a:t>
            </a:r>
            <a:r>
              <a:rPr lang="en-US" sz="1150" dirty="0">
                <a:solidFill>
                  <a:srgbClr val="3B3B3B"/>
                </a:solidFill>
              </a:rPr>
              <a:t>CRM, OMS, PDM, SCM (Postgres).  </a:t>
            </a:r>
            <a:r>
              <a:rPr lang="en-US" sz="1150" b="1" dirty="0">
                <a:solidFill>
                  <a:srgbClr val="3B3B3B"/>
                </a:solidFill>
              </a:rPr>
              <a:t>OT: </a:t>
            </a:r>
            <a:r>
              <a:rPr lang="en-US" sz="1150" dirty="0">
                <a:solidFill>
                  <a:srgbClr val="3B3B3B"/>
                </a:solidFill>
              </a:rPr>
              <a:t>every end-of-line test and material issue streams over the Solace event mesh into the plant store (MongoDB).</a:t>
            </a:r>
          </a:p>
          <a:p>
            <a:pPr>
              <a:spcAft>
                <a:spcPts val="350"/>
              </a:spcAft>
              <a:buNone/>
            </a:pPr>
            <a:r>
              <a:rPr lang="en-US" sz="1200" b="1" dirty="0">
                <a:solidFill>
                  <a:srgbClr val="00A76D"/>
                </a:solidFill>
              </a:rPr>
              <a:t>THE TRIGGER - ECO-2025-118</a:t>
            </a:r>
          </a:p>
          <a:p>
            <a:pPr>
              <a:spcAft>
                <a:spcPts val="8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New sintered HD-22 clutch disc, used by BOTH products; EOL torque spec raised 18.0 to 22.0 Nm. </a:t>
            </a:r>
            <a:r>
              <a:rPr lang="en-US" sz="1150" b="1" dirty="0">
                <a:solidFill>
                  <a:srgbClr val="C62828"/>
                </a:solidFill>
              </a:rPr>
              <a:t>Hamburg acknowledged. Graz: PENDING.</a:t>
            </a:r>
          </a:p>
          <a:p>
            <a:pPr>
              <a:spcAft>
                <a:spcPts val="0"/>
              </a:spcAft>
              <a:buNone/>
            </a:pPr>
            <a:r>
              <a:rPr lang="en-US" sz="1150" b="1" dirty="0">
                <a:solidFill>
                  <a:srgbClr val="17375E"/>
                </a:solidFill>
              </a:rPr>
              <a:t>On stage, ONE click releases two production orders - everything after is events.</a:t>
            </a:r>
          </a:p>
        </p:txBody>
      </p:sp>
      <p:sp>
        <p:nvSpPr>
          <p:cNvPr id="9102" name="Movement 1 Card"/>
          <p:cNvSpPr/>
          <p:nvPr/>
        </p:nvSpPr>
        <p:spPr>
          <a:xfrm>
            <a:off x="4343400" y="1234440"/>
            <a:ext cx="7434072" cy="2121408"/>
          </a:xfrm>
          <a:prstGeom prst="roundRect">
            <a:avLst>
              <a:gd name="adj" fmla="val 9000"/>
            </a:avLst>
          </a:prstGeom>
          <a:solidFill>
            <a:srgbClr val="FCF1F1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62828"/>
                </a:solidFill>
              </a:rPr>
              <a:t>MOVEMENT 1 - REACT</a:t>
            </a:r>
            <a:r>
              <a:rPr lang="en-US" sz="1100" dirty="0">
                <a:solidFill>
                  <a:srgbClr val="595959"/>
                </a:solidFill>
              </a:rPr>
              <a:t>   the failure event triggers the team (T+45 s)</a:t>
            </a:r>
          </a:p>
          <a:p>
            <a:pPr>
              <a:spcAft>
                <a:spcPts val="6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Graz L3 fails the torque test on the new HD-22 units. The event - not a ticket - wakes the agents: </a:t>
            </a:r>
            <a:r>
              <a:rPr lang="en-US" sz="1150" b="1" dirty="0">
                <a:solidFill>
                  <a:srgbClr val="3B3B3B"/>
                </a:solidFill>
              </a:rPr>
              <a:t>OMS</a:t>
            </a:r>
            <a:r>
              <a:rPr lang="en-US" sz="1150" dirty="0">
                <a:solidFill>
                  <a:srgbClr val="3B3B3B"/>
                </a:solidFill>
              </a:rPr>
              <a:t> finds EUR 340K of orders on hold, </a:t>
            </a:r>
            <a:r>
              <a:rPr lang="en-US" sz="1150" b="1" dirty="0">
                <a:solidFill>
                  <a:srgbClr val="3B3B3B"/>
                </a:solidFill>
              </a:rPr>
              <a:t>PDM</a:t>
            </a:r>
            <a:r>
              <a:rPr lang="en-US" sz="1150" dirty="0">
                <a:solidFill>
                  <a:srgbClr val="3B3B3B"/>
                </a:solidFill>
              </a:rPr>
              <a:t> finds the unacknowledged ECO, the </a:t>
            </a:r>
            <a:r>
              <a:rPr lang="en-US" sz="1150" b="1" dirty="0">
                <a:solidFill>
                  <a:srgbClr val="3B3B3B"/>
                </a:solidFill>
              </a:rPr>
              <a:t>Shop Floor Analyst</a:t>
            </a:r>
            <a:r>
              <a:rPr lang="en-US" sz="1150" dirty="0">
                <a:solidFill>
                  <a:srgbClr val="3B3B3B"/>
                </a:solidFill>
              </a:rPr>
              <a:t> proves 100 % failures since the HD-22 lot - the station still tests against the old spec.</a:t>
            </a:r>
          </a:p>
          <a:p>
            <a:pPr>
              <a:spcAft>
                <a:spcPts val="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~5 min later in the cockpit: </a:t>
            </a:r>
            <a:r>
              <a:rPr lang="en-US" sz="1150" b="1" dirty="0">
                <a:solidFill>
                  <a:srgbClr val="C62828"/>
                </a:solidFill>
              </a:rPr>
              <a:t>"A false reject, not a defective product. Recalibrate, re-test, release."</a:t>
            </a:r>
          </a:p>
        </p:txBody>
      </p:sp>
      <p:sp>
        <p:nvSpPr>
          <p:cNvPr id="9103" name="Movement 2 Card"/>
          <p:cNvSpPr/>
          <p:nvPr/>
        </p:nvSpPr>
        <p:spPr>
          <a:xfrm>
            <a:off x="4343400" y="3538728"/>
            <a:ext cx="7434072" cy="2176272"/>
          </a:xfrm>
          <a:prstGeom prst="roundRect">
            <a:avLst>
              <a:gd name="adj" fmla="val 9000"/>
            </a:avLst>
          </a:prstGeom>
          <a:solidFill>
            <a:srgbClr val="FDF6EA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890C"/>
                </a:solidFill>
              </a:rPr>
              <a:t>MOVEMENT 2 - PREVENT</a:t>
            </a:r>
            <a:r>
              <a:rPr lang="en-US" sz="1100" dirty="0">
                <a:solidFill>
                  <a:srgbClr val="595959"/>
                </a:solidFill>
              </a:rPr>
              <a:t>   the threshold event fires before anyone notices (T+4:40)</a:t>
            </a:r>
          </a:p>
          <a:p>
            <a:pPr>
              <a:spcAft>
                <a:spcPts val="6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Hamburg adopted the same ECO - and burns the new disc at ~4x the MRP plan. </a:t>
            </a:r>
            <a:r>
              <a:rPr lang="en-US" sz="1150" b="1" dirty="0">
                <a:solidFill>
                  <a:srgbClr val="3B3B3B"/>
                </a:solidFill>
              </a:rPr>
              <a:t>SCM</a:t>
            </a:r>
            <a:r>
              <a:rPr lang="en-US" sz="1150" dirty="0">
                <a:solidFill>
                  <a:srgbClr val="3B3B3B"/>
                </a:solidFill>
              </a:rPr>
              <a:t>: the open PO lands with one day of margin. </a:t>
            </a:r>
            <a:r>
              <a:rPr lang="en-US" sz="1150" b="1" dirty="0">
                <a:solidFill>
                  <a:srgbClr val="3B3B3B"/>
                </a:solidFill>
              </a:rPr>
              <a:t>Analyst</a:t>
            </a:r>
            <a:r>
              <a:rPr lang="en-US" sz="1150" dirty="0">
                <a:solidFill>
                  <a:srgbClr val="3B3B3B"/>
                </a:solidFill>
              </a:rPr>
              <a:t>: observed burn ~460/day vs plan 120. </a:t>
            </a:r>
            <a:r>
              <a:rPr lang="en-US" sz="1150" b="1" dirty="0">
                <a:solidFill>
                  <a:srgbClr val="3B3B3B"/>
                </a:solidFill>
              </a:rPr>
              <a:t>OMS</a:t>
            </a:r>
            <a:r>
              <a:rPr lang="en-US" sz="1150" dirty="0">
                <a:solidFill>
                  <a:srgbClr val="3B3B3B"/>
                </a:solidFill>
              </a:rPr>
              <a:t>: EUR 784K of OEM orders behind the material - line-down penalty EUR 45K/hour.</a:t>
            </a:r>
          </a:p>
          <a:p>
            <a:pPr>
              <a:spcAft>
                <a:spcPts val="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~8 min later: </a:t>
            </a:r>
            <a:r>
              <a:rPr lang="en-US" sz="1150" b="1" dirty="0">
                <a:solidFill>
                  <a:srgbClr val="E8890C"/>
                </a:solidFill>
              </a:rPr>
              <a:t>"Expedite 3,000 units from the qualified alternate today - and fix the planning parameters."</a:t>
            </a:r>
          </a:p>
        </p:txBody>
      </p:sp>
      <p:sp>
        <p:nvSpPr>
          <p:cNvPr id="9104" name="Causal Chain"/>
          <p:cNvSpPr/>
          <p:nvPr/>
        </p:nvSpPr>
        <p:spPr>
          <a:xfrm>
            <a:off x="411480" y="5897880"/>
            <a:ext cx="11365992" cy="50292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>
            <a:noFill/>
          </a:ln>
        </p:spPr>
        <p:txBody>
          <a:bodyPr wrap="square" lIns="137160" tIns="118872" rIns="137160" bIns="91440" anchor="ctr">
            <a:norm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00A76D"/>
                </a:solidFill>
              </a:rPr>
              <a:t>ONE CLICK</a:t>
            </a:r>
            <a:r>
              <a:rPr lang="en-US" sz="1150" dirty="0">
                <a:solidFill>
                  <a:srgbClr val="595959"/>
                </a:solidFill>
              </a:rPr>
              <a:t>  &gt;  one order-released event  &gt;  </a:t>
            </a:r>
            <a:r>
              <a:rPr lang="en-US" sz="1150" b="1" dirty="0">
                <a:solidFill>
                  <a:srgbClr val="C62828"/>
                </a:solidFill>
              </a:rPr>
              <a:t>REACT</a:t>
            </a:r>
            <a:r>
              <a:rPr lang="en-US" sz="1150" dirty="0">
                <a:solidFill>
                  <a:srgbClr val="595959"/>
                </a:solidFill>
              </a:rPr>
              <a:t>  +  </a:t>
            </a:r>
            <a:r>
              <a:rPr lang="en-US" sz="1150" b="1" dirty="0">
                <a:solidFill>
                  <a:srgbClr val="E8890C"/>
                </a:solidFill>
              </a:rPr>
              <a:t>PREVENT</a:t>
            </a:r>
            <a:r>
              <a:rPr lang="en-US" sz="1150" dirty="0">
                <a:solidFill>
                  <a:srgbClr val="595959"/>
                </a:solidFill>
              </a:rPr>
              <a:t>  &gt;  two reports land in the cockpit - </a:t>
            </a:r>
            <a:r>
              <a:rPr lang="en-US" sz="1150" b="1" dirty="0">
                <a:solidFill>
                  <a:srgbClr val="17375E"/>
                </a:solidFill>
              </a:rPr>
              <a:t>no human in the loop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7" name="Group 46">
            <a:extLst>
              <a:ext uri="{FF2B5EF4-FFF2-40B4-BE49-F238E27FC236}">
                <a16:creationId xmlns:a16="http://schemas.microsoft.com/office/drawing/2014/main" id="{2557A0AF-1103-2947-D6B5-323D99B46ACF}"/>
              </a:ext>
            </a:extLst>
          </p:cNvPr>
          <p:cNvGrpSpPr/>
          <p:nvPr/>
        </p:nvGrpSpPr>
        <p:grpSpPr>
          <a:xfrm>
            <a:off x="1698882" y="3377324"/>
            <a:ext cx="2710022" cy="2512313"/>
            <a:chOff x="8535770" y="1316737"/>
            <a:chExt cx="2710022" cy="2512313"/>
          </a:xfrm>
        </p:grpSpPr>
        <p:sp>
          <p:nvSpPr>
            <p:cNvPr id="1078" name="Rectangle 33">
              <a:extLst>
                <a:ext uri="{FF2B5EF4-FFF2-40B4-BE49-F238E27FC236}">
                  <a16:creationId xmlns:a16="http://schemas.microsoft.com/office/drawing/2014/main" id="{D125C814-84EF-A9A1-F7D7-4C28AE998471}"/>
                </a:ext>
              </a:extLst>
            </p:cNvPr>
            <p:cNvSpPr/>
            <p:nvPr/>
          </p:nvSpPr>
          <p:spPr>
            <a:xfrm>
              <a:off x="8557730" y="1316737"/>
              <a:ext cx="1629434" cy="2512313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79" name="Rectangle 45">
              <a:extLst>
                <a:ext uri="{FF2B5EF4-FFF2-40B4-BE49-F238E27FC236}">
                  <a16:creationId xmlns:a16="http://schemas.microsoft.com/office/drawing/2014/main" id="{240B91F9-6037-C668-374F-D088AC73BCDB}"/>
                </a:ext>
              </a:extLst>
            </p:cNvPr>
            <p:cNvSpPr/>
            <p:nvPr/>
          </p:nvSpPr>
          <p:spPr>
            <a:xfrm>
              <a:off x="8762343" y="2254869"/>
              <a:ext cx="1216731" cy="1428131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E5E5E5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80" name="Picture 10">
              <a:extLst>
                <a:ext uri="{FF2B5EF4-FFF2-40B4-BE49-F238E27FC236}">
                  <a16:creationId xmlns:a16="http://schemas.microsoft.com/office/drawing/2014/main" id="{0233296F-A91B-82BF-D3F5-BCDAAA8F42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33099" y="1707162"/>
              <a:ext cx="856737" cy="232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1" name="Picture 14">
              <a:extLst>
                <a:ext uri="{FF2B5EF4-FFF2-40B4-BE49-F238E27FC236}">
                  <a16:creationId xmlns:a16="http://schemas.microsoft.com/office/drawing/2014/main" id="{4DCB87B7-5352-F3A0-3C3D-5BE8589623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95673" y="2009697"/>
              <a:ext cx="1143000" cy="128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2" name="TextBox 18">
              <a:extLst>
                <a:ext uri="{FF2B5EF4-FFF2-40B4-BE49-F238E27FC236}">
                  <a16:creationId xmlns:a16="http://schemas.microsoft.com/office/drawing/2014/main" id="{A3EF85DD-CBB2-8EED-2144-19C578CFB547}"/>
                </a:ext>
              </a:extLst>
            </p:cNvPr>
            <p:cNvSpPr txBox="1"/>
            <p:nvPr/>
          </p:nvSpPr>
          <p:spPr>
            <a:xfrm>
              <a:off x="8535770" y="1333427"/>
              <a:ext cx="1651393" cy="4466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ctr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External LLMs</a:t>
              </a:r>
            </a:p>
          </p:txBody>
        </p:sp>
        <p:pic>
          <p:nvPicPr>
            <p:cNvPr id="1083" name="Picture 2" descr="Buy LiteLLM stock and other Pre-IPO shares on UpMarket">
              <a:extLst>
                <a:ext uri="{FF2B5EF4-FFF2-40B4-BE49-F238E27FC236}">
                  <a16:creationId xmlns:a16="http://schemas.microsoft.com/office/drawing/2014/main" id="{652FBFF7-7012-1627-2DB3-864B5F36C25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652" b="31677"/>
            <a:stretch/>
          </p:blipFill>
          <p:spPr bwMode="auto">
            <a:xfrm>
              <a:off x="8813808" y="2320234"/>
              <a:ext cx="1064141" cy="3476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4" name="Picture 39">
              <a:extLst>
                <a:ext uri="{FF2B5EF4-FFF2-40B4-BE49-F238E27FC236}">
                  <a16:creationId xmlns:a16="http://schemas.microsoft.com/office/drawing/2014/main" id="{916CBC19-C072-9C86-CE04-B303F68B1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8200" b="41134"/>
            <a:stretch/>
          </p:blipFill>
          <p:spPr>
            <a:xfrm>
              <a:off x="9011467" y="2787915"/>
              <a:ext cx="713276" cy="147405"/>
            </a:xfrm>
            <a:prstGeom prst="rect">
              <a:avLst/>
            </a:prstGeom>
          </p:spPr>
        </p:pic>
        <p:pic>
          <p:nvPicPr>
            <p:cNvPr id="1085" name="Picture 47">
              <a:extLst>
                <a:ext uri="{FF2B5EF4-FFF2-40B4-BE49-F238E27FC236}">
                  <a16:creationId xmlns:a16="http://schemas.microsoft.com/office/drawing/2014/main" id="{1B5DB0D1-232C-0C27-CCFD-5F1D918CF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</a:blip>
            <a:srcRect t="37399" b="20458"/>
            <a:stretch/>
          </p:blipFill>
          <p:spPr>
            <a:xfrm>
              <a:off x="9033496" y="3003126"/>
              <a:ext cx="669217" cy="188385"/>
            </a:xfrm>
            <a:prstGeom prst="rect">
              <a:avLst/>
            </a:prstGeom>
          </p:spPr>
        </p:pic>
        <p:pic>
          <p:nvPicPr>
            <p:cNvPr id="1086" name="Picture 51">
              <a:extLst>
                <a:ext uri="{FF2B5EF4-FFF2-40B4-BE49-F238E27FC236}">
                  <a16:creationId xmlns:a16="http://schemas.microsoft.com/office/drawing/2014/main" id="{88B54644-2402-0E76-F69E-EA537829F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26578" y="3193354"/>
              <a:ext cx="359450" cy="188385"/>
            </a:xfrm>
            <a:prstGeom prst="rect">
              <a:avLst/>
            </a:prstGeom>
          </p:spPr>
        </p:pic>
        <p:pic>
          <p:nvPicPr>
            <p:cNvPr id="1087" name="Picture 56">
              <a:extLst>
                <a:ext uri="{FF2B5EF4-FFF2-40B4-BE49-F238E27FC236}">
                  <a16:creationId xmlns:a16="http://schemas.microsoft.com/office/drawing/2014/main" id="{064FA3A4-0517-8BAB-F58A-0A48F6D0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35169" t="39084" r="34324" b="39789"/>
            <a:stretch/>
          </p:blipFill>
          <p:spPr>
            <a:xfrm>
              <a:off x="9145741" y="3434443"/>
              <a:ext cx="521124" cy="177785"/>
            </a:xfrm>
            <a:prstGeom prst="rect">
              <a:avLst/>
            </a:prstGeom>
          </p:spPr>
        </p:pic>
        <p:cxnSp>
          <p:nvCxnSpPr>
            <p:cNvPr id="1088" name="Straight Connector 58">
              <a:extLst>
                <a:ext uri="{FF2B5EF4-FFF2-40B4-BE49-F238E27FC236}">
                  <a16:creationId xmlns:a16="http://schemas.microsoft.com/office/drawing/2014/main" id="{3F34A3AC-3E08-ACBC-ADD4-E53B83B91669}"/>
                </a:ext>
              </a:extLst>
            </p:cNvPr>
            <p:cNvCxnSpPr/>
            <p:nvPr/>
          </p:nvCxnSpPr>
          <p:spPr>
            <a:xfrm>
              <a:off x="8874811" y="2708268"/>
              <a:ext cx="995781" cy="0"/>
            </a:xfrm>
            <a:prstGeom prst="line">
              <a:avLst/>
            </a:prstGeom>
            <a:noFill/>
            <a:ln w="9525" cap="flat">
              <a:solidFill>
                <a:srgbClr val="E5E5E5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089" name="TextBox 59">
              <a:extLst>
                <a:ext uri="{FF2B5EF4-FFF2-40B4-BE49-F238E27FC236}">
                  <a16:creationId xmlns:a16="http://schemas.microsoft.com/office/drawing/2014/main" id="{7AD58E54-A305-F49E-504F-316EAD911977}"/>
                </a:ext>
              </a:extLst>
            </p:cNvPr>
            <p:cNvSpPr txBox="1"/>
            <p:nvPr/>
          </p:nvSpPr>
          <p:spPr>
            <a:xfrm>
              <a:off x="9226578" y="2472120"/>
              <a:ext cx="623265" cy="291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100+ LLMS</a:t>
              </a:r>
            </a:p>
          </p:txBody>
        </p:sp>
        <p:pic>
          <p:nvPicPr>
            <p:cNvPr id="1090" name="Graphic 11">
              <a:extLst>
                <a:ext uri="{FF2B5EF4-FFF2-40B4-BE49-F238E27FC236}">
                  <a16:creationId xmlns:a16="http://schemas.microsoft.com/office/drawing/2014/main" id="{ADD3D416-24F2-0752-5251-273884A503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886245" y="2296495"/>
              <a:ext cx="376368" cy="376368"/>
            </a:xfrm>
            <a:prstGeom prst="rect">
              <a:avLst/>
            </a:prstGeom>
          </p:spPr>
        </p:pic>
        <p:sp>
          <p:nvSpPr>
            <p:cNvPr id="1091" name="Up-Down Arrow 19">
              <a:extLst>
                <a:ext uri="{FF2B5EF4-FFF2-40B4-BE49-F238E27FC236}">
                  <a16:creationId xmlns:a16="http://schemas.microsoft.com/office/drawing/2014/main" id="{52FE3E18-00A0-B6B7-4557-7B7928232E71}"/>
                </a:ext>
              </a:extLst>
            </p:cNvPr>
            <p:cNvSpPr/>
            <p:nvPr/>
          </p:nvSpPr>
          <p:spPr>
            <a:xfrm rot="16200000">
              <a:off x="10620485" y="1074756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Live Demo: Event-Driven Manufacturing </a:t>
            </a:r>
            <a:r>
              <a:rPr lang="de-DE" dirty="0" err="1"/>
              <a:t>Operations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809974-8D84-C518-AA4D-77C8E85083E7}"/>
              </a:ext>
            </a:extLst>
          </p:cNvPr>
          <p:cNvSpPr txBox="1"/>
          <p:nvPr/>
        </p:nvSpPr>
        <p:spPr>
          <a:xfrm>
            <a:off x="202800" y="56826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PLANTS</a:t>
            </a:r>
          </a:p>
        </p:txBody>
      </p:sp>
      <p:pic>
        <p:nvPicPr>
          <p:cNvPr id="7" name="Graphic 18">
            <a:extLst>
              <a:ext uri="{FF2B5EF4-FFF2-40B4-BE49-F238E27FC236}">
                <a16:creationId xmlns:a16="http://schemas.microsoft.com/office/drawing/2014/main" id="{DB224022-064F-A370-8FF9-F49D27646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45206" y="5492005"/>
            <a:ext cx="665759" cy="665759"/>
          </a:xfrm>
          <a:prstGeom prst="rect">
            <a:avLst/>
          </a:prstGeom>
        </p:spPr>
      </p:pic>
      <p:pic>
        <p:nvPicPr>
          <p:cNvPr id="8" name="Graphic 18">
            <a:extLst>
              <a:ext uri="{FF2B5EF4-FFF2-40B4-BE49-F238E27FC236}">
                <a16:creationId xmlns:a16="http://schemas.microsoft.com/office/drawing/2014/main" id="{E33694E1-64A3-8080-39DD-F4BA656361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9606" y="5492004"/>
            <a:ext cx="665759" cy="665759"/>
          </a:xfrm>
          <a:prstGeom prst="rect">
            <a:avLst/>
          </a:prstGeom>
        </p:spPr>
      </p:pic>
      <p:pic>
        <p:nvPicPr>
          <p:cNvPr id="9" name="Graphic 18">
            <a:extLst>
              <a:ext uri="{FF2B5EF4-FFF2-40B4-BE49-F238E27FC236}">
                <a16:creationId xmlns:a16="http://schemas.microsoft.com/office/drawing/2014/main" id="{6E76FA38-4D3A-E6B9-0B07-51D08CF60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74006" y="5492004"/>
            <a:ext cx="665759" cy="665759"/>
          </a:xfrm>
          <a:prstGeom prst="rect">
            <a:avLst/>
          </a:prstGeom>
        </p:spPr>
      </p:pic>
      <p:pic>
        <p:nvPicPr>
          <p:cNvPr id="10" name="Graphic 18">
            <a:extLst>
              <a:ext uri="{FF2B5EF4-FFF2-40B4-BE49-F238E27FC236}">
                <a16:creationId xmlns:a16="http://schemas.microsoft.com/office/drawing/2014/main" id="{75B0A552-6F24-20DE-10B8-F22FAC9CC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52235" y="5492005"/>
            <a:ext cx="665759" cy="665759"/>
          </a:xfrm>
          <a:prstGeom prst="rect">
            <a:avLst/>
          </a:prstGeom>
        </p:spPr>
      </p:pic>
      <p:pic>
        <p:nvPicPr>
          <p:cNvPr id="11" name="Graphic 18">
            <a:extLst>
              <a:ext uri="{FF2B5EF4-FFF2-40B4-BE49-F238E27FC236}">
                <a16:creationId xmlns:a16="http://schemas.microsoft.com/office/drawing/2014/main" id="{33F639E7-09D7-F23E-B788-94920B1B6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66635" y="5492005"/>
            <a:ext cx="665759" cy="665759"/>
          </a:xfrm>
          <a:prstGeom prst="rect">
            <a:avLst/>
          </a:prstGeom>
        </p:spPr>
      </p:pic>
      <p:pic>
        <p:nvPicPr>
          <p:cNvPr id="12" name="Graphic 18">
            <a:extLst>
              <a:ext uri="{FF2B5EF4-FFF2-40B4-BE49-F238E27FC236}">
                <a16:creationId xmlns:a16="http://schemas.microsoft.com/office/drawing/2014/main" id="{74859946-3934-662A-225D-CD38E9DC8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81035" y="5492004"/>
            <a:ext cx="665759" cy="665759"/>
          </a:xfrm>
          <a:prstGeom prst="rect">
            <a:avLst/>
          </a:prstGeom>
        </p:spPr>
      </p:pic>
      <p:pic>
        <p:nvPicPr>
          <p:cNvPr id="14" name="Graphic 31">
            <a:extLst>
              <a:ext uri="{FF2B5EF4-FFF2-40B4-BE49-F238E27FC236}">
                <a16:creationId xmlns:a16="http://schemas.microsoft.com/office/drawing/2014/main" id="{8233C68E-41D7-8884-A7B0-B2CB05D9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5459123"/>
            <a:ext cx="731520" cy="731520"/>
          </a:xfrm>
          <a:prstGeom prst="rect">
            <a:avLst/>
          </a:prstGeom>
        </p:spPr>
      </p:pic>
      <p:pic>
        <p:nvPicPr>
          <p:cNvPr id="1032" name="Picture 8" descr="Robot arm - EOL station">
            <a:extLst>
              <a:ext uri="{FF2B5EF4-FFF2-40B4-BE49-F238E27FC236}">
                <a16:creationId xmlns:a16="http://schemas.microsoft.com/office/drawing/2014/main" id="{4141F128-1EA7-2DF2-580E-050A18FBF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549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8" descr="Robot arm - EOL station">
            <a:extLst>
              <a:ext uri="{FF2B5EF4-FFF2-40B4-BE49-F238E27FC236}">
                <a16:creationId xmlns:a16="http://schemas.microsoft.com/office/drawing/2014/main" id="{B15128B6-5BF5-B2D6-8920-61EF78ACB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572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 descr="Robot arm - EOL station">
            <a:extLst>
              <a:ext uri="{FF2B5EF4-FFF2-40B4-BE49-F238E27FC236}">
                <a16:creationId xmlns:a16="http://schemas.microsoft.com/office/drawing/2014/main" id="{DDE9853F-C102-F9BD-4C50-22FD44EBC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895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Robot arm - EOL station">
            <a:extLst>
              <a:ext uri="{FF2B5EF4-FFF2-40B4-BE49-F238E27FC236}">
                <a16:creationId xmlns:a16="http://schemas.microsoft.com/office/drawing/2014/main" id="{E4B566E6-7C2F-4A9D-C424-7285B75A6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068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8" descr="Robot arm - EOL station">
            <a:extLst>
              <a:ext uri="{FF2B5EF4-FFF2-40B4-BE49-F238E27FC236}">
                <a16:creationId xmlns:a16="http://schemas.microsoft.com/office/drawing/2014/main" id="{EFE552D3-06AF-5BF0-F580-C60705B2C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40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Robot arm - EOL station">
            <a:extLst>
              <a:ext uri="{FF2B5EF4-FFF2-40B4-BE49-F238E27FC236}">
                <a16:creationId xmlns:a16="http://schemas.microsoft.com/office/drawing/2014/main" id="{444D979A-B680-EBA3-040F-E088F1C05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3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Robot arm - EOL station">
            <a:extLst>
              <a:ext uri="{FF2B5EF4-FFF2-40B4-BE49-F238E27FC236}">
                <a16:creationId xmlns:a16="http://schemas.microsoft.com/office/drawing/2014/main" id="{CD692F97-2FD7-10B0-78FD-5868095C2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786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Robot arm - EOL station">
            <a:extLst>
              <a:ext uri="{FF2B5EF4-FFF2-40B4-BE49-F238E27FC236}">
                <a16:creationId xmlns:a16="http://schemas.microsoft.com/office/drawing/2014/main" id="{089E20E8-AFD9-450D-55C9-D92E53A75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0959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8" descr="Robot arm - EOL station">
            <a:extLst>
              <a:ext uri="{FF2B5EF4-FFF2-40B4-BE49-F238E27FC236}">
                <a16:creationId xmlns:a16="http://schemas.microsoft.com/office/drawing/2014/main" id="{740B5E95-4D08-5C94-7D60-3DBBD22D9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639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8" descr="Robot arm - EOL station">
            <a:extLst>
              <a:ext uri="{FF2B5EF4-FFF2-40B4-BE49-F238E27FC236}">
                <a16:creationId xmlns:a16="http://schemas.microsoft.com/office/drawing/2014/main" id="{8DC73D97-082F-898A-C9B4-989181CD0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812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8" descr="Robot arm - EOL station">
            <a:extLst>
              <a:ext uri="{FF2B5EF4-FFF2-40B4-BE49-F238E27FC236}">
                <a16:creationId xmlns:a16="http://schemas.microsoft.com/office/drawing/2014/main" id="{7F3C808A-1515-992D-68DD-74B4C47CE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1985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Robot arm - EOL station">
            <a:extLst>
              <a:ext uri="{FF2B5EF4-FFF2-40B4-BE49-F238E27FC236}">
                <a16:creationId xmlns:a16="http://schemas.microsoft.com/office/drawing/2014/main" id="{06380016-6195-99E8-EF47-016563BE0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158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8" descr="Robot arm - EOL station">
            <a:extLst>
              <a:ext uri="{FF2B5EF4-FFF2-40B4-BE49-F238E27FC236}">
                <a16:creationId xmlns:a16="http://schemas.microsoft.com/office/drawing/2014/main" id="{A94BD179-B410-2777-E502-1134D1974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893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8" descr="Robot arm - EOL station">
            <a:extLst>
              <a:ext uri="{FF2B5EF4-FFF2-40B4-BE49-F238E27FC236}">
                <a16:creationId xmlns:a16="http://schemas.microsoft.com/office/drawing/2014/main" id="{732E3AAA-DF49-7AD4-5C00-DF96C67EA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066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8" descr="Robot arm - EOL station">
            <a:extLst>
              <a:ext uri="{FF2B5EF4-FFF2-40B4-BE49-F238E27FC236}">
                <a16:creationId xmlns:a16="http://schemas.microsoft.com/office/drawing/2014/main" id="{6FF46385-5D08-6B9F-4239-10ACF2EF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39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 descr="Robot arm - failing EOL station (Graz L3)">
            <a:extLst>
              <a:ext uri="{FF2B5EF4-FFF2-40B4-BE49-F238E27FC236}">
                <a16:creationId xmlns:a16="http://schemas.microsoft.com/office/drawing/2014/main" id="{FB78DF4C-664E-A58C-B927-1AA9F434A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41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8" descr="Robot arm - EOL station">
            <a:extLst>
              <a:ext uri="{FF2B5EF4-FFF2-40B4-BE49-F238E27FC236}">
                <a16:creationId xmlns:a16="http://schemas.microsoft.com/office/drawing/2014/main" id="{1AEA14C0-3E0A-6A6B-C536-76E05F216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147" y="632087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5">
            <a:extLst>
              <a:ext uri="{FF2B5EF4-FFF2-40B4-BE49-F238E27FC236}">
                <a16:creationId xmlns:a16="http://schemas.microsoft.com/office/drawing/2014/main" id="{4726F6F7-30E6-E6F9-4BAA-6C5E20C3514E}"/>
              </a:ext>
            </a:extLst>
          </p:cNvPr>
          <p:cNvSpPr txBox="1"/>
          <p:nvPr/>
        </p:nvSpPr>
        <p:spPr>
          <a:xfrm>
            <a:off x="1263459" y="61398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EOL STATIONS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1FE20C10-DC99-A108-8DED-D81B3F6DC230}"/>
              </a:ext>
            </a:extLst>
          </p:cNvPr>
          <p:cNvSpPr txBox="1"/>
          <p:nvPr/>
        </p:nvSpPr>
        <p:spPr>
          <a:xfrm>
            <a:off x="202800" y="395572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ACME CLOUD</a:t>
            </a:r>
          </a:p>
        </p:txBody>
      </p:sp>
      <p:pic>
        <p:nvPicPr>
          <p:cNvPr id="37" name="Graphic 18">
            <a:extLst>
              <a:ext uri="{FF2B5EF4-FFF2-40B4-BE49-F238E27FC236}">
                <a16:creationId xmlns:a16="http://schemas.microsoft.com/office/drawing/2014/main" id="{14207D01-D51C-7D44-3B1C-A0A152207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50458" y="3747167"/>
            <a:ext cx="665759" cy="665759"/>
          </a:xfrm>
          <a:prstGeom prst="rect">
            <a:avLst/>
          </a:prstGeom>
        </p:spPr>
      </p:pic>
      <p:cxnSp>
        <p:nvCxnSpPr>
          <p:cNvPr id="38" name="Straight Arrow Connector 2102">
            <a:extLst>
              <a:ext uri="{FF2B5EF4-FFF2-40B4-BE49-F238E27FC236}">
                <a16:creationId xmlns:a16="http://schemas.microsoft.com/office/drawing/2014/main" id="{42D40051-3688-FF1A-2A6E-A92B151DBA8D}"/>
              </a:ext>
            </a:extLst>
          </p:cNvPr>
          <p:cNvCxnSpPr>
            <a:cxnSpLocks/>
          </p:cNvCxnSpPr>
          <p:nvPr/>
        </p:nvCxnSpPr>
        <p:spPr>
          <a:xfrm>
            <a:off x="13834819" y="7213215"/>
            <a:ext cx="520080" cy="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34" name="Picture 10" descr="MongoDB logo and symbol, meaning, history, PNG">
            <a:extLst>
              <a:ext uri="{FF2B5EF4-FFF2-40B4-BE49-F238E27FC236}">
                <a16:creationId xmlns:a16="http://schemas.microsoft.com/office/drawing/2014/main" id="{9F598CCA-1DED-E065-964D-D4A5D2BCF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9485" y="3255926"/>
            <a:ext cx="2637183" cy="1648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5">
            <a:extLst>
              <a:ext uri="{FF2B5EF4-FFF2-40B4-BE49-F238E27FC236}">
                <a16:creationId xmlns:a16="http://schemas.microsoft.com/office/drawing/2014/main" id="{0D363235-07FD-6C6B-2AB0-DF9E58C1945E}"/>
              </a:ext>
            </a:extLst>
          </p:cNvPr>
          <p:cNvSpPr txBox="1"/>
          <p:nvPr/>
        </p:nvSpPr>
        <p:spPr>
          <a:xfrm>
            <a:off x="10308638" y="384150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 STORE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MongoDB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mfg_plant</a:t>
            </a:r>
          </a:p>
        </p:txBody>
      </p:sp>
      <p:cxnSp>
        <p:nvCxnSpPr>
          <p:cNvPr id="42" name="Straight Arrow Connector 2102">
            <a:extLst>
              <a:ext uri="{FF2B5EF4-FFF2-40B4-BE49-F238E27FC236}">
                <a16:creationId xmlns:a16="http://schemas.microsoft.com/office/drawing/2014/main" id="{59E23F1F-A102-0064-53E7-62FE632F9BA0}"/>
              </a:ext>
            </a:extLst>
          </p:cNvPr>
          <p:cNvCxnSpPr>
            <a:cxnSpLocks/>
            <a:endCxn id="1034" idx="1"/>
          </p:cNvCxnSpPr>
          <p:nvPr/>
        </p:nvCxnSpPr>
        <p:spPr>
          <a:xfrm flipV="1">
            <a:off x="6411991" y="4080046"/>
            <a:ext cx="1137494" cy="14814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44" name="Graphic 2052">
            <a:extLst>
              <a:ext uri="{FF2B5EF4-FFF2-40B4-BE49-F238E27FC236}">
                <a16:creationId xmlns:a16="http://schemas.microsoft.com/office/drawing/2014/main" id="{320D91A3-6B1D-10B6-89AC-96D16B68E277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80549" y="4114349"/>
            <a:ext cx="6786970" cy="2497450"/>
          </a:xfrm>
          <a:prstGeom prst="roundRect">
            <a:avLst>
              <a:gd name="adj" fmla="val 41045"/>
            </a:avLst>
          </a:prstGeom>
        </p:spPr>
      </p:pic>
      <p:cxnSp>
        <p:nvCxnSpPr>
          <p:cNvPr id="46" name="Gerade Verbindung 45">
            <a:extLst>
              <a:ext uri="{FF2B5EF4-FFF2-40B4-BE49-F238E27FC236}">
                <a16:creationId xmlns:a16="http://schemas.microsoft.com/office/drawing/2014/main" id="{46582733-9314-13C7-2854-7DDBC862AE36}"/>
              </a:ext>
            </a:extLst>
          </p:cNvPr>
          <p:cNvCxnSpPr>
            <a:stCxn id="7" idx="0"/>
            <a:endCxn id="37" idx="2"/>
          </p:cNvCxnSpPr>
          <p:nvPr/>
        </p:nvCxnSpPr>
        <p:spPr>
          <a:xfrm flipV="1">
            <a:off x="3178086" y="4412926"/>
            <a:ext cx="2905252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456E8880-F4CF-1495-2EAD-120675AF2A9F}"/>
              </a:ext>
            </a:extLst>
          </p:cNvPr>
          <p:cNvCxnSpPr>
            <a:cxnSpLocks/>
            <a:stCxn id="8" idx="0"/>
            <a:endCxn id="37" idx="2"/>
          </p:cNvCxnSpPr>
          <p:nvPr/>
        </p:nvCxnSpPr>
        <p:spPr>
          <a:xfrm flipV="1">
            <a:off x="4092486" y="4412926"/>
            <a:ext cx="1990852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49">
            <a:extLst>
              <a:ext uri="{FF2B5EF4-FFF2-40B4-BE49-F238E27FC236}">
                <a16:creationId xmlns:a16="http://schemas.microsoft.com/office/drawing/2014/main" id="{CD5B1F8C-4145-078B-EA78-146B5965F028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006886" y="4412925"/>
            <a:ext cx="1056233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D052A4B5-DDF6-9E0A-6681-344AE1A261AA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083338" y="4412925"/>
            <a:ext cx="1101777" cy="10790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55">
            <a:extLst>
              <a:ext uri="{FF2B5EF4-FFF2-40B4-BE49-F238E27FC236}">
                <a16:creationId xmlns:a16="http://schemas.microsoft.com/office/drawing/2014/main" id="{53506848-8D88-6DB5-C8C5-9624977D8303}"/>
              </a:ext>
            </a:extLst>
          </p:cNvPr>
          <p:cNvCxnSpPr>
            <a:cxnSpLocks/>
            <a:stCxn id="11" idx="0"/>
            <a:endCxn id="37" idx="2"/>
          </p:cNvCxnSpPr>
          <p:nvPr/>
        </p:nvCxnSpPr>
        <p:spPr>
          <a:xfrm flipH="1" flipV="1">
            <a:off x="6083338" y="4412926"/>
            <a:ext cx="2016177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22A59919-2385-9ADF-0624-0668A15564D1}"/>
              </a:ext>
            </a:extLst>
          </p:cNvPr>
          <p:cNvCxnSpPr>
            <a:cxnSpLocks/>
            <a:stCxn id="12" idx="0"/>
            <a:endCxn id="37" idx="2"/>
          </p:cNvCxnSpPr>
          <p:nvPr/>
        </p:nvCxnSpPr>
        <p:spPr>
          <a:xfrm flipH="1" flipV="1">
            <a:off x="6083338" y="4412926"/>
            <a:ext cx="2930577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TextBox 1051">
            <a:extLst>
              <a:ext uri="{FF2B5EF4-FFF2-40B4-BE49-F238E27FC236}">
                <a16:creationId xmlns:a16="http://schemas.microsoft.com/office/drawing/2014/main" id="{5E6E41BC-6E8A-0317-2F7B-A0333FF91C26}"/>
              </a:ext>
            </a:extLst>
          </p:cNvPr>
          <p:cNvSpPr txBox="1"/>
          <p:nvPr/>
        </p:nvSpPr>
        <p:spPr>
          <a:xfrm>
            <a:off x="2537946" y="2894291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SAM UI + MCP</a:t>
            </a:r>
          </a:p>
        </p:txBody>
      </p:sp>
      <p:sp>
        <p:nvSpPr>
          <p:cNvPr id="1051" name="Rectangle 1034">
            <a:extLst>
              <a:ext uri="{FF2B5EF4-FFF2-40B4-BE49-F238E27FC236}">
                <a16:creationId xmlns:a16="http://schemas.microsoft.com/office/drawing/2014/main" id="{5A498E47-5021-7CD8-08B3-CA3B9E0F38FC}"/>
              </a:ext>
            </a:extLst>
          </p:cNvPr>
          <p:cNvSpPr/>
          <p:nvPr/>
        </p:nvSpPr>
        <p:spPr>
          <a:xfrm>
            <a:off x="1724125" y="1078340"/>
            <a:ext cx="1629434" cy="2221349"/>
          </a:xfrm>
          <a:prstGeom prst="rect">
            <a:avLst/>
          </a:prstGeom>
          <a:noFill/>
          <a:ln w="12700" cap="flat">
            <a:solidFill>
              <a:srgbClr val="E6E6E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54" name="Picture 4" descr="Microsoft Teams Logo, symbol, meaning, history, PNG, brand">
            <a:extLst>
              <a:ext uri="{FF2B5EF4-FFF2-40B4-BE49-F238E27FC236}">
                <a16:creationId xmlns:a16="http://schemas.microsoft.com/office/drawing/2014/main" id="{3307C80F-1212-9A6F-8288-E47D3063F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6307" y="1975738"/>
            <a:ext cx="724783" cy="407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6" name="TextBox 21">
            <a:extLst>
              <a:ext uri="{FF2B5EF4-FFF2-40B4-BE49-F238E27FC236}">
                <a16:creationId xmlns:a16="http://schemas.microsoft.com/office/drawing/2014/main" id="{18F976E2-71FF-2EBF-D3BD-368406B675CB}"/>
              </a:ext>
            </a:extLst>
          </p:cNvPr>
          <p:cNvSpPr txBox="1"/>
          <p:nvPr/>
        </p:nvSpPr>
        <p:spPr>
          <a:xfrm>
            <a:off x="1771939" y="1028137"/>
            <a:ext cx="1629433" cy="2257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ct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App Interfaces</a:t>
            </a:r>
          </a:p>
        </p:txBody>
      </p:sp>
      <p:pic>
        <p:nvPicPr>
          <p:cNvPr id="1058" name="Graphic 1023">
            <a:extLst>
              <a:ext uri="{FF2B5EF4-FFF2-40B4-BE49-F238E27FC236}">
                <a16:creationId xmlns:a16="http://schemas.microsoft.com/office/drawing/2014/main" id="{A9206CF2-ED17-65F6-51DC-AFDE090AAC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197889" y="2463005"/>
            <a:ext cx="339489" cy="339489"/>
          </a:xfrm>
          <a:prstGeom prst="rect">
            <a:avLst/>
          </a:prstGeom>
        </p:spPr>
      </p:pic>
      <p:sp>
        <p:nvSpPr>
          <p:cNvPr id="1059" name="TextBox 1024">
            <a:extLst>
              <a:ext uri="{FF2B5EF4-FFF2-40B4-BE49-F238E27FC236}">
                <a16:creationId xmlns:a16="http://schemas.microsoft.com/office/drawing/2014/main" id="{C3498806-5AEF-CCC9-FD62-250ED94BB4FC}"/>
              </a:ext>
            </a:extLst>
          </p:cNvPr>
          <p:cNvSpPr txBox="1"/>
          <p:nvPr/>
        </p:nvSpPr>
        <p:spPr>
          <a:xfrm>
            <a:off x="2492269" y="2445447"/>
            <a:ext cx="555004" cy="3394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REST</a:t>
            </a:r>
          </a:p>
        </p:txBody>
      </p:sp>
      <p:sp>
        <p:nvSpPr>
          <p:cNvPr id="1060" name="TextBox 1032">
            <a:extLst>
              <a:ext uri="{FF2B5EF4-FFF2-40B4-BE49-F238E27FC236}">
                <a16:creationId xmlns:a16="http://schemas.microsoft.com/office/drawing/2014/main" id="{10A96D3C-8029-E7F3-DA22-F36B37736A41}"/>
              </a:ext>
            </a:extLst>
          </p:cNvPr>
          <p:cNvSpPr txBox="1"/>
          <p:nvPr/>
        </p:nvSpPr>
        <p:spPr>
          <a:xfrm>
            <a:off x="2201901" y="1633884"/>
            <a:ext cx="914400" cy="2914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40+</a:t>
            </a: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rPr>
              <a:t> Integrations</a:t>
            </a:r>
            <a:endParaRPr kumimoji="0" lang="en-US" sz="10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Gill Sans"/>
              <a:cs typeface="Gill Sans"/>
              <a:sym typeface="Gill Sans"/>
            </a:endParaRPr>
          </a:p>
        </p:txBody>
      </p:sp>
      <p:pic>
        <p:nvPicPr>
          <p:cNvPr id="1061" name="Picture 1038">
            <a:extLst>
              <a:ext uri="{FF2B5EF4-FFF2-40B4-BE49-F238E27FC236}">
                <a16:creationId xmlns:a16="http://schemas.microsoft.com/office/drawing/2014/main" id="{B4E50E8D-5890-633A-268B-A903FDF76F1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941" y="1441427"/>
            <a:ext cx="914400" cy="254000"/>
          </a:xfrm>
          <a:prstGeom prst="rect">
            <a:avLst/>
          </a:prstGeom>
        </p:spPr>
      </p:pic>
      <p:cxnSp>
        <p:nvCxnSpPr>
          <p:cNvPr id="1062" name="Straight Connector 1040">
            <a:extLst>
              <a:ext uri="{FF2B5EF4-FFF2-40B4-BE49-F238E27FC236}">
                <a16:creationId xmlns:a16="http://schemas.microsoft.com/office/drawing/2014/main" id="{B6FB0136-FD18-C5E2-EB73-942176A61683}"/>
              </a:ext>
            </a:extLst>
          </p:cNvPr>
          <p:cNvCxnSpPr/>
          <p:nvPr/>
        </p:nvCxnSpPr>
        <p:spPr>
          <a:xfrm>
            <a:off x="2130809" y="1914057"/>
            <a:ext cx="995781" cy="0"/>
          </a:xfrm>
          <a:prstGeom prst="line">
            <a:avLst/>
          </a:prstGeom>
          <a:noFill/>
          <a:ln w="9525" cap="flat">
            <a:solidFill>
              <a:srgbClr val="E5E5E5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63" name="Graphic 1050">
            <a:extLst>
              <a:ext uri="{FF2B5EF4-FFF2-40B4-BE49-F238E27FC236}">
                <a16:creationId xmlns:a16="http://schemas.microsoft.com/office/drawing/2014/main" id="{2922FD00-7F03-793F-97B5-55E08E9592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977522" y="2735637"/>
            <a:ext cx="623175" cy="623175"/>
          </a:xfrm>
          <a:prstGeom prst="rect">
            <a:avLst/>
          </a:prstGeom>
        </p:spPr>
      </p:pic>
      <p:sp>
        <p:nvSpPr>
          <p:cNvPr id="1064" name="Oval 1063">
            <a:extLst>
              <a:ext uri="{FF2B5EF4-FFF2-40B4-BE49-F238E27FC236}">
                <a16:creationId xmlns:a16="http://schemas.microsoft.com/office/drawing/2014/main" id="{24A425A9-B5AA-C366-D4CC-10C59D0E8745}"/>
              </a:ext>
            </a:extLst>
          </p:cNvPr>
          <p:cNvSpPr/>
          <p:nvPr/>
        </p:nvSpPr>
        <p:spPr>
          <a:xfrm>
            <a:off x="2129882" y="2908497"/>
            <a:ext cx="315640" cy="329509"/>
          </a:xfrm>
          <a:prstGeom prst="ellipse">
            <a:avLst/>
          </a:prstGeom>
          <a:solidFill>
            <a:srgbClr val="46C795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65" name="Graphic 1046" descr="Conductor male with solid fill">
            <a:extLst>
              <a:ext uri="{FF2B5EF4-FFF2-40B4-BE49-F238E27FC236}">
                <a16:creationId xmlns:a16="http://schemas.microsoft.com/office/drawing/2014/main" id="{B398363A-1BC0-8D51-BD21-D04EDDC3BF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72626" y="2953120"/>
            <a:ext cx="230151" cy="240264"/>
          </a:xfrm>
          <a:prstGeom prst="rect">
            <a:avLst/>
          </a:prstGeom>
        </p:spPr>
      </p:pic>
      <p:grpSp>
        <p:nvGrpSpPr>
          <p:cNvPr id="1031" name="Group 36">
            <a:extLst>
              <a:ext uri="{FF2B5EF4-FFF2-40B4-BE49-F238E27FC236}">
                <a16:creationId xmlns:a16="http://schemas.microsoft.com/office/drawing/2014/main" id="{1EDD1819-11C1-FB9A-486B-6CDA4AE533DD}"/>
              </a:ext>
            </a:extLst>
          </p:cNvPr>
          <p:cNvGrpSpPr/>
          <p:nvPr/>
        </p:nvGrpSpPr>
        <p:grpSpPr>
          <a:xfrm>
            <a:off x="3406809" y="972682"/>
            <a:ext cx="4202476" cy="3765200"/>
            <a:chOff x="3303577" y="1341493"/>
            <a:chExt cx="4202476" cy="3765200"/>
          </a:xfrm>
        </p:grpSpPr>
        <p:sp>
          <p:nvSpPr>
            <p:cNvPr id="1033" name="Rectangle: Rounded Corners 7">
              <a:extLst>
                <a:ext uri="{FF2B5EF4-FFF2-40B4-BE49-F238E27FC236}">
                  <a16:creationId xmlns:a16="http://schemas.microsoft.com/office/drawing/2014/main" id="{D6574021-68F0-A34A-5CD6-9F3825E3BF17}"/>
                </a:ext>
              </a:extLst>
            </p:cNvPr>
            <p:cNvSpPr/>
            <p:nvPr/>
          </p:nvSpPr>
          <p:spPr>
            <a:xfrm>
              <a:off x="4328716" y="1341493"/>
              <a:ext cx="2995567" cy="3765200"/>
            </a:xfrm>
            <a:prstGeom prst="roundRect">
              <a:avLst>
                <a:gd name="adj" fmla="val 11549"/>
              </a:avLst>
            </a:prstGeom>
            <a:noFill/>
            <a:ln w="25400" cap="flat">
              <a:solidFill>
                <a:schemeClr val="accent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CA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B8FF4539-7DB4-D06C-6323-177A41F3E00D}"/>
                </a:ext>
              </a:extLst>
            </p:cNvPr>
            <p:cNvSpPr/>
            <p:nvPr/>
          </p:nvSpPr>
          <p:spPr>
            <a:xfrm>
              <a:off x="5121104" y="1875469"/>
              <a:ext cx="1554480" cy="1554480"/>
            </a:xfrm>
            <a:prstGeom prst="ellipse">
              <a:avLst/>
            </a:prstGeom>
            <a:solidFill>
              <a:srgbClr val="46C795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37" name="Graphic 55" descr="Conductor male with solid fill">
              <a:extLst>
                <a:ext uri="{FF2B5EF4-FFF2-40B4-BE49-F238E27FC236}">
                  <a16:creationId xmlns:a16="http://schemas.microsoft.com/office/drawing/2014/main" id="{EAF520FA-D318-DB45-C71A-8B938E1890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331614" y="2085979"/>
              <a:ext cx="1133460" cy="1133460"/>
            </a:xfrm>
            <a:prstGeom prst="rect">
              <a:avLst/>
            </a:prstGeom>
          </p:spPr>
        </p:pic>
        <p:sp>
          <p:nvSpPr>
            <p:cNvPr id="1038" name="TextBox 9">
              <a:extLst>
                <a:ext uri="{FF2B5EF4-FFF2-40B4-BE49-F238E27FC236}">
                  <a16:creationId xmlns:a16="http://schemas.microsoft.com/office/drawing/2014/main" id="{35217BF2-666E-298B-93E3-0D7A7722AB83}"/>
                </a:ext>
              </a:extLst>
            </p:cNvPr>
            <p:cNvSpPr txBox="1"/>
            <p:nvPr/>
          </p:nvSpPr>
          <p:spPr>
            <a:xfrm>
              <a:off x="4328715" y="1437483"/>
              <a:ext cx="3177338" cy="4616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marL="0" marR="0" lvl="0" indent="0" algn="ctr" defTabSz="409575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Solace Agent Mesh</a:t>
              </a: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"/>
                <a:sym typeface="Gill Sans"/>
              </a:endParaRPr>
            </a:p>
          </p:txBody>
        </p:sp>
        <p:pic>
          <p:nvPicPr>
            <p:cNvPr id="1039" name="Graphic 8">
              <a:extLst>
                <a:ext uri="{FF2B5EF4-FFF2-40B4-BE49-F238E27FC236}">
                  <a16:creationId xmlns:a16="http://schemas.microsoft.com/office/drawing/2014/main" id="{B9FF3540-502F-F6D5-2D09-DABE2F3A4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13349" y="1952640"/>
              <a:ext cx="376368" cy="376368"/>
            </a:xfrm>
            <a:prstGeom prst="rect">
              <a:avLst/>
            </a:prstGeom>
          </p:spPr>
        </p:pic>
        <p:sp>
          <p:nvSpPr>
            <p:cNvPr id="1040" name="TextBox 23">
              <a:extLst>
                <a:ext uri="{FF2B5EF4-FFF2-40B4-BE49-F238E27FC236}">
                  <a16:creationId xmlns:a16="http://schemas.microsoft.com/office/drawing/2014/main" id="{B98FB564-888A-04D5-E6E8-5F4526293CDE}"/>
                </a:ext>
              </a:extLst>
            </p:cNvPr>
            <p:cNvSpPr txBox="1"/>
            <p:nvPr/>
          </p:nvSpPr>
          <p:spPr>
            <a:xfrm>
              <a:off x="4512893" y="3777103"/>
              <a:ext cx="1410177" cy="2896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Built-In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Agents</a:t>
              </a:r>
              <a:endParaRPr lang="en-US" sz="1200" b="1" dirty="0">
                <a:latin typeface="Calibri" panose="020F0502020204030204"/>
              </a:endParaRP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endParaRPr>
            </a:p>
          </p:txBody>
        </p:sp>
        <p:pic>
          <p:nvPicPr>
            <p:cNvPr id="1042" name="Graphic 34">
              <a:extLst>
                <a:ext uri="{FF2B5EF4-FFF2-40B4-BE49-F238E27FC236}">
                  <a16:creationId xmlns:a16="http://schemas.microsoft.com/office/drawing/2014/main" id="{C984F6DF-3375-F5A5-5EAC-1B759A0161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490600" y="4020528"/>
              <a:ext cx="281501" cy="281501"/>
            </a:xfrm>
            <a:prstGeom prst="rect">
              <a:avLst/>
            </a:prstGeom>
          </p:spPr>
        </p:pic>
        <p:sp>
          <p:nvSpPr>
            <p:cNvPr id="1043" name="TextBox 35">
              <a:extLst>
                <a:ext uri="{FF2B5EF4-FFF2-40B4-BE49-F238E27FC236}">
                  <a16:creationId xmlns:a16="http://schemas.microsoft.com/office/drawing/2014/main" id="{4D46E97D-F110-72BB-8E42-48327BF6F8C0}"/>
                </a:ext>
              </a:extLst>
            </p:cNvPr>
            <p:cNvSpPr txBox="1"/>
            <p:nvPr/>
          </p:nvSpPr>
          <p:spPr>
            <a:xfrm>
              <a:off x="4760562" y="4011778"/>
              <a:ext cx="555004" cy="402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74747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REST</a:t>
              </a:r>
            </a:p>
          </p:txBody>
        </p:sp>
        <p:pic>
          <p:nvPicPr>
            <p:cNvPr id="1044" name="Graphic 37">
              <a:extLst>
                <a:ext uri="{FF2B5EF4-FFF2-40B4-BE49-F238E27FC236}">
                  <a16:creationId xmlns:a16="http://schemas.microsoft.com/office/drawing/2014/main" id="{BDC52DC8-7012-F3EB-A84E-8FC96A1EF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510594" y="4318245"/>
              <a:ext cx="334687" cy="334687"/>
            </a:xfrm>
            <a:prstGeom prst="rect">
              <a:avLst/>
            </a:prstGeom>
          </p:spPr>
        </p:pic>
        <p:sp>
          <p:nvSpPr>
            <p:cNvPr id="1045" name="TextBox 44">
              <a:extLst>
                <a:ext uri="{FF2B5EF4-FFF2-40B4-BE49-F238E27FC236}">
                  <a16:creationId xmlns:a16="http://schemas.microsoft.com/office/drawing/2014/main" id="{8D276BEE-34C7-3E55-79F7-EC0A4E273889}"/>
                </a:ext>
              </a:extLst>
            </p:cNvPr>
            <p:cNvSpPr txBox="1"/>
            <p:nvPr/>
          </p:nvSpPr>
          <p:spPr>
            <a:xfrm>
              <a:off x="4788274" y="4282385"/>
              <a:ext cx="1280265" cy="27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Image </a:t>
              </a: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Processing</a:t>
              </a:r>
            </a:p>
          </p:txBody>
        </p:sp>
        <p:pic>
          <p:nvPicPr>
            <p:cNvPr id="1046" name="Graphic 24">
              <a:extLst>
                <a:ext uri="{FF2B5EF4-FFF2-40B4-BE49-F238E27FC236}">
                  <a16:creationId xmlns:a16="http://schemas.microsoft.com/office/drawing/2014/main" id="{3F66F8AD-EA72-0B1F-BF5F-A717E0075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390569" y="3436553"/>
              <a:ext cx="376368" cy="376368"/>
            </a:xfrm>
            <a:prstGeom prst="rect">
              <a:avLst/>
            </a:prstGeom>
          </p:spPr>
        </p:pic>
        <p:sp>
          <p:nvSpPr>
            <p:cNvPr id="1047" name="Rectangle 32">
              <a:extLst>
                <a:ext uri="{FF2B5EF4-FFF2-40B4-BE49-F238E27FC236}">
                  <a16:creationId xmlns:a16="http://schemas.microsoft.com/office/drawing/2014/main" id="{7ED3A15F-7418-A200-40D7-1004B01F5964}"/>
                </a:ext>
              </a:extLst>
            </p:cNvPr>
            <p:cNvSpPr/>
            <p:nvPr/>
          </p:nvSpPr>
          <p:spPr>
            <a:xfrm>
              <a:off x="4488621" y="3742032"/>
              <a:ext cx="1076429" cy="1042290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8" name="TextBox 25">
              <a:extLst>
                <a:ext uri="{FF2B5EF4-FFF2-40B4-BE49-F238E27FC236}">
                  <a16:creationId xmlns:a16="http://schemas.microsoft.com/office/drawing/2014/main" id="{0E52529C-0EAF-F368-3348-9594D9335D99}"/>
                </a:ext>
              </a:extLst>
            </p:cNvPr>
            <p:cNvSpPr txBox="1"/>
            <p:nvPr/>
          </p:nvSpPr>
          <p:spPr>
            <a:xfrm>
              <a:off x="4489835" y="3457564"/>
              <a:ext cx="1895081" cy="3541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latin typeface="Calibri" panose="020F0502020204030204"/>
                  <a:ea typeface="Gill Sans"/>
                  <a:cs typeface="Gill Sans"/>
                </a:rPr>
                <a:t>Agent</a:t>
              </a:r>
              <a:r>
                <a:rPr lang="en-US" sz="1200" b="1" dirty="0">
                  <a:latin typeface="Calibri" panose="020F0502020204030204"/>
                </a:rPr>
                <a:t>2Agent Protocol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(A2</a:t>
              </a:r>
              <a:r>
                <a:rPr lang="en-US" sz="1200" b="1" dirty="0">
                  <a:latin typeface="Calibri" panose="020F0502020204030204"/>
                </a:rPr>
                <a:t>A)</a:t>
              </a: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9" name="Up-Down Arrow 14">
              <a:extLst>
                <a:ext uri="{FF2B5EF4-FFF2-40B4-BE49-F238E27FC236}">
                  <a16:creationId xmlns:a16="http://schemas.microsoft.com/office/drawing/2014/main" id="{55026B7E-A505-0C34-DF8D-2F79EF6C0096}"/>
                </a:ext>
              </a:extLst>
            </p:cNvPr>
            <p:cNvSpPr/>
            <p:nvPr/>
          </p:nvSpPr>
          <p:spPr>
            <a:xfrm rot="16200000">
              <a:off x="3703408" y="2311114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69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E7460B21-8E5D-3431-EFC2-CB1A96217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068672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0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831626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1" name="TextBox 5">
            <a:extLst>
              <a:ext uri="{FF2B5EF4-FFF2-40B4-BE49-F238E27FC236}">
                <a16:creationId xmlns:a16="http://schemas.microsoft.com/office/drawing/2014/main" id="{DD40BCCE-64FC-B274-3A74-3B029A09EE0F}"/>
              </a:ext>
            </a:extLst>
          </p:cNvPr>
          <p:cNvSpPr txBox="1"/>
          <p:nvPr/>
        </p:nvSpPr>
        <p:spPr>
          <a:xfrm>
            <a:off x="10280580" y="1010903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PDM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mfg_pdm</a:t>
            </a:r>
          </a:p>
          <a:p>
            <a:pPr algn="l"/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72" name="TextBox 5">
            <a:extLst>
              <a:ext uri="{FF2B5EF4-FFF2-40B4-BE49-F238E27FC236}">
                <a16:creationId xmlns:a16="http://schemas.microsoft.com/office/drawing/2014/main" id="{C62B5860-266D-57E1-5C61-133645FC26E9}"/>
              </a:ext>
            </a:extLst>
          </p:cNvPr>
          <p:cNvSpPr txBox="1"/>
          <p:nvPr/>
        </p:nvSpPr>
        <p:spPr>
          <a:xfrm>
            <a:off x="10280580" y="186727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OMS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mfg_oms</a:t>
            </a:r>
          </a:p>
        </p:txBody>
      </p:sp>
      <p:sp>
        <p:nvSpPr>
          <p:cNvPr id="1073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259689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CRM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mfg_crm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92" name="TextBox 1052">
            <a:extLst>
              <a:ext uri="{FF2B5EF4-FFF2-40B4-BE49-F238E27FC236}">
                <a16:creationId xmlns:a16="http://schemas.microsoft.com/office/drawing/2014/main" id="{C1F9F214-9408-5D45-718C-71CD544C45E7}"/>
              </a:ext>
            </a:extLst>
          </p:cNvPr>
          <p:cNvSpPr txBox="1"/>
          <p:nvPr/>
        </p:nvSpPr>
        <p:spPr>
          <a:xfrm>
            <a:off x="7973904" y="116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3" name="Graphic 1054">
            <a:extLst>
              <a:ext uri="{FF2B5EF4-FFF2-40B4-BE49-F238E27FC236}">
                <a16:creationId xmlns:a16="http://schemas.microsoft.com/office/drawing/2014/main" id="{2C01455E-EEFB-5508-B9CF-23F5A4FA32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5797" y="1194872"/>
            <a:ext cx="281501" cy="281501"/>
          </a:xfrm>
          <a:prstGeom prst="rect">
            <a:avLst/>
          </a:prstGeom>
        </p:spPr>
      </p:pic>
      <p:sp>
        <p:nvSpPr>
          <p:cNvPr id="109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1930005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1958173"/>
            <a:ext cx="281501" cy="281501"/>
          </a:xfrm>
          <a:prstGeom prst="rect">
            <a:avLst/>
          </a:prstGeom>
        </p:spPr>
      </p:pic>
      <p:sp>
        <p:nvSpPr>
          <p:cNvPr id="1096" name="Up-Down Arrow 22">
            <a:extLst>
              <a:ext uri="{FF2B5EF4-FFF2-40B4-BE49-F238E27FC236}">
                <a16:creationId xmlns:a16="http://schemas.microsoft.com/office/drawing/2014/main" id="{95D9E068-071F-155A-1796-A2CED7164EC7}"/>
              </a:ext>
            </a:extLst>
          </p:cNvPr>
          <p:cNvSpPr/>
          <p:nvPr/>
        </p:nvSpPr>
        <p:spPr>
          <a:xfrm rot="2853404" flipH="1">
            <a:off x="7115174" y="123051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Up-Down Arrow 22">
            <a:extLst>
              <a:ext uri="{FF2B5EF4-FFF2-40B4-BE49-F238E27FC236}">
                <a16:creationId xmlns:a16="http://schemas.microsoft.com/office/drawing/2014/main" id="{C64D994C-31B3-BB4F-8A47-D9CEC73B238C}"/>
              </a:ext>
            </a:extLst>
          </p:cNvPr>
          <p:cNvSpPr/>
          <p:nvPr/>
        </p:nvSpPr>
        <p:spPr>
          <a:xfrm rot="5400000" flipH="1">
            <a:off x="7122030" y="165199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6345828" flipH="1">
            <a:off x="7099441" y="2178437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Up-Down Arrow 22">
            <a:extLst>
              <a:ext uri="{FF2B5EF4-FFF2-40B4-BE49-F238E27FC236}">
                <a16:creationId xmlns:a16="http://schemas.microsoft.com/office/drawing/2014/main" id="{0822553D-68CF-E16D-1FA3-9B68D9FE2F5C}"/>
              </a:ext>
            </a:extLst>
          </p:cNvPr>
          <p:cNvSpPr/>
          <p:nvPr/>
        </p:nvSpPr>
        <p:spPr>
          <a:xfrm rot="8318964" flipH="1">
            <a:off x="7011883" y="2598249"/>
            <a:ext cx="187410" cy="1444094"/>
          </a:xfrm>
          <a:prstGeom prst="up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1" descr="claude.png">
            <a:extLst>
              <a:ext uri="{FF2B5EF4-FFF2-40B4-BE49-F238E27FC236}">
                <a16:creationId xmlns:a16="http://schemas.microsoft.com/office/drawing/2014/main" id="{143B0B45-B5C8-78FD-BA0D-4AE01923F91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16254" y="1993231"/>
            <a:ext cx="402240" cy="402240"/>
          </a:xfrm>
          <a:prstGeom prst="rect">
            <a:avLst/>
          </a:prstGeom>
        </p:spPr>
      </p:pic>
      <p:pic>
        <p:nvPicPr>
          <p:cNvPr id="1101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265176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324612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3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275234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sp>
        <p:nvSpPr>
          <p:cNvPr id="110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334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10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2779776"/>
            <a:ext cx="281501" cy="281501"/>
          </a:xfrm>
          <a:prstGeom prst="rect">
            <a:avLst/>
          </a:prstGeom>
        </p:spPr>
      </p:pic>
      <p:pic>
        <p:nvPicPr>
          <p:cNvPr id="1106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3374136"/>
            <a:ext cx="281501" cy="281501"/>
          </a:xfrm>
          <a:prstGeom prst="rect">
            <a:avLst/>
          </a:prstGeom>
        </p:spPr>
      </p:pic>
      <p:sp>
        <p:nvSpPr>
          <p:cNvPr id="1107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319125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SCM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mfg_scm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10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7355480" flipH="1">
            <a:off x="7102319" y="2389532"/>
            <a:ext cx="166032" cy="1171635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9" name="Story Badge 1"/>
          <p:cNvSpPr/>
          <p:nvPr/>
        </p:nvSpPr>
        <p:spPr>
          <a:xfrm>
            <a:off x="201168" y="4681728"/>
            <a:ext cx="384048" cy="384048"/>
          </a:xfrm>
          <a:prstGeom prst="ellipse">
            <a:avLst/>
          </a:prstGeom>
          <a:solidFill>
            <a:srgbClr val="00A76D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10" name="Story Text 1"/>
          <p:cNvSpPr txBox="1"/>
          <p:nvPr/>
        </p:nvSpPr>
        <p:spPr>
          <a:xfrm>
            <a:off x="676656" y="4663440"/>
            <a:ext cx="1133856" cy="914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100" b="1" dirty="0">
                <a:solidFill>
                  <a:srgbClr val="00A76D"/>
                </a:solidFill>
              </a:rPr>
              <a:t>Release orders</a:t>
            </a:r>
          </a:p>
          <a:p>
            <a:r>
              <a:rPr lang="en-US" sz="900" dirty="0">
                <a:solidFill>
                  <a:srgbClr val="595959"/>
                </a:solidFill>
              </a:rPr>
              <a:t>one click, then only events</a:t>
            </a:r>
          </a:p>
        </p:txBody>
      </p:sp>
      <p:sp>
        <p:nvSpPr>
          <p:cNvPr id="1111" name="Story Badge 3"/>
          <p:cNvSpPr/>
          <p:nvPr/>
        </p:nvSpPr>
        <p:spPr>
          <a:xfrm>
            <a:off x="10277856" y="4700016"/>
            <a:ext cx="384048" cy="384048"/>
          </a:xfrm>
          <a:prstGeom prst="ellipse">
            <a:avLst/>
          </a:prstGeom>
          <a:solidFill>
            <a:srgbClr val="E8890C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12" name="Story Text 3"/>
          <p:cNvSpPr txBox="1"/>
          <p:nvPr/>
        </p:nvSpPr>
        <p:spPr>
          <a:xfrm>
            <a:off x="10771632" y="4681728"/>
            <a:ext cx="1353312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E8890C"/>
                </a:solidFill>
              </a:rPr>
              <a:t>Prevent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stock threshold event fires - replenish before line-down</a:t>
            </a:r>
          </a:p>
        </p:txBody>
      </p:sp>
      <p:sp>
        <p:nvSpPr>
          <p:cNvPr id="1113" name="Story Badge 2"/>
          <p:cNvSpPr/>
          <p:nvPr/>
        </p:nvSpPr>
        <p:spPr>
          <a:xfrm>
            <a:off x="10277856" y="5532120"/>
            <a:ext cx="384048" cy="38404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14" name="Story Text 2"/>
          <p:cNvSpPr txBox="1"/>
          <p:nvPr/>
        </p:nvSpPr>
        <p:spPr>
          <a:xfrm>
            <a:off x="10771632" y="5513832"/>
            <a:ext cx="1353312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C62828"/>
                </a:solidFill>
              </a:rPr>
              <a:t>React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EOL test fails – the quality incident report names the ECO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Demo in the Lifecycle</a:t>
            </a:r>
            <a:br>
              <a:rPr lang="en-US"/>
            </a:br>
            <a:r>
              <a:rPr lang="en-US" sz="2400"/>
              <a:t>What you just saw, stage by stage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Dashboards, broker traces,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 gate in CI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Event-driven react + prevent: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8 agents, 4 models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 shown today (HITL coming)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Versioned schema skills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(mfg-*-schema)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MongoDB connector, scoped creds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Job posting → Shop Floor Analyst built live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theme/theme1.xml><?xml version="1.0" encoding="utf-8"?>
<a:theme xmlns:a="http://schemas.openxmlformats.org/drawingml/2006/main" name="Solace Cover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PPT Template - v2.3" id="{6ED5406F-02DB-0040-8A15-E91D241744F1}" vid="{C7064155-23FD-BF44-B3E0-18CB5DA18D1B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mpetitors xmlns="3a815f5c-a5cd-4b90-880c-94b0fde8c1f2" xsi:nil="true"/>
    <Industry xmlns="3a815f5c-a5cd-4b90-880c-94b0fde8c1f2" xsi:nil="true"/>
    <Product_x002f_Feature_x002f_Function_x0020__x0028_Multi-select_x0029_ xmlns="3a815f5c-a5cd-4b90-880c-94b0fde8c1f2" xsi:nil="true"/>
    <Partner xmlns="3a815f5c-a5cd-4b90-880c-94b0fde8c1f2" xsi:nil="true"/>
    <lcf76f155ced4ddcb4097134ff3c332f xmlns="22c9c32c-1409-489b-8a0e-8e72e0a66b7a">
      <Terms xmlns="http://schemas.microsoft.com/office/infopath/2007/PartnerControls"/>
    </lcf76f155ced4ddcb4097134ff3c332f>
    <TaxCatchAll xmlns="3a815f5c-a5cd-4b90-880c-94b0fde8c1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436CFE72F23C489C3D6E05FEE7A7E7" ma:contentTypeVersion="26" ma:contentTypeDescription="Create a new document." ma:contentTypeScope="" ma:versionID="a2048592e12e647f808186a62f2da4c8">
  <xsd:schema xmlns:xsd="http://www.w3.org/2001/XMLSchema" xmlns:xs="http://www.w3.org/2001/XMLSchema" xmlns:p="http://schemas.microsoft.com/office/2006/metadata/properties" xmlns:ns2="22c9c32c-1409-489b-8a0e-8e72e0a66b7a" xmlns:ns3="3a815f5c-a5cd-4b90-880c-94b0fde8c1f2" targetNamespace="http://schemas.microsoft.com/office/2006/metadata/properties" ma:root="true" ma:fieldsID="c6545fdc1f898683995ceceab67032c1" ns2:_="" ns3:_="">
    <xsd:import namespace="22c9c32c-1409-489b-8a0e-8e72e0a66b7a"/>
    <xsd:import namespace="3a815f5c-a5cd-4b90-880c-94b0fde8c1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Industry" minOccurs="0"/>
                <xsd:element ref="ns3:Competitors" minOccurs="0"/>
                <xsd:element ref="ns3:Partner" minOccurs="0"/>
                <xsd:element ref="ns3:Product_x002f_Feature_x002f_Function_x0020__x0028_Multi-select_x0029_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c9c32c-1409-489b-8a0e-8e72e0a66b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description="" ma:indexed="true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bc2f205f-3591-4b07-93bc-42e411de05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815f5c-a5cd-4b90-880c-94b0fde8c1f2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Industry" ma:index="20" nillable="true" ma:displayName="Solutions" ma:internalName="Industry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--IndustryOrVertical--"/>
                    <xsd:enumeration value="Aviation"/>
                    <xsd:enumeration value="Capital Markets"/>
                    <xsd:enumeration value="Post-Trade Processing Modernization"/>
                    <xsd:enumeration value="eFX Modernization"/>
                    <xsd:enumeration value="FX Trading"/>
                    <xsd:enumeration value="Exchanges"/>
                    <xsd:enumeration value="Banking"/>
                    <xsd:enumeration value="Insurance"/>
                    <xsd:enumeration value="Payments"/>
                    <xsd:enumeration value="Telecom"/>
                    <xsd:enumeration value="Transportation and Logistics"/>
                    <xsd:enumeration value="Pharmaceuticals"/>
                    <xsd:enumeration value="Manufacturing"/>
                    <xsd:enumeration value="Retail​​​​​​​"/>
                    <xsd:enumeration value="Consumer Packaged Goods (CPG)"/>
                    <xsd:enumeration value="Energy and Resources"/>
                    <xsd:enumeration value="Gaming"/>
                    <xsd:enumeration value="Government"/>
                    <xsd:enumeration value="--Horizontal Business--"/>
                    <xsd:enumeration value="Real-time Supply Chain"/>
                    <xsd:enumeration value="Real-time Order and Inventory Management - Lead to Cash"/>
                    <xsd:enumeration value="Post Trade Event Mesh"/>
                    <xsd:enumeration value="Real Time Payments Transformation"/>
                    <xsd:enumeration value="Digital Factory"/>
                    <xsd:enumeration value="Hire to retire"/>
                    <xsd:enumeration value="Connected Vehicle - Car, Rail, Marine, Air"/>
                    <xsd:enumeration value="E-comm and Retail Store Transformation"/>
                    <xsd:enumeration value="--Horizontal Technical--"/>
                    <xsd:enumeration value="Middleware Modernization (rip and replace)"/>
                    <xsd:enumeration value="Event Driven IoT​​​​​​​"/>
                    <xsd:enumeration value="Event Driven Integration"/>
                    <xsd:enumeration value="Event Driven Architecture"/>
                    <xsd:enumeration value="Event Driven APIs"/>
                    <xsd:enumeration value="Event Driven Microservices"/>
                    <xsd:enumeration value="Hybrid Cloud"/>
                    <xsd:enumeration value="Event Streaming"/>
                    <xsd:enumeration value="High Performance Messaging"/>
                  </xsd:restriction>
                </xsd:simpleType>
              </xsd:element>
            </xsd:sequence>
          </xsd:extension>
        </xsd:complexContent>
      </xsd:complexType>
    </xsd:element>
    <xsd:element name="Competitors" ma:index="21" nillable="true" ma:displayName="Competitors" ma:description="Competitors or competitor brokers" ma:indexed="true" ma:internalName="Competitors">
      <xsd:simpleType>
        <xsd:restriction base="dms:Text">
          <xsd:maxLength value="255"/>
        </xsd:restriction>
      </xsd:simpleType>
    </xsd:element>
    <xsd:element name="Partner" ma:index="22" nillable="true" ma:displayName="Partner" ma:indexed="true" ma:internalName="Partner">
      <xsd:simpleType>
        <xsd:restriction base="dms:Text">
          <xsd:maxLength value="255"/>
        </xsd:restriction>
      </xsd:simpleType>
    </xsd:element>
    <xsd:element name="Product_x002f_Feature_x002f_Function_x0020__x0028_Multi-select_x0029_" ma:index="23" nillable="true" ma:displayName="Product/Feature/Function (Multi-select)" ma:internalName="Product_x002F_Feature_x002F_Function_x0020__x0028_Multi_x002d_select_x0029_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Distributed Tracing"/>
                    <xsd:enumeration value="Event Portal for Solace"/>
                    <xsd:enumeration value="Event Portal for Kafka"/>
                    <xsd:enumeration value="Partitioned Queues"/>
                    <xsd:enumeration value="Support Services"/>
                  </xsd:restriction>
                </xsd:simpleType>
              </xsd:element>
            </xsd:sequence>
          </xsd:extension>
        </xsd:complexContent>
      </xsd:complexType>
    </xsd:element>
    <xsd:element name="TaxCatchAll" ma:index="27" nillable="true" ma:displayName="Taxonomy Catch All Column" ma:hidden="true" ma:list="{021e00c7-3115-49f0-b64a-cb3b8180b352}" ma:internalName="TaxCatchAll" ma:showField="CatchAllData" ma:web="3a815f5c-a5cd-4b90-880c-94b0fde8c1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84DDC01-D87E-4995-8BE8-CDC838272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87374D4-38C3-4AB6-BA51-B10FCF82067A}">
  <ds:schemaRefs>
    <ds:schemaRef ds:uri="http://schemas.microsoft.com/office/2006/metadata/properties"/>
    <ds:schemaRef ds:uri="http://schemas.microsoft.com/office/infopath/2007/PartnerControls"/>
    <ds:schemaRef ds:uri="3a815f5c-a5cd-4b90-880c-94b0fde8c1f2"/>
    <ds:schemaRef ds:uri="22c9c32c-1409-489b-8a0e-8e72e0a66b7a"/>
  </ds:schemaRefs>
</ds:datastoreItem>
</file>

<file path=customXml/itemProps3.xml><?xml version="1.0" encoding="utf-8"?>
<ds:datastoreItem xmlns:ds="http://schemas.openxmlformats.org/officeDocument/2006/customXml" ds:itemID="{3C6A39DD-970A-44A1-A020-E572850544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c9c32c-1409-489b-8a0e-8e72e0a66b7a"/>
    <ds:schemaRef ds:uri="3a815f5c-a5cd-4b90-880c-94b0fde8c1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896</Words>
  <Application>Microsoft Macintosh PowerPoint</Application>
  <PresentationFormat>Breitbild</PresentationFormat>
  <Paragraphs>126</Paragraphs>
  <Slides>4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</vt:i4>
      </vt:variant>
    </vt:vector>
  </HeadingPairs>
  <TitlesOfParts>
    <vt:vector size="13" baseType="lpstr">
      <vt:lpstr>72 Brand Medium</vt:lpstr>
      <vt:lpstr>Aptos</vt:lpstr>
      <vt:lpstr>Arial</vt:lpstr>
      <vt:lpstr>Calibri</vt:lpstr>
      <vt:lpstr>Gill Sans</vt:lpstr>
      <vt:lpstr>Segoe UI</vt:lpstr>
      <vt:lpstr>Solace Covers</vt:lpstr>
      <vt:lpstr>Solace Slides</vt:lpstr>
      <vt:lpstr>1_Solace Slides</vt:lpstr>
      <vt:lpstr>Solace Agent Mesh Vision Managing Your AI Worker Lifecycle</vt:lpstr>
      <vt:lpstr>The Use Case: One Engineering Change, Two Movements</vt:lpstr>
      <vt:lpstr>Live Demo: Event-Driven Manufacturing Operations</vt:lpstr>
      <vt:lpstr>The Demo in the Lifecycle What you just saw, stage by stage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 v2 - AI Worker Lifecycle - Manufacturing</dc:title>
  <dc:creator>Luke Johnson</dc:creator>
  <cp:lastModifiedBy>EXTERNAL Martens Alexander (Solace, BD/DPA-GOI7)</cp:lastModifiedBy>
  <cp:revision>21</cp:revision>
  <dcterms:created xsi:type="dcterms:W3CDTF">2025-05-07T00:01:48Z</dcterms:created>
  <dcterms:modified xsi:type="dcterms:W3CDTF">2026-08-11T11:31:57Z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0x0101004A436CFE72F23C489C3D6E05FEE7A7E7</vt:lpwstr>
  </property>
</Properties>
</file>