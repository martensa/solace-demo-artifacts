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61" r:id="rId6"/>
  </p:sldMasterIdLst>
  <p:notesMasterIdLst>
    <p:notesMasterId r:id="rId11"/>
  </p:notesMasterIdLst>
  <p:sldIdLst>
    <p:sldId id="308" r:id="rId7"/>
    <p:sldId id="258" r:id="rId8"/>
    <p:sldId id="256" r:id="rId9"/>
    <p:sldId id="257" r:id="rId10"/>
    <p:sldId id="309" r:id="rId17"/>
    <p:sldId id="31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74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8858F5-D1AE-7179-FEBE-A4E040C90DB2}" v="49" dt="2025-07-08T13:51:20.1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23"/>
  </p:normalViewPr>
  <p:slideViewPr>
    <p:cSldViewPr snapToGrid="0">
      <p:cViewPr varScale="1">
        <p:scale>
          <a:sx n="117" d="100"/>
          <a:sy n="117" d="100"/>
        </p:scale>
        <p:origin x="552" y="184"/>
      </p:cViewPr>
      <p:guideLst>
        <p:guide orient="horz" pos="3748"/>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5/10/relationships/revisionInfo" Target="revisionInfo.xml"/><Relationship Id="rId17" Type="http://schemas.openxmlformats.org/officeDocument/2006/relationships/slide" Target="slides/slide5.xml"/><Relationship Id="rId1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8AAD14-9C34-4AA5-B94E-6692F6349C36}" type="datetimeFigureOut">
              <a:rPr lang="en-US" smtClean="0"/>
              <a:t>7/21/26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B7F935-64E3-4FF9-8DEF-2D51FA78877D}" type="slidenum">
              <a:rPr lang="en-US" smtClean="0"/>
              <a:t>‹Nr.›</a:t>
            </a:fld>
            <a:endParaRPr lang="en-US"/>
          </a:p>
        </p:txBody>
      </p:sp>
    </p:spTree>
    <p:extLst>
      <p:ext uri="{BB962C8B-B14F-4D97-AF65-F5344CB8AC3E}">
        <p14:creationId xmlns:p14="http://schemas.microsoft.com/office/powerpoint/2010/main" val="13365975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5A007-270C-E49D-37DE-59D0B711C2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77E5F2-6AAC-3C25-B02B-76DE3D39A7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ED84E4E-C807-B7A1-A2FE-88CE5650EF19}"/>
              </a:ext>
            </a:extLst>
          </p:cNvPr>
          <p:cNvSpPr>
            <a:spLocks noGrp="1"/>
          </p:cNvSpPr>
          <p:nvPr>
            <p:ph type="body" idx="1"/>
          </p:nvPr>
        </p:nvSpPr>
        <p:spPr/>
        <p:txBody>
          <a:bodyPr/>
          <a:lstStyle/>
          <a:p>
            <a:endParaRPr lang="en-US" dirty="0"/>
          </a:p>
          <a:p>
            <a:r>
              <a:rPr lang="en-US" dirty="0"/>
              <a:t>So how do they work together?</a:t>
            </a:r>
          </a:p>
          <a:p>
            <a:endParaRPr lang="en-US" dirty="0"/>
          </a:p>
          <a:p>
            <a:r>
              <a:rPr lang="en-US" dirty="0"/>
              <a:t>Micro services parallel and what we learned from them in the industry </a:t>
            </a:r>
          </a:p>
          <a:p>
            <a:r>
              <a:rPr lang="en-US" dirty="0"/>
              <a:t>- Smaller domain specific micro services are key </a:t>
            </a:r>
          </a:p>
          <a:p>
            <a:pPr marL="171450" indent="-171450">
              <a:buFontTx/>
              <a:buChar char="-"/>
            </a:pPr>
            <a:r>
              <a:rPr lang="en-US" dirty="0"/>
              <a:t>Point to point integration between microservices results in operational instability and it is almost like building a house of cards</a:t>
            </a:r>
          </a:p>
          <a:p>
            <a:pPr marL="171450" indent="-171450">
              <a:buFontTx/>
              <a:buChar char="-"/>
            </a:pPr>
            <a:r>
              <a:rPr lang="en-US" dirty="0"/>
              <a:t>The solution to that was EDA </a:t>
            </a:r>
          </a:p>
          <a:p>
            <a:pPr marL="171450" indent="-171450">
              <a:buFontTx/>
              <a:buChar char="-"/>
            </a:pPr>
            <a:r>
              <a:rPr lang="en-US" dirty="0"/>
              <a:t>And the solution to better agentic AI is also EDA</a:t>
            </a:r>
          </a:p>
          <a:p>
            <a:pPr marL="171450" indent="-171450">
              <a:buFontTx/>
              <a:buChar char="-"/>
            </a:pPr>
            <a:endParaRPr lang="en-US" dirty="0"/>
          </a:p>
          <a:p>
            <a:r>
              <a:rPr lang="en-US" sz="1200" kern="1200" dirty="0">
                <a:solidFill>
                  <a:schemeClr val="tx1"/>
                </a:solidFill>
                <a:effectLst/>
                <a:latin typeface="+mn-lt"/>
                <a:ea typeface="+mn-ea"/>
                <a:cs typeface="+mn-cs"/>
              </a:rPr>
              <a:t>Most AI orchestration frameworks focus on </a:t>
            </a:r>
            <a:r>
              <a:rPr lang="en-US" sz="1200" b="1" kern="1200" dirty="0">
                <a:solidFill>
                  <a:schemeClr val="tx1"/>
                </a:solidFill>
                <a:effectLst/>
                <a:latin typeface="+mn-lt"/>
                <a:ea typeface="+mn-ea"/>
                <a:cs typeface="+mn-cs"/>
              </a:rPr>
              <a:t>sequential reasoning</a:t>
            </a:r>
            <a:r>
              <a:rPr lang="en-US" sz="1200" kern="1200" dirty="0">
                <a:solidFill>
                  <a:schemeClr val="tx1"/>
                </a:solidFill>
                <a:effectLst/>
                <a:latin typeface="+mn-lt"/>
                <a:ea typeface="+mn-ea"/>
                <a:cs typeface="+mn-cs"/>
              </a:rPr>
              <a:t>. Agent A calls Agent B, which calls Agent C, and eventually you get an answer. That works fine for batch processing and chatbots, but it falls apart when you need:</a:t>
            </a:r>
          </a:p>
          <a:p>
            <a:pPr marL="228600" lvl="0" indent="-228600">
              <a:buFont typeface="+mj-lt"/>
              <a:buAutoNum type="arabicPeriod"/>
            </a:pPr>
            <a:r>
              <a:rPr lang="en-US" sz="1200" b="1" kern="1200" dirty="0">
                <a:solidFill>
                  <a:schemeClr val="tx1"/>
                </a:solidFill>
                <a:effectLst/>
                <a:latin typeface="+mn-lt"/>
                <a:ea typeface="+mn-ea"/>
                <a:cs typeface="+mn-cs"/>
              </a:rPr>
              <a:t>True real-time event processing</a:t>
            </a:r>
            <a:r>
              <a:rPr lang="en-US" sz="1200" kern="1200" dirty="0">
                <a:solidFill>
                  <a:schemeClr val="tx1"/>
                </a:solidFill>
                <a:effectLst/>
                <a:latin typeface="+mn-lt"/>
                <a:ea typeface="+mn-ea"/>
                <a:cs typeface="+mn-cs"/>
              </a:rPr>
              <a:t>: Data arriving continuously, not on request</a:t>
            </a:r>
          </a:p>
          <a:p>
            <a:pPr marL="228600" lvl="0" indent="-228600">
              <a:buFont typeface="+mj-lt"/>
              <a:buAutoNum type="arabicPeriod"/>
            </a:pPr>
            <a:r>
              <a:rPr lang="en-US" sz="1200" b="1" kern="1200" dirty="0">
                <a:solidFill>
                  <a:schemeClr val="tx1"/>
                </a:solidFill>
                <a:effectLst/>
                <a:latin typeface="+mn-lt"/>
                <a:ea typeface="+mn-ea"/>
                <a:cs typeface="+mn-cs"/>
              </a:rPr>
              <a:t>Loose coupling at scale</a:t>
            </a:r>
            <a:r>
              <a:rPr lang="en-US" sz="1200" kern="1200" dirty="0">
                <a:solidFill>
                  <a:schemeClr val="tx1"/>
                </a:solidFill>
                <a:effectLst/>
                <a:latin typeface="+mn-lt"/>
                <a:ea typeface="+mn-ea"/>
                <a:cs typeface="+mn-cs"/>
              </a:rPr>
              <a:t>: Agents that can be added, removed, or updated without touching anything else</a:t>
            </a:r>
          </a:p>
          <a:p>
            <a:pPr marL="228600" lvl="0" indent="-228600">
              <a:buFont typeface="+mj-lt"/>
              <a:buAutoNum type="arabicPeriod"/>
            </a:pPr>
            <a:r>
              <a:rPr lang="en-US" sz="1200" b="1" kern="1200" dirty="0">
                <a:solidFill>
                  <a:schemeClr val="tx1"/>
                </a:solidFill>
                <a:effectLst/>
                <a:latin typeface="+mn-lt"/>
                <a:ea typeface="+mn-ea"/>
                <a:cs typeface="+mn-cs"/>
              </a:rPr>
              <a:t>Enterprise-grade reliability</a:t>
            </a:r>
            <a:r>
              <a:rPr lang="en-US" sz="1200" kern="1200" dirty="0">
                <a:solidFill>
                  <a:schemeClr val="tx1"/>
                </a:solidFill>
                <a:effectLst/>
                <a:latin typeface="+mn-lt"/>
                <a:ea typeface="+mn-ea"/>
                <a:cs typeface="+mn-cs"/>
              </a:rPr>
              <a:t>: Message persistence, guaranteed delivery, automatic reconnection</a:t>
            </a:r>
          </a:p>
          <a:p>
            <a:pPr marL="228600" lvl="0" indent="-228600">
              <a:buFont typeface="+mj-lt"/>
              <a:buAutoNum type="arabicPeriod"/>
            </a:pPr>
            <a:r>
              <a:rPr lang="en-US" sz="1200" b="1" kern="1200" dirty="0">
                <a:solidFill>
                  <a:schemeClr val="tx1"/>
                </a:solidFill>
                <a:effectLst/>
                <a:latin typeface="+mn-lt"/>
                <a:ea typeface="+mn-ea"/>
                <a:cs typeface="+mn-cs"/>
              </a:rPr>
              <a:t>Production scalability</a:t>
            </a:r>
            <a:r>
              <a:rPr lang="en-US" sz="1200" kern="1200" dirty="0">
                <a:solidFill>
                  <a:schemeClr val="tx1"/>
                </a:solidFill>
                <a:effectLst/>
                <a:latin typeface="+mn-lt"/>
                <a:ea typeface="+mn-ea"/>
                <a:cs typeface="+mn-cs"/>
              </a:rPr>
              <a:t>: The same code running in development and handling millions of messages in production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What makes Solace Agent Mesh different is that it’s built on top of Solace Event Mesh, an enterprise event broker that powers some of the world’s largest financial institutions. This isn’t a wrapper around </a:t>
            </a:r>
            <a:r>
              <a:rPr lang="en-US" sz="1200" kern="1200" dirty="0" err="1">
                <a:solidFill>
                  <a:schemeClr val="tx1"/>
                </a:solidFill>
                <a:effectLst/>
                <a:latin typeface="+mn-lt"/>
                <a:ea typeface="+mn-ea"/>
                <a:cs typeface="+mn-cs"/>
              </a:rPr>
              <a:t>WebSockets</a:t>
            </a:r>
            <a:r>
              <a:rPr lang="en-US" sz="1200" kern="1200" dirty="0">
                <a:solidFill>
                  <a:schemeClr val="tx1"/>
                </a:solidFill>
                <a:effectLst/>
                <a:latin typeface="+mn-lt"/>
                <a:ea typeface="+mn-ea"/>
                <a:cs typeface="+mn-cs"/>
              </a:rPr>
              <a:t> or a thin abstraction over HTTP. It’s a fundamentally different architecture.</a:t>
            </a:r>
            <a:r>
              <a:rPr lang="en-US" dirty="0">
                <a:effectLst/>
              </a:rPr>
              <a:t> </a:t>
            </a:r>
            <a:endParaRPr lang="en-US" dirty="0"/>
          </a:p>
          <a:p>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10543286-64D9-77D5-5CA9-9C0FF8A2CE4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CB7F935-64E3-4FF9-8DEF-2D51FA7887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140541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AFF6E-C83F-8F6D-FAA9-6348B152E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E8F5D-804C-7604-621C-F5AE2DB48BA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25E436-ADB7-2B04-1BDC-4FC761F28C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0AF706-5D86-E111-E475-8AC1DAB960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CB7F935-64E3-4FF9-8DEF-2D51FA7887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277747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Full v2 Go stack: three runtime components instead of the v1 Python zoo; no agent-deployer anymore - everything (agents, workflows, RBAC, connectors, MCP </a:t>
            </a:r>
            <a:r>
              <a:rPr dirty="0" err="1"/>
              <a:t>entrypoint</a:t>
            </a:r>
            <a:r>
              <a:rPr dirty="0"/>
              <a:t>) is data in the platform DB, provisioned declaratively via `</a:t>
            </a:r>
            <a:r>
              <a:rPr dirty="0" err="1"/>
              <a:t>sam</a:t>
            </a:r>
            <a:r>
              <a:rPr dirty="0"/>
              <a:t> config apply`.</a:t>
            </a:r>
          </a:p>
          <a:p>
            <a:r>
              <a:rPr dirty="0"/>
              <a:t>- One MCP </a:t>
            </a:r>
            <a:r>
              <a:rPr dirty="0" err="1"/>
              <a:t>entrypoint</a:t>
            </a:r>
            <a:r>
              <a:rPr dirty="0"/>
              <a:t> serves every client class: Claude Code, the desktop app and any MCP inspector - same OAuth, same RBAC-filtered tool list.</a:t>
            </a:r>
          </a:p>
          <a:p>
            <a:r>
              <a:rPr dirty="0"/>
              <a:t>- Desktop app has no remote mode in 2.225.14: it stays an embedded environment and reaches the cluster THROUGH MCP; the Chrome app-mode mirror covers the "true remote UI" case.</a:t>
            </a:r>
          </a:p>
          <a:p>
            <a:r>
              <a:rPr dirty="0"/>
              <a:t>- Offline delivery: chart + images come from the delivery package, pushed to the private lab registry.</a:t>
            </a:r>
          </a:p>
          <a:p>
            <a:r>
              <a:rPr dirty="0"/>
              <a:t>- Observability: SAM ships an in-process </a:t>
            </a:r>
            <a:r>
              <a:rPr dirty="0" err="1"/>
              <a:t>OTel</a:t>
            </a:r>
            <a:r>
              <a:rPr dirty="0"/>
              <a:t> SDK - Prometheus /metrics per workload plus OTLP push for metrics and logs; a UUIDv7 </a:t>
            </a:r>
            <a:r>
              <a:rPr dirty="0" err="1"/>
              <a:t>traceID</a:t>
            </a:r>
            <a:r>
              <a:rPr dirty="0"/>
              <a:t> correlates every hop across components in the logs. Distributed tracing comes from the brokers (Solace receiver -&gt; </a:t>
            </a:r>
            <a:r>
              <a:rPr dirty="0" err="1"/>
              <a:t>OTel</a:t>
            </a:r>
            <a:r>
              <a:rPr dirty="0"/>
              <a:t> Collector); target backend is the Grafana stack (Tempo/Loki/Prometheus) already running in the cluster.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Everything on this slide is declarative config in git (`sam config apply`): connectors, schema-skill bundles, agents, the workflow and the MCP entrypoint - rebuildable end-to-end.</a:t>
            </a:r>
          </a:p>
          <a:p>
            <a:r>
              <a:t>- The OMS schema skill encodes the line-item-grain dedup rule - the classic double-counting trap is solved in the skill, not in every prompt.</a:t>
            </a:r>
          </a:p>
          <a:p>
            <a:r>
              <a:t>- Live-verified end to end: parallel SQL against three databases, CSV + chart artifacts, merged report, status Completed.</a:t>
            </a:r>
          </a:p>
          <a:p>
            <a:r>
              <a:t>- Version note (2.225.14): a workflow's MCP tool result carries only a completion status - report retrieval from MCP clients goes through the mesh Orchestrator (one call, same session).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slide. The shop page publishes guaranteed JSON events straight onto the sam VPN (same WebSocket transport SAM itself uses). The event-mesh entrypoint routes failed orders to the order-incident-report workflow; OMS/PDM analyze the databases, the POS Analyst (created minutes earlier in the AI Builder, MongoDB POSLOG) adds the in-store reality, the Incident Reporter merges everything into an artifact. Results are published back to the mesh and appear live in the browser. The three failure products are real data stories: Acai (stock 0), Black Truffle (out of season, lowest margin), Trail Mix (contaminated inventory_status, fractional quantities).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Wrap-up slide: every lifecycle stage was shown live. Hiring = the Builder prompt (role, responsibilities, expectations). Onboarding = connector, credentials, model alias, RBAC visibility. Coaching = schema skills as internal education. Supervision is deliberately excluded (work in progress). Teamwork = the event-triggered incident workflow and the MCP entrypoint serving Claude Code. Improvement = Grafana (performance, governance, token chargeback) and offline evaluations as the CI gate.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7.svg"/><Relationship Id="rId4" Type="http://schemas.openxmlformats.org/officeDocument/2006/relationships/image" Target="../media/image5.svg"/><Relationship Id="rId5" Type="http://schemas.openxmlformats.org/officeDocument/2006/relationships/image" Target="../media/image8.svg"/><Relationship Id="rId6"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9.svg"/><Relationship Id="rId5" Type="http://schemas.openxmlformats.org/officeDocument/2006/relationships/image" Target="../media/image10.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svg"/><Relationship Id="rId3" Type="http://schemas.openxmlformats.org/officeDocument/2006/relationships/image" Target="../media/image15.svg"/><Relationship Id="rId4" Type="http://schemas.openxmlformats.org/officeDocument/2006/relationships/image" Target="../media/image16.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8871569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ite Cov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2" y="4581000"/>
            <a:ext cx="4681137" cy="143394"/>
          </a:xfrm>
        </p:spPr>
        <p:txBody>
          <a:bodyPr>
            <a:noAutofit/>
          </a:bodyPr>
          <a:lstStyle>
            <a:lvl1pPr algn="l">
              <a:lnSpc>
                <a:spcPct val="100000"/>
              </a:lnSpc>
              <a:spcAft>
                <a:spcPts val="0"/>
              </a:spcAft>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B59E6556-57B1-B408-D804-9FA5BC1308C4}"/>
              </a:ext>
            </a:extLst>
          </p:cNvPr>
          <p:cNvGrpSpPr/>
          <p:nvPr userDrawn="1"/>
        </p:nvGrpSpPr>
        <p:grpSpPr>
          <a:xfrm>
            <a:off x="5797318" y="332656"/>
            <a:ext cx="6276674" cy="5843298"/>
            <a:chOff x="5797318" y="332656"/>
            <a:chExt cx="6276674" cy="5843298"/>
          </a:xfrm>
        </p:grpSpPr>
        <p:sp>
          <p:nvSpPr>
            <p:cNvPr id="43" name="Graphic 41">
              <a:extLst>
                <a:ext uri="{FF2B5EF4-FFF2-40B4-BE49-F238E27FC236}">
                  <a16:creationId xmlns:a16="http://schemas.microsoft.com/office/drawing/2014/main" id="{969F7A7C-F56B-5EA2-CEDB-C3018FB3E56D}"/>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17" name="Graphic 4">
              <a:extLst>
                <a:ext uri="{FF2B5EF4-FFF2-40B4-BE49-F238E27FC236}">
                  <a16:creationId xmlns:a16="http://schemas.microsoft.com/office/drawing/2014/main" id="{026AA2B3-ADD5-9E91-EE90-8CA8079DF07E}"/>
                </a:ext>
              </a:extLst>
            </p:cNvPr>
            <p:cNvGrpSpPr/>
            <p:nvPr userDrawn="1"/>
          </p:nvGrpSpPr>
          <p:grpSpPr>
            <a:xfrm>
              <a:off x="5797318" y="2132856"/>
              <a:ext cx="4043098" cy="4043098"/>
              <a:chOff x="8800171" y="698369"/>
              <a:chExt cx="2346990" cy="2346990"/>
            </a:xfrm>
            <a:noFill/>
          </p:grpSpPr>
          <p:sp>
            <p:nvSpPr>
              <p:cNvPr id="18" name="Freeform: Shape 17">
                <a:extLst>
                  <a:ext uri="{FF2B5EF4-FFF2-40B4-BE49-F238E27FC236}">
                    <a16:creationId xmlns:a16="http://schemas.microsoft.com/office/drawing/2014/main" id="{446F980C-D371-51A4-BFAF-0D988442E896}"/>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24D33AA-17A5-AD3C-47CB-C235523F6E95}"/>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BEC3E93C-3A6F-6643-610C-12296CC8C6D9}"/>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4094DF1C-A969-A8D9-6C37-6553A2B71AFC}"/>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03329D2-BC94-696A-4C35-CDDD8197EB39}"/>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6A3591DD-F3A8-A03D-EB5B-A0EB18871B7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78196927-BBB7-FF95-A5F7-090E1F89D514}"/>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25" name="Graphic 4">
              <a:extLst>
                <a:ext uri="{FF2B5EF4-FFF2-40B4-BE49-F238E27FC236}">
                  <a16:creationId xmlns:a16="http://schemas.microsoft.com/office/drawing/2014/main" id="{9BD377A2-FF86-B752-6A7B-0C7B42F2A65E}"/>
                </a:ext>
              </a:extLst>
            </p:cNvPr>
            <p:cNvGrpSpPr/>
            <p:nvPr userDrawn="1"/>
          </p:nvGrpSpPr>
          <p:grpSpPr>
            <a:xfrm>
              <a:off x="8439748" y="332656"/>
              <a:ext cx="1568431" cy="1568431"/>
              <a:chOff x="6737333" y="3172458"/>
              <a:chExt cx="1303316" cy="1303316"/>
            </a:xfrm>
            <a:noFill/>
          </p:grpSpPr>
          <p:sp>
            <p:nvSpPr>
              <p:cNvPr id="26" name="Freeform: Shape 25">
                <a:extLst>
                  <a:ext uri="{FF2B5EF4-FFF2-40B4-BE49-F238E27FC236}">
                    <a16:creationId xmlns:a16="http://schemas.microsoft.com/office/drawing/2014/main" id="{FA819162-4F92-9CE1-266D-C3036C094DBE}"/>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228DA33-39B2-4FAA-AE60-99CB558A6DCB}"/>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766673F-117F-B1A0-5E0C-011B96A80452}"/>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ABB9DD75-E623-1063-4AF7-B388B7C36A44}"/>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0A0E295-63B7-6BCC-483C-4BC95EFEE61C}"/>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45A4E385-FF66-6719-4CB5-DC19293047E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B37082CB-E60C-66BA-112C-7E110A2EF0B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45" name="Graphic 44">
              <a:extLst>
                <a:ext uri="{FF2B5EF4-FFF2-40B4-BE49-F238E27FC236}">
                  <a16:creationId xmlns:a16="http://schemas.microsoft.com/office/drawing/2014/main" id="{94426DAB-EC49-97B6-8BAA-250B2F3420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6" name="Footer Placeholder 5">
            <a:extLst>
              <a:ext uri="{FF2B5EF4-FFF2-40B4-BE49-F238E27FC236}">
                <a16:creationId xmlns:a16="http://schemas.microsoft.com/office/drawing/2014/main" id="{593EFF8D-C896-9FCB-CCD9-055E2DEAA1D1}"/>
              </a:ext>
            </a:extLst>
          </p:cNvPr>
          <p:cNvSpPr>
            <a:spLocks noGrp="1"/>
          </p:cNvSpPr>
          <p:nvPr>
            <p:ph type="ftr" sz="quarter" idx="11"/>
          </p:nvPr>
        </p:nvSpPr>
        <p:spPr/>
        <p:txBody>
          <a:bodyPr/>
          <a:lstStyle/>
          <a:p>
            <a:r>
              <a:rPr lang="en-US"/>
              <a:t>© Solace   |   Proprietary &amp; Confidential</a:t>
            </a:r>
          </a:p>
        </p:txBody>
      </p:sp>
      <p:sp>
        <p:nvSpPr>
          <p:cNvPr id="9" name="Slide Number Placeholder 8">
            <a:extLst>
              <a:ext uri="{FF2B5EF4-FFF2-40B4-BE49-F238E27FC236}">
                <a16:creationId xmlns:a16="http://schemas.microsoft.com/office/drawing/2014/main" id="{BD2438CF-A668-47D4-D56F-CEE9B5219C5E}"/>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BA3311E4-A084-8644-4A2C-81E8B32124A6}"/>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36657593"/>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ue Cov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4"/>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91E14C4D-992C-08AD-7433-20C760BC8A78}"/>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B164F4FA-2BB1-E76D-62AA-FDCD0FCA0873}"/>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ED44CC65-E1B1-5D09-E60C-9501318FFDE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989867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ite Cover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0"/>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8C9A80E0-3E50-3DF4-4445-AE338350123C}"/>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DA93DA5D-C211-08C0-E0A0-CB9651D538C9}"/>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011F7999-AF75-0EA8-FBAC-B1B74CC6CE42}"/>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825438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40"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cxnSp>
        <p:nvCxnSpPr>
          <p:cNvPr id="4" name="Straight Connector 3">
            <a:extLst>
              <a:ext uri="{FF2B5EF4-FFF2-40B4-BE49-F238E27FC236}">
                <a16:creationId xmlns:a16="http://schemas.microsoft.com/office/drawing/2014/main" id="{A4E443BB-51E7-DCF5-FEEB-985CCD23F574}"/>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5" name="Footer Placeholder 4">
            <a:extLst>
              <a:ext uri="{FF2B5EF4-FFF2-40B4-BE49-F238E27FC236}">
                <a16:creationId xmlns:a16="http://schemas.microsoft.com/office/drawing/2014/main" id="{E37EDB31-4921-CA49-6DA3-58F3042736A5}"/>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404C5DF-A694-0B09-FE66-2795919627BD}"/>
              </a:ext>
            </a:extLst>
          </p:cNvPr>
          <p:cNvSpPr>
            <a:spLocks noGrp="1"/>
          </p:cNvSpPr>
          <p:nvPr>
            <p:ph type="sldNum" sz="quarter" idx="13"/>
          </p:nvPr>
        </p:nvSpPr>
        <p:spPr/>
        <p:txBody>
          <a:bodyPr/>
          <a:lstStyle/>
          <a:p>
            <a:fld id="{059D0BDF-8BE7-4C3F-9009-83FAF1F2140A}" type="slidenum">
              <a:rPr lang="en-US" smtClean="0"/>
              <a:pPr/>
              <a:t>‹Nr.›</a:t>
            </a:fld>
            <a:endParaRPr lang="en-US"/>
          </a:p>
        </p:txBody>
      </p:sp>
    </p:spTree>
    <p:extLst>
      <p:ext uri="{BB962C8B-B14F-4D97-AF65-F5344CB8AC3E}">
        <p14:creationId xmlns:p14="http://schemas.microsoft.com/office/powerpoint/2010/main" val="45579025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5" y="4940969"/>
            <a:ext cx="4681538"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24CE7AE-58CE-96AA-2526-1BF47A40356F}"/>
              </a:ext>
            </a:extLst>
          </p:cNvPr>
          <p:cNvGrpSpPr/>
          <p:nvPr userDrawn="1"/>
        </p:nvGrpSpPr>
        <p:grpSpPr>
          <a:xfrm>
            <a:off x="6737333" y="698369"/>
            <a:ext cx="4474935" cy="4874457"/>
            <a:chOff x="6737333" y="698369"/>
            <a:chExt cx="4474935" cy="4874457"/>
          </a:xfrm>
        </p:grpSpPr>
        <p:grpSp>
          <p:nvGrpSpPr>
            <p:cNvPr id="6" name="Graphic 4">
              <a:extLst>
                <a:ext uri="{FF2B5EF4-FFF2-40B4-BE49-F238E27FC236}">
                  <a16:creationId xmlns:a16="http://schemas.microsoft.com/office/drawing/2014/main" id="{6EB65E8F-9CA9-71F0-D8F5-FC29B043F334}"/>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27" name="Freeform: Shape 26">
                <a:extLst>
                  <a:ext uri="{FF2B5EF4-FFF2-40B4-BE49-F238E27FC236}">
                    <a16:creationId xmlns:a16="http://schemas.microsoft.com/office/drawing/2014/main" id="{95ACC53D-4BEE-AF60-5546-66484D659290}"/>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89411C5-A6F5-99D2-3BDC-5C3CFF34ED65}"/>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AA1BD2F-9C96-DE17-0088-89B7F888387A}"/>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2F1C5AF-4D3A-56CE-4C75-36C68FDF2DBE}"/>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D1A5563-412F-07A3-64A6-BA1F4855709D}"/>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41675E5-1421-9250-2206-0488152261E1}"/>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8EA3808-935F-D778-9C15-1CBBE02D9CEC}"/>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9" name="Graphic 4">
              <a:extLst>
                <a:ext uri="{FF2B5EF4-FFF2-40B4-BE49-F238E27FC236}">
                  <a16:creationId xmlns:a16="http://schemas.microsoft.com/office/drawing/2014/main" id="{5A035051-F97B-FA8D-40FB-E532C67F6D8D}"/>
                </a:ext>
              </a:extLst>
            </p:cNvPr>
            <p:cNvGrpSpPr/>
            <p:nvPr/>
          </p:nvGrpSpPr>
          <p:grpSpPr>
            <a:xfrm>
              <a:off x="8800171" y="698369"/>
              <a:ext cx="2346990" cy="2346990"/>
              <a:chOff x="8800171" y="698369"/>
              <a:chExt cx="2346990" cy="2346990"/>
            </a:xfrm>
            <a:noFill/>
          </p:grpSpPr>
          <p:sp>
            <p:nvSpPr>
              <p:cNvPr id="20" name="Freeform: Shape 19">
                <a:extLst>
                  <a:ext uri="{FF2B5EF4-FFF2-40B4-BE49-F238E27FC236}">
                    <a16:creationId xmlns:a16="http://schemas.microsoft.com/office/drawing/2014/main" id="{91B42713-5ECC-8BEE-8009-11345F43396E}"/>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358644B3-4F92-30F4-EC10-670E2BE38857}"/>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577E4B5-D893-1D5E-669C-6ED12171ED5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F15FC91-0296-2B22-C397-D09390596468}"/>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172C320-CA9E-AE83-770E-4FDEE7129954}"/>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5794F540-E0D1-FD97-1FC6-99443EE8606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9D301E-9BC1-7C89-5422-AF1C6AE4EBD2}"/>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F908A56D-7EC7-11ED-1838-7E47227B0ED5}"/>
                </a:ext>
              </a:extLst>
            </p:cNvPr>
            <p:cNvGrpSpPr/>
            <p:nvPr/>
          </p:nvGrpSpPr>
          <p:grpSpPr>
            <a:xfrm>
              <a:off x="6737333" y="3172458"/>
              <a:ext cx="1303316" cy="1303316"/>
              <a:chOff x="6737333" y="3172458"/>
              <a:chExt cx="1303316" cy="1303316"/>
            </a:xfrm>
            <a:noFill/>
          </p:grpSpPr>
          <p:sp>
            <p:nvSpPr>
              <p:cNvPr id="12" name="Freeform: Shape 11">
                <a:extLst>
                  <a:ext uri="{FF2B5EF4-FFF2-40B4-BE49-F238E27FC236}">
                    <a16:creationId xmlns:a16="http://schemas.microsoft.com/office/drawing/2014/main" id="{F528C196-0211-E2A6-5E71-1D5663AE1962}"/>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0F084FA-C7F7-D6A2-E20A-05C2A383E5B8}"/>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A381927-5B6B-931B-B2AF-84E024B4958C}"/>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5617A130-F3C7-5FA9-8ACD-12B33D9C98CC}"/>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8D4D623D-9E3A-F172-BBD7-4407133986C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72E8E86D-96BA-DFEE-6031-9E75779DEF7E}"/>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C13650FE-10A1-0101-9CB9-E78D91E6D78D}"/>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sp>
        <p:nvSpPr>
          <p:cNvPr id="14" name="Footer Placeholder 13">
            <a:extLst>
              <a:ext uri="{FF2B5EF4-FFF2-40B4-BE49-F238E27FC236}">
                <a16:creationId xmlns:a16="http://schemas.microsoft.com/office/drawing/2014/main" id="{8B1BFACE-16C4-8D5F-D215-24FB73160742}"/>
              </a:ext>
            </a:extLst>
          </p:cNvPr>
          <p:cNvSpPr>
            <a:spLocks noGrp="1"/>
          </p:cNvSpPr>
          <p:nvPr>
            <p:ph type="ftr" sz="quarter" idx="11"/>
          </p:nvPr>
        </p:nvSpPr>
        <p:spPr/>
        <p:txBody>
          <a:bodyPr/>
          <a:lstStyle/>
          <a:p>
            <a:r>
              <a:rPr lang="en-US"/>
              <a:t>© Solace   |   Proprietary &amp; Confidential</a:t>
            </a:r>
          </a:p>
        </p:txBody>
      </p:sp>
      <p:sp>
        <p:nvSpPr>
          <p:cNvPr id="34" name="Slide Number Placeholder 33">
            <a:extLst>
              <a:ext uri="{FF2B5EF4-FFF2-40B4-BE49-F238E27FC236}">
                <a16:creationId xmlns:a16="http://schemas.microsoft.com/office/drawing/2014/main" id="{5985F65F-C79E-326A-2CDA-4BD9345DFD52}"/>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36" name="Straight Connector 35">
            <a:extLst>
              <a:ext uri="{FF2B5EF4-FFF2-40B4-BE49-F238E27FC236}">
                <a16:creationId xmlns:a16="http://schemas.microsoft.com/office/drawing/2014/main" id="{99E720A2-8E73-02A2-9CD1-B84C8DEDA97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6057076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sp>
        <p:nvSpPr>
          <p:cNvPr id="5" name="Footer Placeholder 4">
            <a:extLst>
              <a:ext uri="{FF2B5EF4-FFF2-40B4-BE49-F238E27FC236}">
                <a16:creationId xmlns:a16="http://schemas.microsoft.com/office/drawing/2014/main" id="{4807A176-DCF7-5B9F-9B5B-5EB7CBACB73E}"/>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6DCED80-8344-2C03-8D60-01696E11AB6D}"/>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480E6B12-F1B2-16E3-6D92-6C94E647C03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80696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CD92BFD-36C4-49A1-D690-5237D9655006}"/>
              </a:ext>
            </a:extLst>
          </p:cNvPr>
          <p:cNvGrpSpPr/>
          <p:nvPr userDrawn="1"/>
        </p:nvGrpSpPr>
        <p:grpSpPr>
          <a:xfrm>
            <a:off x="6672064" y="764704"/>
            <a:ext cx="5193362" cy="4834784"/>
            <a:chOff x="5797318" y="332656"/>
            <a:chExt cx="6276674" cy="5843298"/>
          </a:xfrm>
        </p:grpSpPr>
        <p:sp>
          <p:nvSpPr>
            <p:cNvPr id="6" name="Graphic 41">
              <a:extLst>
                <a:ext uri="{FF2B5EF4-FFF2-40B4-BE49-F238E27FC236}">
                  <a16:creationId xmlns:a16="http://schemas.microsoft.com/office/drawing/2014/main" id="{4B582EBD-573E-70FB-47B4-2585AF28624A}"/>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9" name="Graphic 4">
              <a:extLst>
                <a:ext uri="{FF2B5EF4-FFF2-40B4-BE49-F238E27FC236}">
                  <a16:creationId xmlns:a16="http://schemas.microsoft.com/office/drawing/2014/main" id="{7F003DB5-18AB-CB92-5006-3AE20CEADE21}"/>
                </a:ext>
              </a:extLst>
            </p:cNvPr>
            <p:cNvGrpSpPr/>
            <p:nvPr userDrawn="1"/>
          </p:nvGrpSpPr>
          <p:grpSpPr>
            <a:xfrm>
              <a:off x="5797318" y="2132856"/>
              <a:ext cx="4043098" cy="4043098"/>
              <a:chOff x="8800171" y="698369"/>
              <a:chExt cx="2346990" cy="2346990"/>
            </a:xfrm>
            <a:noFill/>
          </p:grpSpPr>
          <p:sp>
            <p:nvSpPr>
              <p:cNvPr id="21" name="Freeform: Shape 20">
                <a:extLst>
                  <a:ext uri="{FF2B5EF4-FFF2-40B4-BE49-F238E27FC236}">
                    <a16:creationId xmlns:a16="http://schemas.microsoft.com/office/drawing/2014/main" id="{6DC8F65E-CB97-D68F-D728-2BFCC84E4561}"/>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94F25E8B-87E0-B541-86A9-0B997527D469}"/>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7FFA6ACC-473C-2C2D-2066-4CF9C4CD675C}"/>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27447E5-7416-0D79-6550-1EDE8795BAB9}"/>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AFB64D6A-98B8-7D49-5034-6E6130343CC6}"/>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4AB58F-35D6-76E7-6A96-8BB0B247A5CC}"/>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B56BB953-645C-2DB1-B367-3776F8F5221C}"/>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CE1C37B9-8134-A7DE-CB46-7AA6AD9F948B}"/>
                </a:ext>
              </a:extLst>
            </p:cNvPr>
            <p:cNvGrpSpPr/>
            <p:nvPr userDrawn="1"/>
          </p:nvGrpSpPr>
          <p:grpSpPr>
            <a:xfrm>
              <a:off x="8439748" y="332656"/>
              <a:ext cx="1568431" cy="1568431"/>
              <a:chOff x="6737333" y="3172458"/>
              <a:chExt cx="1303316" cy="1303316"/>
            </a:xfrm>
            <a:noFill/>
          </p:grpSpPr>
          <p:sp>
            <p:nvSpPr>
              <p:cNvPr id="13" name="Freeform: Shape 12">
                <a:extLst>
                  <a:ext uri="{FF2B5EF4-FFF2-40B4-BE49-F238E27FC236}">
                    <a16:creationId xmlns:a16="http://schemas.microsoft.com/office/drawing/2014/main" id="{10AB55F8-31A0-F272-D57E-4327EA8305D7}"/>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7509D5-73F7-05FB-BFDB-B77904D87C7C}"/>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2580D843-07B7-EB97-7433-9E0FC6203617}"/>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56A99D9B-E6A5-D506-3CB7-3FE2CAB34A43}"/>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0822A634-A566-3095-A3A1-377BB11AAC43}"/>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F7839078-6E36-1B38-C796-8CC92F1E2D6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6F01975D-9061-B6D0-D41E-BB672376CE8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12" name="Graphic 11">
              <a:extLst>
                <a:ext uri="{FF2B5EF4-FFF2-40B4-BE49-F238E27FC236}">
                  <a16:creationId xmlns:a16="http://schemas.microsoft.com/office/drawing/2014/main" id="{28C5C117-6772-0B3F-B242-116E0EEBEB6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14" name="Footer Placeholder 13">
            <a:extLst>
              <a:ext uri="{FF2B5EF4-FFF2-40B4-BE49-F238E27FC236}">
                <a16:creationId xmlns:a16="http://schemas.microsoft.com/office/drawing/2014/main" id="{A13CB243-44C1-F6F9-A894-48972650F803}"/>
              </a:ext>
            </a:extLst>
          </p:cNvPr>
          <p:cNvSpPr>
            <a:spLocks noGrp="1"/>
          </p:cNvSpPr>
          <p:nvPr>
            <p:ph type="ftr" sz="quarter" idx="11"/>
          </p:nvPr>
        </p:nvSpPr>
        <p:spPr/>
        <p:txBody>
          <a:bodyPr/>
          <a:lstStyle/>
          <a:p>
            <a:r>
              <a:rPr lang="en-US"/>
              <a:t>© Solace   |   Proprietary &amp; Confidential</a:t>
            </a:r>
          </a:p>
        </p:txBody>
      </p:sp>
      <p:sp>
        <p:nvSpPr>
          <p:cNvPr id="28" name="Slide Number Placeholder 27">
            <a:extLst>
              <a:ext uri="{FF2B5EF4-FFF2-40B4-BE49-F238E27FC236}">
                <a16:creationId xmlns:a16="http://schemas.microsoft.com/office/drawing/2014/main" id="{25AA9A5A-A367-8D0A-D191-34683CE230DC}"/>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94A594FD-8A50-7193-07B8-4E4810456FCA}"/>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094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02092229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Green Divider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39995"/>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1BD1B36-2C00-F65A-451D-1C6B220D515B}"/>
              </a:ext>
            </a:extLst>
          </p:cNvPr>
          <p:cNvSpPr>
            <a:spLocks noGrp="1"/>
          </p:cNvSpPr>
          <p:nvPr>
            <p:ph type="ftr" sz="quarter" idx="10"/>
          </p:nvPr>
        </p:nvSpPr>
        <p:spPr>
          <a:ln>
            <a:solidFill>
              <a:schemeClr val="bg1"/>
            </a:solidFill>
          </a:ln>
        </p:spPr>
        <p:txBody>
          <a:bodyPr/>
          <a:lstStyle>
            <a:lvl1pPr>
              <a:defRPr>
                <a:solidFill>
                  <a:schemeClr val="tx1"/>
                </a:solidFill>
              </a:defRPr>
            </a:lvl1pPr>
          </a:lstStyle>
          <a:p>
            <a:r>
              <a:rPr lang="en-US"/>
              <a:t>© Solace   |   Proprietary &amp; Confidential</a:t>
            </a:r>
          </a:p>
        </p:txBody>
      </p:sp>
      <p:pic>
        <p:nvPicPr>
          <p:cNvPr id="10" name="Graphic 9">
            <a:extLst>
              <a:ext uri="{FF2B5EF4-FFF2-40B4-BE49-F238E27FC236}">
                <a16:creationId xmlns:a16="http://schemas.microsoft.com/office/drawing/2014/main" id="{3E216BBF-AD11-64D7-E0AF-8D45D247604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238508" y="6237352"/>
            <a:ext cx="1402108" cy="360000"/>
          </a:xfrm>
          <a:prstGeom prst="rect">
            <a:avLst/>
          </a:prstGeom>
        </p:spPr>
      </p:pic>
      <p:sp>
        <p:nvSpPr>
          <p:cNvPr id="11" name="Oval 10">
            <a:extLst>
              <a:ext uri="{FF2B5EF4-FFF2-40B4-BE49-F238E27FC236}">
                <a16:creationId xmlns:a16="http://schemas.microsoft.com/office/drawing/2014/main" id="{B50DAFA2-9C2D-40FC-BFC5-E1E6D2B83200}"/>
              </a:ext>
            </a:extLst>
          </p:cNvPr>
          <p:cNvSpPr/>
          <p:nvPr userDrawn="1"/>
        </p:nvSpPr>
        <p:spPr>
          <a:xfrm>
            <a:off x="552000" y="6381000"/>
            <a:ext cx="216000" cy="21635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852C6E6D-163E-8544-DE73-7D1CDA8650F4}"/>
              </a:ext>
            </a:extLst>
          </p:cNvPr>
          <p:cNvSpPr>
            <a:spLocks noGrp="1"/>
          </p:cNvSpPr>
          <p:nvPr>
            <p:ph type="sldNum" sz="quarter" idx="11"/>
          </p:nvPr>
        </p:nvSpPr>
        <p:spPr>
          <a:xfrm flipH="1">
            <a:off x="552000" y="6381000"/>
            <a:ext cx="216000" cy="216000"/>
          </a:xfrm>
        </p:spPr>
        <p:txBody>
          <a:bodyPr/>
          <a:lstStyle/>
          <a:p>
            <a:fld id="{059D0BDF-8BE7-4C3F-9009-83FAF1F2140A}" type="slidenum">
              <a:rPr lang="en-US" smtClean="0"/>
              <a:pPr/>
              <a:t>‹Nr.›</a:t>
            </a:fld>
            <a:endParaRPr lang="en-US"/>
          </a:p>
        </p:txBody>
      </p:sp>
      <p:cxnSp>
        <p:nvCxnSpPr>
          <p:cNvPr id="13" name="Straight Connector 12">
            <a:extLst>
              <a:ext uri="{FF2B5EF4-FFF2-40B4-BE49-F238E27FC236}">
                <a16:creationId xmlns:a16="http://schemas.microsoft.com/office/drawing/2014/main" id="{4B8D4E34-A7C3-E1B7-7486-438F6750315A}"/>
              </a:ext>
            </a:extLst>
          </p:cNvPr>
          <p:cNvCxnSpPr>
            <a:cxnSpLocks/>
          </p:cNvCxnSpPr>
          <p:nvPr userDrawn="1"/>
        </p:nvCxnSpPr>
        <p:spPr>
          <a:xfrm>
            <a:off x="0" y="1053000"/>
            <a:ext cx="3214382" cy="0"/>
          </a:xfrm>
          <a:prstGeom prst="line">
            <a:avLst/>
          </a:prstGeom>
          <a:ln w="31750" cap="flat">
            <a:solidFill>
              <a:schemeClr val="bg1"/>
            </a:solidFill>
          </a:ln>
        </p:spPr>
        <p:style>
          <a:lnRef idx="2">
            <a:schemeClr val="accent1"/>
          </a:lnRef>
          <a:fillRef idx="0">
            <a:schemeClr val="accent1"/>
          </a:fillRef>
          <a:effectRef idx="1">
            <a:schemeClr val="accent1"/>
          </a:effectRef>
          <a:fontRef idx="minor">
            <a:schemeClr val="tx1"/>
          </a:fontRef>
        </p:style>
      </p:cxnSp>
      <p:pic>
        <p:nvPicPr>
          <p:cNvPr id="16" name="Graphic 15">
            <a:extLst>
              <a:ext uri="{FF2B5EF4-FFF2-40B4-BE49-F238E27FC236}">
                <a16:creationId xmlns:a16="http://schemas.microsoft.com/office/drawing/2014/main" id="{FC61A1CB-D9F9-A727-40EB-A2C367E865DC}"/>
              </a:ext>
            </a:extLst>
          </p:cNvPr>
          <p:cNvPicPr>
            <a:picLocks noChangeAspect="1"/>
          </p:cNvPicPr>
          <p:nvPr userDrawn="1"/>
        </p:nvPicPr>
        <p:blipFill>
          <a:blip>
            <a:extLst>
              <a:ext uri="{96DAC541-7B7A-43D3-8B79-37D633B846F1}">
                <asvg:svgBlip xmlns:asvg="http://schemas.microsoft.com/office/drawing/2016/SVG/main" r:embed="rId6"/>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829680950"/>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een Divid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8408"/>
            <a:ext cx="5833169" cy="3233116"/>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2A4254B-55D4-0929-C427-AAA71A9EF5B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241FAC5A-F022-653C-A96C-B80EBBDE19A2}"/>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4" name="Straight Connector 3">
            <a:extLst>
              <a:ext uri="{FF2B5EF4-FFF2-40B4-BE49-F238E27FC236}">
                <a16:creationId xmlns:a16="http://schemas.microsoft.com/office/drawing/2014/main" id="{97BB5BD1-BFD0-3AC6-C718-D5707C28AFD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0" name="Graphic 9">
            <a:extLst>
              <a:ext uri="{FF2B5EF4-FFF2-40B4-BE49-F238E27FC236}">
                <a16:creationId xmlns:a16="http://schemas.microsoft.com/office/drawing/2014/main" id="{F753A11D-F30A-BF3A-76C0-84C62D52A10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727715584"/>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24822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55856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967440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42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1692531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13032190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963784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97921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5081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80906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9789606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276132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02669525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55357384"/>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4700918"/>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542795"/>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8465207"/>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4970363"/>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75341611"/>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1603873855"/>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082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387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95852461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7364">
          <p15:clr>
            <a:srgbClr val="FBAE40"/>
          </p15:clr>
        </p15:guide>
        <p15:guide id="4" pos="3674">
          <p15:clr>
            <a:srgbClr val="FBAE40"/>
          </p15:clr>
        </p15:guide>
        <p15:guide id="5" pos="4007">
          <p15:clr>
            <a:srgbClr val="FBAE40"/>
          </p15:clr>
        </p15:guide>
        <p15:guide id="6" orient="horz" pos="317">
          <p15:clr>
            <a:srgbClr val="FBAE40"/>
          </p15:clr>
        </p15:guide>
        <p15:guide id="7" orient="horz" pos="551">
          <p15:clr>
            <a:srgbClr val="FBAE40"/>
          </p15:clr>
        </p15:guide>
        <p15:guide id="8" orient="horz" pos="102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833636541"/>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5059" y="252000"/>
            <a:ext cx="4066941" cy="6606000"/>
          </a:xfrm>
          <a:solidFill>
            <a:schemeClr val="tx2">
              <a:alpha val="70000"/>
            </a:schemeClr>
          </a:solidFill>
        </p:spPr>
        <p:txBody>
          <a:bodyPr vert="horz" lIns="0" tIns="2448000" rIns="0" bIns="0" rtlCol="0" anchor="t" anchorCtr="0">
            <a:noAutofit/>
          </a:bodyPr>
          <a:lstStyle>
            <a:lvl1pPr marL="0" indent="0" algn="ctr" defTabSz="1087905" rtl="0" eaLnBrk="1" latinLnBrk="0" hangingPunct="1">
              <a:spcBef>
                <a:spcPts val="1927"/>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endParaRPr lang="de-DE"/>
          </a:p>
        </p:txBody>
      </p:sp>
      <p:sp>
        <p:nvSpPr>
          <p:cNvPr id="7" name="Text Placeholder"/>
          <p:cNvSpPr>
            <a:spLocks noGrp="1"/>
          </p:cNvSpPr>
          <p:nvPr>
            <p:ph type="body" sz="quarter" idx="11" hasCustomPrompt="1"/>
          </p:nvPr>
        </p:nvSpPr>
        <p:spPr bwMode="black">
          <a:xfrm>
            <a:off x="503868" y="1620000"/>
            <a:ext cx="7090154"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endParaRPr lang="de-DE"/>
          </a:p>
        </p:txBody>
      </p:sp>
      <p:sp>
        <p:nvSpPr>
          <p:cNvPr id="3" name="Title"/>
          <p:cNvSpPr>
            <a:spLocks noGrp="1"/>
          </p:cNvSpPr>
          <p:nvPr>
            <p:ph type="title" hasCustomPrompt="1"/>
          </p:nvPr>
        </p:nvSpPr>
        <p:spPr>
          <a:xfrm>
            <a:off x="503870" y="504000"/>
            <a:ext cx="709015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07067376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4786">
          <p15:clr>
            <a:srgbClr val="FBAE40"/>
          </p15:clr>
        </p15:guide>
        <p15:guide id="4" pos="5119">
          <p15:clr>
            <a:srgbClr val="FBAE40"/>
          </p15:clr>
        </p15:guide>
        <p15:guide id="5" orient="horz" pos="317">
          <p15:clr>
            <a:srgbClr val="FBAE40"/>
          </p15:clr>
        </p15:guide>
        <p15:guide id="6" orient="horz" pos="551">
          <p15:clr>
            <a:srgbClr val="FBAE40"/>
          </p15:clr>
        </p15:guide>
        <p15:guide id="7" orient="horz" pos="102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2" y="1091638"/>
            <a:ext cx="3389298" cy="576636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386" tIns="25386" rIns="25386" bIns="25386" numCol="1" spcCol="38100" rtlCol="0" anchor="ctr">
            <a:noAutofit/>
          </a:bodyPr>
          <a:lstStyle/>
          <a:p>
            <a:pPr marL="0" marR="0" indent="0" algn="ctr" defTabSz="437888" rtl="0" fontAlgn="auto" latinLnBrk="0" hangingPunct="0">
              <a:lnSpc>
                <a:spcPct val="100000"/>
              </a:lnSpc>
              <a:spcBef>
                <a:spcPts val="0"/>
              </a:spcBef>
              <a:spcAft>
                <a:spcPts val="0"/>
              </a:spcAft>
              <a:buClrTx/>
              <a:buSzTx/>
              <a:buFontTx/>
              <a:buNone/>
              <a:tabLst/>
            </a:pPr>
            <a:endParaRPr kumimoji="0" lang="en-US" sz="2998"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3646373" y="1337310"/>
            <a:ext cx="3886200" cy="481076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243840" y="1337310"/>
            <a:ext cx="2743200" cy="48107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598262" y="348398"/>
            <a:ext cx="11147766" cy="457048"/>
          </a:xfrm>
        </p:spPr>
        <p:txBody>
          <a:bodyPr anchor="ctr" anchorCtr="0"/>
          <a:lstStyle>
            <a:lvl1pPr>
              <a:lnSpc>
                <a:spcPct val="90000"/>
              </a:lnSpc>
              <a:defRPr sz="3298"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7859826" y="1337310"/>
            <a:ext cx="3886200" cy="481076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pyright">
            <a:extLst>
              <a:ext uri="{FF2B5EF4-FFF2-40B4-BE49-F238E27FC236}">
                <a16:creationId xmlns:a16="http://schemas.microsoft.com/office/drawing/2014/main" id="{FE7BE675-DF07-A079-5A51-982091CCDC7A}"/>
              </a:ext>
            </a:extLst>
          </p:cNvPr>
          <p:cNvSpPr txBox="1"/>
          <p:nvPr userDrawn="1"/>
        </p:nvSpPr>
        <p:spPr bwMode="black">
          <a:xfrm>
            <a:off x="503870" y="6559837"/>
            <a:ext cx="2269088" cy="92333"/>
          </a:xfrm>
          <a:prstGeom prst="rect">
            <a:avLst/>
          </a:prstGeom>
          <a:noFill/>
        </p:spPr>
        <p:txBody>
          <a:bodyPr wrap="square" lIns="0" tIns="0" rIns="0" bIns="0" rtlCol="0">
            <a:spAutoFit/>
          </a:bodyPr>
          <a:lstStyle/>
          <a:p>
            <a:pPr marL="84071" marR="0" indent="-84071" algn="l" defTabSz="1087905"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a:solidFill>
                  <a:schemeClr val="tx1"/>
                </a:solidFill>
              </a:rPr>
              <a:t>2022 SAP SE or an SAP affiliate company. All rights reserved.  </a:t>
            </a:r>
            <a:r>
              <a:rPr kumimoji="0" lang="en-US" sz="600" b="0" i="0" u="none" kern="0" baseline="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16606072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620000"/>
            <a:ext cx="11183565"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669867708"/>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19">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el und Inhal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3869" y="1557338"/>
            <a:ext cx="11182288" cy="4778662"/>
          </a:xfrm>
          <a:noFill/>
        </p:spPr>
        <p:txBody>
          <a:bodyPr tIns="1368000"/>
          <a:lstStyle>
            <a:lvl1pPr algn="ctr">
              <a:defRPr sz="1400" b="0"/>
            </a:lvl1pPr>
          </a:lstStyle>
          <a:p>
            <a:pPr lvl="0"/>
            <a:r>
              <a:rPr lang="en-US"/>
              <a:t>Click to add content</a:t>
            </a:r>
          </a:p>
        </p:txBody>
      </p:sp>
      <p:sp>
        <p:nvSpPr>
          <p:cNvPr id="2" name="Title"/>
          <p:cNvSpPr>
            <a:spLocks noGrp="1"/>
          </p:cNvSpPr>
          <p:nvPr>
            <p:ph type="title" hasCustomPrompt="1"/>
          </p:nvPr>
        </p:nvSpPr>
        <p:spPr/>
        <p:txBody>
          <a:bodyPr/>
          <a:lstStyle/>
          <a:p>
            <a:r>
              <a:rPr lang="en-US" noProof="0"/>
              <a:t>Insert page title (sentence case)</a:t>
            </a:r>
            <a:endParaRPr lang="en-US"/>
          </a:p>
        </p:txBody>
      </p:sp>
    </p:spTree>
    <p:extLst>
      <p:ext uri="{BB962C8B-B14F-4D97-AF65-F5344CB8AC3E}">
        <p14:creationId xmlns:p14="http://schemas.microsoft.com/office/powerpoint/2010/main" val="3419462429"/>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981">
          <p15:clr>
            <a:srgbClr val="FBAE40"/>
          </p15:clr>
        </p15:guide>
        <p15:guide id="5" orient="horz" pos="3991">
          <p15:clr>
            <a:srgbClr val="FBAE40"/>
          </p15:clr>
        </p15:guide>
        <p15:guide id="6" pos="73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79283225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1909119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062658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58928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60203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4598115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095088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39852852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42334139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39656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671567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47279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480056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94697509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29958757"/>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700590"/>
      </p:ext>
    </p:extLst>
  </p:cSld>
  <p:clrMapOvr>
    <a:overrideClrMapping bg1="dk1" tx1="lt1" bg2="dk2" tx2="lt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3111320"/>
      </p:ext>
    </p:extLst>
  </p:cSld>
  <p:clrMapOvr>
    <a:overrideClrMapping bg1="dk1" tx1="lt1" bg2="dk2" tx2="lt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84275249"/>
      </p:ext>
    </p:extLst>
  </p:cSld>
  <p:clrMapOvr>
    <a:overrideClrMapping bg1="dk1" tx1="lt1" bg2="dk2" tx2="lt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3915300"/>
      </p:ext>
    </p:extLst>
  </p:cSld>
  <p:clrMapOvr>
    <a:overrideClrMapping bg1="dk1" tx1="lt1" bg2="dk2" tx2="lt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67468303"/>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115524394"/>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1388694325"/>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White 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7"/>
            <a:ext cx="11088000" cy="4895851"/>
          </a:xfrm>
        </p:spPr>
        <p:txBody>
          <a:bodyPr>
            <a:noAutofit/>
          </a:bodyPr>
          <a:lstStyle>
            <a:lvl5pPr>
              <a:defRPr/>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1"/>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1" y="1053000"/>
            <a:ext cx="321438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2235127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2"/>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3"/>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4"/>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1023364642"/>
      </p:ext>
    </p:extLst>
  </p:cSld>
  <p:clrMapOvr>
    <a:overrideClrMapping bg1="dk1" tx1="lt1" bg2="dk2" tx2="lt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2-column White">
    <p:bg>
      <p:bgPr>
        <a:solidFill>
          <a:srgbClr val="FFFFFF"/>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598261" y="1347854"/>
            <a:ext cx="5069486" cy="4800600"/>
          </a:xfrm>
        </p:spPr>
        <p:txBody>
          <a:bodyPr/>
          <a:lstStyle>
            <a:lvl1pPr>
              <a:defRPr b="0"/>
            </a:lvl1pPr>
            <a:lvl2pPr>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3C9FDF5E-4912-46E1-BC83-7C00373624AF}"/>
              </a:ext>
            </a:extLst>
          </p:cNvPr>
          <p:cNvSpPr>
            <a:spLocks noGrp="1"/>
          </p:cNvSpPr>
          <p:nvPr>
            <p:ph sz="quarter" idx="14"/>
          </p:nvPr>
        </p:nvSpPr>
        <p:spPr>
          <a:xfrm>
            <a:off x="6096000" y="1347470"/>
            <a:ext cx="5069682" cy="4800600"/>
          </a:xfrm>
        </p:spPr>
        <p:txBody>
          <a:bodyPr/>
          <a:lstStyle>
            <a:lvl2pPr marL="571500" indent="-187325">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6" name="Footer Placeholder 1">
            <a:extLst>
              <a:ext uri="{FF2B5EF4-FFF2-40B4-BE49-F238E27FC236}">
                <a16:creationId xmlns:a16="http://schemas.microsoft.com/office/drawing/2014/main" id="{5DC2B4BF-E585-5CF2-A59B-561A9024ECD4}"/>
              </a:ext>
            </a:extLst>
          </p:cNvPr>
          <p:cNvSpPr>
            <a:spLocks noGrp="1"/>
          </p:cNvSpPr>
          <p:nvPr>
            <p:ph type="ftr" sz="quarter" idx="3"/>
          </p:nvPr>
        </p:nvSpPr>
        <p:spPr>
          <a:xfrm>
            <a:off x="636982" y="6476284"/>
            <a:ext cx="1586914" cy="244977"/>
          </a:xfrm>
          <a:prstGeom prst="rect">
            <a:avLst/>
          </a:prstGeom>
        </p:spPr>
        <p:txBody>
          <a:bodyPr vert="horz" lIns="91440" tIns="45720" rIns="91440" bIns="45720" rtlCol="0" anchor="ctr"/>
          <a:lstStyle>
            <a:lvl1pPr algn="l">
              <a:lnSpc>
                <a:spcPct val="80000"/>
              </a:lnSpc>
              <a:defRPr sz="1000" b="0">
                <a:solidFill>
                  <a:schemeClr val="tx2"/>
                </a:solidFill>
                <a:latin typeface="Calibri" panose="020F0502020204030204" pitchFamily="34" charset="0"/>
                <a:cs typeface="Calibri" panose="020F0502020204030204" pitchFamily="34" charset="0"/>
              </a:defRPr>
            </a:lvl1pPr>
          </a:lstStyle>
          <a:p>
            <a:r>
              <a:rPr lang="en-US"/>
              <a:t>Copyright Solace</a:t>
            </a:r>
            <a:br>
              <a:rPr lang="en-US"/>
            </a:br>
            <a:r>
              <a:rPr lang="en-US"/>
              <a:t>Proprietary &amp; Confidential</a:t>
            </a:r>
          </a:p>
        </p:txBody>
      </p:sp>
      <p:sp>
        <p:nvSpPr>
          <p:cNvPr id="7" name="Slide Number Placeholder 2">
            <a:extLst>
              <a:ext uri="{FF2B5EF4-FFF2-40B4-BE49-F238E27FC236}">
                <a16:creationId xmlns:a16="http://schemas.microsoft.com/office/drawing/2014/main" id="{DD11A02F-8FD9-4E5F-7E9C-BEB26C60098E}"/>
              </a:ext>
            </a:extLst>
          </p:cNvPr>
          <p:cNvSpPr>
            <a:spLocks noGrp="1"/>
          </p:cNvSpPr>
          <p:nvPr>
            <p:ph type="sldNum" sz="quarter" idx="4"/>
          </p:nvPr>
        </p:nvSpPr>
        <p:spPr>
          <a:xfrm>
            <a:off x="103988" y="6479144"/>
            <a:ext cx="504825" cy="224968"/>
          </a:xfrm>
          <a:prstGeom prst="rect">
            <a:avLst/>
          </a:prstGeom>
        </p:spPr>
        <p:txBody>
          <a:bodyPr vert="horz" lIns="91440" tIns="45720" rIns="91440" bIns="45720" rtlCol="0" anchor="ctr"/>
          <a:lstStyle>
            <a:lvl1pPr algn="ctr">
              <a:defRPr sz="1400" b="1">
                <a:solidFill>
                  <a:srgbClr val="093B5F"/>
                </a:solidFill>
                <a:latin typeface="Calibri" panose="020F0502020204030204" pitchFamily="34" charset="0"/>
                <a:cs typeface="Calibri" panose="020F0502020204030204" pitchFamily="34" charset="0"/>
              </a:defRPr>
            </a:lvl1pPr>
          </a:lstStyle>
          <a:p>
            <a:fld id="{46295180-FDB1-4196-84A4-AB3CBFFFE894}" type="slidenum">
              <a:rPr lang="en-US" smtClean="0"/>
              <a:pPr/>
              <a:t>‹Nr.›</a:t>
            </a:fld>
            <a:endParaRPr lang="en-US"/>
          </a:p>
        </p:txBody>
      </p:sp>
      <p:sp>
        <p:nvSpPr>
          <p:cNvPr id="2" name="Title Text">
            <a:extLst>
              <a:ext uri="{FF2B5EF4-FFF2-40B4-BE49-F238E27FC236}">
                <a16:creationId xmlns:a16="http://schemas.microsoft.com/office/drawing/2014/main" id="{EA6BA173-541C-63CD-AB4F-E32C9A2BBA73}"/>
              </a:ext>
            </a:extLst>
          </p:cNvPr>
          <p:cNvSpPr txBox="1">
            <a:spLocks noGrp="1"/>
          </p:cNvSpPr>
          <p:nvPr>
            <p:ph type="title"/>
          </p:nvPr>
        </p:nvSpPr>
        <p:spPr>
          <a:xfrm>
            <a:off x="598263" y="59465"/>
            <a:ext cx="11231789" cy="965456"/>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ctr" anchorCtr="0"/>
          <a:lstStyle/>
          <a:p>
            <a:endParaRPr/>
          </a:p>
        </p:txBody>
      </p:sp>
    </p:spTree>
    <p:extLst>
      <p:ext uri="{BB962C8B-B14F-4D97-AF65-F5344CB8AC3E}">
        <p14:creationId xmlns:p14="http://schemas.microsoft.com/office/powerpoint/2010/main" val="3903025245"/>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theme" Target="../theme/theme2.xml"/><Relationship Id="rId29" Type="http://schemas.openxmlformats.org/officeDocument/2006/relationships/image" Target="../media/image3.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slideLayout" Target="../slideLayouts/slideLayout47.xml"/><Relationship Id="rId10" Type="http://schemas.openxmlformats.org/officeDocument/2006/relationships/slideLayout" Target="../slideLayouts/slideLayout48.xml"/><Relationship Id="rId11" Type="http://schemas.openxmlformats.org/officeDocument/2006/relationships/slideLayout" Target="../slideLayouts/slideLayout49.xml"/><Relationship Id="rId12" Type="http://schemas.openxmlformats.org/officeDocument/2006/relationships/slideLayout" Target="../slideLayouts/slideLayout50.xml"/><Relationship Id="rId13" Type="http://schemas.openxmlformats.org/officeDocument/2006/relationships/slideLayout" Target="../slideLayouts/slideLayout51.xml"/><Relationship Id="rId14" Type="http://schemas.openxmlformats.org/officeDocument/2006/relationships/slideLayout" Target="../slideLayouts/slideLayout52.xml"/><Relationship Id="rId15" Type="http://schemas.openxmlformats.org/officeDocument/2006/relationships/slideLayout" Target="../slideLayouts/slideLayout53.xml"/><Relationship Id="rId16" Type="http://schemas.openxmlformats.org/officeDocument/2006/relationships/slideLayout" Target="../slideLayouts/slideLayout54.xml"/><Relationship Id="rId17" Type="http://schemas.openxmlformats.org/officeDocument/2006/relationships/slideLayout" Target="../slideLayouts/slideLayout55.xml"/><Relationship Id="rId18" Type="http://schemas.openxmlformats.org/officeDocument/2006/relationships/slideLayout" Target="../slideLayouts/slideLayout56.xml"/><Relationship Id="rId19" Type="http://schemas.openxmlformats.org/officeDocument/2006/relationships/slideLayout" Target="../slideLayouts/slideLayout57.xml"/><Relationship Id="rId20" Type="http://schemas.openxmlformats.org/officeDocument/2006/relationships/slideLayout" Target="../slideLayouts/slideLayout58.xml"/><Relationship Id="rId21" Type="http://schemas.openxmlformats.org/officeDocument/2006/relationships/slideLayout" Target="../slideLayouts/slideLayout59.xml"/><Relationship Id="rId22" Type="http://schemas.openxmlformats.org/officeDocument/2006/relationships/slideLayout" Target="../slideLayouts/slideLayout60.xml"/><Relationship Id="rId23" Type="http://schemas.openxmlformats.org/officeDocument/2006/relationships/slideLayout" Target="../slideLayouts/slideLayout61.xml"/><Relationship Id="rId24" Type="http://schemas.openxmlformats.org/officeDocument/2006/relationships/slideLayout" Target="../slideLayouts/slideLayout62.xml"/><Relationship Id="rId25" Type="http://schemas.openxmlformats.org/officeDocument/2006/relationships/theme" Target="../theme/theme3.xml"/><Relationship Id="rId26"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A3B166F3-B7E3-8F7D-DD55-374CDD77829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11089754"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1438"/>
            <a:ext cx="11088000" cy="475185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211" name="Graphic 210">
            <a:extLst>
              <a:ext uri="{FF2B5EF4-FFF2-40B4-BE49-F238E27FC236}">
                <a16:creationId xmlns:a16="http://schemas.microsoft.com/office/drawing/2014/main" id="{6AF4FEA6-CCA3-5154-98D3-775009DADAF1}"/>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238508" y="6237352"/>
            <a:ext cx="1402108" cy="360000"/>
          </a:xfrm>
          <a:prstGeom prst="rect">
            <a:avLst/>
          </a:prstGeom>
        </p:spPr>
      </p:pic>
      <p:sp>
        <p:nvSpPr>
          <p:cNvPr id="5" name="Footer Placeholder 4">
            <a:extLst>
              <a:ext uri="{FF2B5EF4-FFF2-40B4-BE49-F238E27FC236}">
                <a16:creationId xmlns:a16="http://schemas.microsoft.com/office/drawing/2014/main" id="{C860D63A-3DCF-6F76-37D2-BB1047842876}"/>
              </a:ext>
            </a:extLst>
          </p:cNvPr>
          <p:cNvSpPr>
            <a:spLocks noGrp="1"/>
          </p:cNvSpPr>
          <p:nvPr>
            <p:ph type="ftr" sz="quarter" idx="3"/>
          </p:nvPr>
        </p:nvSpPr>
        <p:spPr>
          <a:xfrm>
            <a:off x="840000" y="6381000"/>
            <a:ext cx="1512000"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defRPr>
            </a:lvl1pPr>
          </a:lstStyle>
          <a:p>
            <a:r>
              <a:rPr lang="en-US"/>
              <a:t>© Solace   |   Proprietary &amp; Confidential</a:t>
            </a:r>
          </a:p>
        </p:txBody>
      </p:sp>
      <p:sp>
        <p:nvSpPr>
          <p:cNvPr id="6" name="Slide Number Placeholder 5">
            <a:extLst>
              <a:ext uri="{FF2B5EF4-FFF2-40B4-BE49-F238E27FC236}">
                <a16:creationId xmlns:a16="http://schemas.microsoft.com/office/drawing/2014/main" id="{1D2FE529-5FD5-3C60-3388-392DEFE0C9F7}"/>
              </a:ext>
            </a:extLst>
          </p:cNvPr>
          <p:cNvSpPr>
            <a:spLocks noGrp="1"/>
          </p:cNvSpPr>
          <p:nvPr>
            <p:ph type="sldNum" sz="quarter" idx="4"/>
          </p:nvPr>
        </p:nvSpPr>
        <p:spPr>
          <a:xfrm flipH="1">
            <a:off x="550862" y="6381000"/>
            <a:ext cx="216000" cy="216000"/>
          </a:xfrm>
          <a:prstGeom prst="rect">
            <a:avLst/>
          </a:prstGeom>
        </p:spPr>
        <p:txBody>
          <a:bodyPr vert="horz" lIns="0" tIns="0" rIns="0" bIns="0" rtlCol="0" anchor="ctr"/>
          <a:lstStyle>
            <a:lvl1pPr algn="ctr">
              <a:defRPr sz="800" b="1">
                <a:solidFill>
                  <a:schemeClr val="tx1"/>
                </a:solidFill>
              </a:defRPr>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475790673"/>
      </p:ext>
    </p:extLst>
  </p:cSld>
  <p:clrMap bg1="lt1" tx1="dk1" bg2="lt2" tx2="dk2" accent1="accent1" accent2="accent2" accent3="accent3" accent4="accent4" accent5="accent5" accent6="accent6" hlink="hlink" folHlink="folHlink"/>
  <p:sldLayoutIdLst>
    <p:sldLayoutId id="2147483664" r:id="rId1"/>
    <p:sldLayoutId id="2147483667" r:id="rId2"/>
    <p:sldLayoutId id="2147483708" r:id="rId3"/>
    <p:sldLayoutId id="2147483710" r:id="rId4"/>
    <p:sldLayoutId id="2147483712" r:id="rId5"/>
    <p:sldLayoutId id="2147483714" r:id="rId6"/>
    <p:sldLayoutId id="2147483713" r:id="rId7"/>
    <p:sldLayoutId id="2147483715" r:id="rId8"/>
    <p:sldLayoutId id="2147483717" r:id="rId9"/>
    <p:sldLayoutId id="2147483716" r:id="rId10"/>
    <p:sldLayoutId id="2147483703" r:id="rId11"/>
  </p:sldLayoutIdLst>
  <p:hf hdr="0" dt="0"/>
  <p:txStyles>
    <p:titleStyle>
      <a:lvl1pPr algn="l" defTabSz="914400" rtl="0" eaLnBrk="1" latinLnBrk="0" hangingPunct="1">
        <a:lnSpc>
          <a:spcPct val="80000"/>
        </a:lnSpc>
        <a:spcBef>
          <a:spcPct val="0"/>
        </a:spcBef>
        <a:buNone/>
        <a:defRPr sz="3200" b="1" kern="1200">
          <a:solidFill>
            <a:schemeClr val="tx1"/>
          </a:solidFill>
          <a:latin typeface="+mn-lt"/>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mn-lt"/>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mn-lt"/>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mn-lt"/>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mn-lt"/>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38" orient="horz" pos="4065" userDrawn="1">
          <p15:clr>
            <a:srgbClr val="F26B43"/>
          </p15:clr>
        </p15:guide>
        <p15:guide id="40" orient="horz" pos="4156" userDrawn="1">
          <p15:clr>
            <a:srgbClr val="F26B43"/>
          </p15:clr>
        </p15:guide>
        <p15:guide id="41" orient="horz" pos="4320" userDrawn="1">
          <p15:clr>
            <a:srgbClr val="F26B43"/>
          </p15:clr>
        </p15:guide>
        <p15:guide id="42" orient="horz" pos="845"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1761218609"/>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82" r:id="rId3"/>
    <p:sldLayoutId id="2147483752" r:id="rId4"/>
    <p:sldLayoutId id="2147483750" r:id="rId5"/>
    <p:sldLayoutId id="2147483751" r:id="rId6"/>
    <p:sldLayoutId id="2147483683" r:id="rId7"/>
    <p:sldLayoutId id="2147483684" r:id="rId8"/>
    <p:sldLayoutId id="2147483690" r:id="rId9"/>
    <p:sldLayoutId id="2147483689" r:id="rId10"/>
    <p:sldLayoutId id="2147483692" r:id="rId11"/>
    <p:sldLayoutId id="2147483694" r:id="rId12"/>
    <p:sldLayoutId id="2147483695" r:id="rId13"/>
    <p:sldLayoutId id="2147483696" r:id="rId14"/>
    <p:sldLayoutId id="2147483697" r:id="rId15"/>
    <p:sldLayoutId id="2147483698" r:id="rId16"/>
    <p:sldLayoutId id="2147483753" r:id="rId17"/>
    <p:sldLayoutId id="2147483704" r:id="rId18"/>
    <p:sldLayoutId id="2147483705" r:id="rId19"/>
    <p:sldLayoutId id="2147483699" r:id="rId20"/>
    <p:sldLayoutId id="2147483754" r:id="rId21"/>
    <p:sldLayoutId id="2147483755" r:id="rId22"/>
    <p:sldLayoutId id="2147483756" r:id="rId23"/>
    <p:sldLayoutId id="2147483757" r:id="rId24"/>
    <p:sldLayoutId id="2147483758" r:id="rId25"/>
    <p:sldLayoutId id="2147483759" r:id="rId26"/>
    <p:sldLayoutId id="2147483760" r:id="rId27"/>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40" orient="horz" pos="4156" userDrawn="1">
          <p15:clr>
            <a:srgbClr val="F26B43"/>
          </p15:clr>
        </p15:guide>
        <p15:guide id="41" orient="horz" pos="3929" userDrawn="1">
          <p15:clr>
            <a:srgbClr val="F26B43"/>
          </p15:clr>
        </p15:guide>
        <p15:guide id="42" orient="horz" pos="845" userDrawn="1">
          <p15:clr>
            <a:srgbClr val="F26B43"/>
          </p15:clr>
        </p15:guide>
        <p15:guide id="43" orient="horz" pos="4065"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399753072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64" r:id="rId3"/>
    <p:sldLayoutId id="2147483765" r:id="rId4"/>
    <p:sldLayoutId id="2147483766" r:id="rId5"/>
    <p:sldLayoutId id="2147483767" r:id="rId6"/>
    <p:sldLayoutId id="2147483768" r:id="rId7"/>
    <p:sldLayoutId id="2147483769" r:id="rId8"/>
    <p:sldLayoutId id="2147483770" r:id="rId9"/>
    <p:sldLayoutId id="2147483771" r:id="rId10"/>
    <p:sldLayoutId id="2147483772" r:id="rId11"/>
    <p:sldLayoutId id="2147483773" r:id="rId12"/>
    <p:sldLayoutId id="2147483774" r:id="rId13"/>
    <p:sldLayoutId id="2147483775" r:id="rId14"/>
    <p:sldLayoutId id="2147483776" r:id="rId15"/>
    <p:sldLayoutId id="2147483777" r:id="rId16"/>
    <p:sldLayoutId id="2147483778" r:id="rId17"/>
    <p:sldLayoutId id="2147483779" r:id="rId18"/>
    <p:sldLayoutId id="2147483780" r:id="rId19"/>
    <p:sldLayoutId id="2147483781" r:id="rId20"/>
    <p:sldLayoutId id="2147483782" r:id="rId21"/>
    <p:sldLayoutId id="2147483783" r:id="rId22"/>
    <p:sldLayoutId id="2147483784" r:id="rId23"/>
    <p:sldLayoutId id="2147483785" r:id="rId24"/>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p15:clr>
            <a:srgbClr val="F26B43"/>
          </p15:clr>
        </p15:guide>
        <p15:guide id="2" pos="347">
          <p15:clr>
            <a:srgbClr val="F26B43"/>
          </p15:clr>
        </p15:guide>
        <p15:guide id="3" pos="7333">
          <p15:clr>
            <a:srgbClr val="F26B43"/>
          </p15:clr>
        </p15:guide>
        <p15:guide id="4" pos="846">
          <p15:clr>
            <a:srgbClr val="F26B43"/>
          </p15:clr>
        </p15:guide>
        <p15:guide id="5" pos="937">
          <p15:clr>
            <a:srgbClr val="F26B43"/>
          </p15:clr>
        </p15:guide>
        <p15:guide id="6" pos="1436">
          <p15:clr>
            <a:srgbClr val="F26B43"/>
          </p15:clr>
        </p15:guide>
        <p15:guide id="7" pos="1526">
          <p15:clr>
            <a:srgbClr val="F26B43"/>
          </p15:clr>
        </p15:guide>
        <p15:guide id="8" pos="2025">
          <p15:clr>
            <a:srgbClr val="F26B43"/>
          </p15:clr>
        </p15:guide>
        <p15:guide id="9" pos="2115">
          <p15:clr>
            <a:srgbClr val="F26B43"/>
          </p15:clr>
        </p15:guide>
        <p15:guide id="10" pos="2615">
          <p15:clr>
            <a:srgbClr val="F26B43"/>
          </p15:clr>
        </p15:guide>
        <p15:guide id="11" pos="2706">
          <p15:clr>
            <a:srgbClr val="F26B43"/>
          </p15:clr>
        </p15:guide>
        <p15:guide id="12" pos="3205">
          <p15:clr>
            <a:srgbClr val="F26B43"/>
          </p15:clr>
        </p15:guide>
        <p15:guide id="13" pos="3296">
          <p15:clr>
            <a:srgbClr val="F26B43"/>
          </p15:clr>
        </p15:guide>
        <p15:guide id="14" pos="3795">
          <p15:clr>
            <a:srgbClr val="F26B43"/>
          </p15:clr>
        </p15:guide>
        <p15:guide id="15" pos="3885">
          <p15:clr>
            <a:srgbClr val="F26B43"/>
          </p15:clr>
        </p15:guide>
        <p15:guide id="16" pos="4475">
          <p15:clr>
            <a:srgbClr val="F26B43"/>
          </p15:clr>
        </p15:guide>
        <p15:guide id="17" pos="4384">
          <p15:clr>
            <a:srgbClr val="F26B43"/>
          </p15:clr>
        </p15:guide>
        <p15:guide id="18" pos="4974">
          <p15:clr>
            <a:srgbClr val="F26B43"/>
          </p15:clr>
        </p15:guide>
        <p15:guide id="19" pos="5065">
          <p15:clr>
            <a:srgbClr val="F26B43"/>
          </p15:clr>
        </p15:guide>
        <p15:guide id="20" pos="5564">
          <p15:clr>
            <a:srgbClr val="F26B43"/>
          </p15:clr>
        </p15:guide>
        <p15:guide id="21" pos="5654">
          <p15:clr>
            <a:srgbClr val="F26B43"/>
          </p15:clr>
        </p15:guide>
        <p15:guide id="22" pos="6153">
          <p15:clr>
            <a:srgbClr val="F26B43"/>
          </p15:clr>
        </p15:guide>
        <p15:guide id="23" pos="6244">
          <p15:clr>
            <a:srgbClr val="F26B43"/>
          </p15:clr>
        </p15:guide>
        <p15:guide id="24" pos="6743">
          <p15:clr>
            <a:srgbClr val="F26B43"/>
          </p15:clr>
        </p15:guide>
        <p15:guide id="25" pos="6834">
          <p15:clr>
            <a:srgbClr val="F26B43"/>
          </p15:clr>
        </p15:guide>
        <p15:guide id="26" orient="horz" pos="1706">
          <p15:clr>
            <a:srgbClr val="F26B43"/>
          </p15:clr>
        </p15:guide>
        <p15:guide id="27" orient="horz" pos="1117">
          <p15:clr>
            <a:srgbClr val="F26B43"/>
          </p15:clr>
        </p15:guide>
        <p15:guide id="28" orient="horz" pos="1207">
          <p15:clr>
            <a:srgbClr val="F26B43"/>
          </p15:clr>
        </p15:guide>
        <p15:guide id="29" orient="horz" pos="663">
          <p15:clr>
            <a:srgbClr val="F26B43"/>
          </p15:clr>
        </p15:guide>
        <p15:guide id="30" orient="horz" pos="527">
          <p15:clr>
            <a:srgbClr val="F26B43"/>
          </p15:clr>
        </p15:guide>
        <p15:guide id="31" orient="horz" pos="210">
          <p15:clr>
            <a:srgbClr val="F26B43"/>
          </p15:clr>
        </p15:guide>
        <p15:guide id="32" orient="horz" pos="2296">
          <p15:clr>
            <a:srgbClr val="F26B43"/>
          </p15:clr>
        </p15:guide>
        <p15:guide id="33" orient="horz" pos="2387">
          <p15:clr>
            <a:srgbClr val="F26B43"/>
          </p15:clr>
        </p15:guide>
        <p15:guide id="34" orient="horz" pos="2886">
          <p15:clr>
            <a:srgbClr val="F26B43"/>
          </p15:clr>
        </p15:guide>
        <p15:guide id="35" orient="horz" pos="2976">
          <p15:clr>
            <a:srgbClr val="F26B43"/>
          </p15:clr>
        </p15:guide>
        <p15:guide id="36" orient="horz" pos="3475">
          <p15:clr>
            <a:srgbClr val="F26B43"/>
          </p15:clr>
        </p15:guide>
        <p15:guide id="37" orient="horz" pos="3566">
          <p15:clr>
            <a:srgbClr val="F26B43"/>
          </p15:clr>
        </p15:guide>
        <p15:guide id="40" orient="horz" pos="4156">
          <p15:clr>
            <a:srgbClr val="F26B43"/>
          </p15:clr>
        </p15:guide>
        <p15:guide id="41" orient="horz" pos="3929">
          <p15:clr>
            <a:srgbClr val="F26B43"/>
          </p15:clr>
        </p15:guide>
        <p15:guide id="42" orient="horz" pos="845">
          <p15:clr>
            <a:srgbClr val="F26B43"/>
          </p15:clr>
        </p15:guide>
        <p15:guide id="43" orient="horz" pos="406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xml"/><Relationship Id="rId3" Type="http://schemas.openxmlformats.org/officeDocument/2006/relationships/image" Target="../media/image17.png"/><Relationship Id="rId4" Type="http://schemas.openxmlformats.org/officeDocument/2006/relationships/image" Target="../media/image18.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2.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jpeg"/><Relationship Id="rId9"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 Id="rId15" Type="http://schemas.openxmlformats.org/officeDocument/2006/relationships/image" Target="../media/image38.png"/><Relationship Id="rId16" Type="http://schemas.openxmlformats.org/officeDocument/2006/relationships/image" Target="../media/image39.png"/><Relationship Id="rId17" Type="http://schemas.openxmlformats.org/officeDocument/2006/relationships/image" Target="../media/image40.png"/><Relationship Id="rId18" Type="http://schemas.openxmlformats.org/officeDocument/2006/relationships/image" Target="../media/image41.png"/><Relationship Id="rId19" Type="http://schemas.openxmlformats.org/officeDocument/2006/relationships/image" Target="../media/image4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34.png"/><Relationship Id="rId6" Type="http://schemas.openxmlformats.org/officeDocument/2006/relationships/image" Target="../media/image33.png"/><Relationship Id="rId7" Type="http://schemas.openxmlformats.org/officeDocument/2006/relationships/image" Target="../media/image3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5.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34.png"/><Relationship Id="rId6" Type="http://schemas.openxmlformats.org/officeDocument/2006/relationships/image" Target="../media/image33.png"/><Relationship Id="rId7"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jpeg"/><Relationship Id="rId9"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8D140-4EA3-4F87-15F7-8EB3ADC362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0F2C50-A354-0F26-17D1-33EC10F6B423}"/>
              </a:ext>
            </a:extLst>
          </p:cNvPr>
          <p:cNvSpPr>
            <a:spLocks noGrp="1"/>
          </p:cNvSpPr>
          <p:nvPr>
            <p:ph type="title"/>
          </p:nvPr>
        </p:nvSpPr>
        <p:spPr>
          <a:xfrm>
            <a:off x="381619" y="329285"/>
            <a:ext cx="9882053" cy="504000"/>
          </a:xfrm>
        </p:spPr>
        <p:txBody>
          <a:bodyPr/>
          <a:lstStyle/>
          <a:p>
            <a:r>
              <a:rPr lang="en-US"/>
              <a:t>AI Agents are like Microservices – </a:t>
            </a:r>
            <a:br>
              <a:rPr lang="en-US"/>
            </a:br>
            <a:r>
              <a:rPr lang="en-US"/>
              <a:t>Event Driven for robustness</a:t>
            </a:r>
          </a:p>
        </p:txBody>
      </p:sp>
      <p:sp>
        <p:nvSpPr>
          <p:cNvPr id="3" name="Footer Placeholder 2">
            <a:extLst>
              <a:ext uri="{FF2B5EF4-FFF2-40B4-BE49-F238E27FC236}">
                <a16:creationId xmlns:a16="http://schemas.microsoft.com/office/drawing/2014/main" id="{0B676B92-A9F1-0168-9BCC-A08DB09FC141}"/>
              </a:ext>
            </a:extLst>
          </p:cNvPr>
          <p:cNvSpPr>
            <a:spLocks noGrp="1"/>
          </p:cNvSpPr>
          <p:nvPr>
            <p:ph type="ftr" sz="quarter" idx="10"/>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A3B5E"/>
                </a:solidFill>
                <a:effectLst/>
                <a:uLnTx/>
                <a:uFillTx/>
                <a:latin typeface="Aptos" panose="020B0004020202020204" pitchFamily="34" charset="0"/>
                <a:ea typeface="+mn-ea"/>
                <a:cs typeface="+mn-cs"/>
              </a:rPr>
              <a:t>© Solace   |   Proprietary &amp; Confidential</a:t>
            </a:r>
          </a:p>
        </p:txBody>
      </p:sp>
      <p:sp>
        <p:nvSpPr>
          <p:cNvPr id="4" name="Slide Number Placeholder 3">
            <a:extLst>
              <a:ext uri="{FF2B5EF4-FFF2-40B4-BE49-F238E27FC236}">
                <a16:creationId xmlns:a16="http://schemas.microsoft.com/office/drawing/2014/main" id="{EE0595F8-DC08-2CB2-1816-99F5E83CEAF4}"/>
              </a:ext>
            </a:extLst>
          </p:cNvPr>
          <p:cNvSpPr>
            <a:spLocks noGrp="1"/>
          </p:cNvSpPr>
          <p:nvPr>
            <p:ph type="sldNum"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pic>
        <p:nvPicPr>
          <p:cNvPr id="10" name="Picture 2" descr="Warning">
            <a:extLst>
              <a:ext uri="{FF2B5EF4-FFF2-40B4-BE49-F238E27FC236}">
                <a16:creationId xmlns:a16="http://schemas.microsoft.com/office/drawing/2014/main" id="{0A12D401-FDF7-DA7C-8642-4AC9BC290F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9068" y="4821593"/>
            <a:ext cx="446857" cy="446857"/>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Warning">
            <a:extLst>
              <a:ext uri="{FF2B5EF4-FFF2-40B4-BE49-F238E27FC236}">
                <a16:creationId xmlns:a16="http://schemas.microsoft.com/office/drawing/2014/main" id="{08E9375F-2AF2-F297-AA31-B18447D661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84804" y="2343938"/>
            <a:ext cx="446857" cy="446857"/>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a:extLst>
              <a:ext uri="{FF2B5EF4-FFF2-40B4-BE49-F238E27FC236}">
                <a16:creationId xmlns:a16="http://schemas.microsoft.com/office/drawing/2014/main" id="{0B498041-25CC-7A8B-0BF3-F17C628E695D}"/>
              </a:ext>
            </a:extLst>
          </p:cNvPr>
          <p:cNvSpPr/>
          <p:nvPr/>
        </p:nvSpPr>
        <p:spPr>
          <a:xfrm>
            <a:off x="1471491" y="2743831"/>
            <a:ext cx="1209673" cy="2174334"/>
          </a:xfrm>
          <a:custGeom>
            <a:avLst/>
            <a:gdLst>
              <a:gd name="connsiteX0" fmla="*/ 0 w 1209673"/>
              <a:gd name="connsiteY0" fmla="*/ 2174334 h 2174334"/>
              <a:gd name="connsiteX1" fmla="*/ 197708 w 1209673"/>
              <a:gd name="connsiteY1" fmla="*/ 716237 h 2174334"/>
              <a:gd name="connsiteX2" fmla="*/ 1136822 w 1209673"/>
              <a:gd name="connsiteY2" fmla="*/ 48972 h 2174334"/>
              <a:gd name="connsiteX3" fmla="*/ 1149179 w 1209673"/>
              <a:gd name="connsiteY3" fmla="*/ 48972 h 2174334"/>
            </a:gdLst>
            <a:ahLst/>
            <a:cxnLst>
              <a:cxn ang="0">
                <a:pos x="connsiteX0" y="connsiteY0"/>
              </a:cxn>
              <a:cxn ang="0">
                <a:pos x="connsiteX1" y="connsiteY1"/>
              </a:cxn>
              <a:cxn ang="0">
                <a:pos x="connsiteX2" y="connsiteY2"/>
              </a:cxn>
              <a:cxn ang="0">
                <a:pos x="connsiteX3" y="connsiteY3"/>
              </a:cxn>
            </a:cxnLst>
            <a:rect l="l" t="t" r="r" b="b"/>
            <a:pathLst>
              <a:path w="1209673" h="2174334">
                <a:moveTo>
                  <a:pt x="0" y="2174334"/>
                </a:moveTo>
                <a:cubicBezTo>
                  <a:pt x="4119" y="1622399"/>
                  <a:pt x="8238" y="1070464"/>
                  <a:pt x="197708" y="716237"/>
                </a:cubicBezTo>
                <a:cubicBezTo>
                  <a:pt x="387178" y="362010"/>
                  <a:pt x="978244" y="160183"/>
                  <a:pt x="1136822" y="48972"/>
                </a:cubicBezTo>
                <a:cubicBezTo>
                  <a:pt x="1295401" y="-62239"/>
                  <a:pt x="1145060" y="51031"/>
                  <a:pt x="1149179" y="48972"/>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 name="Freeform 18">
            <a:extLst>
              <a:ext uri="{FF2B5EF4-FFF2-40B4-BE49-F238E27FC236}">
                <a16:creationId xmlns:a16="http://schemas.microsoft.com/office/drawing/2014/main" id="{8A4A5121-98AD-B205-290A-985CBB94FE78}"/>
              </a:ext>
            </a:extLst>
          </p:cNvPr>
          <p:cNvSpPr/>
          <p:nvPr/>
        </p:nvSpPr>
        <p:spPr>
          <a:xfrm>
            <a:off x="1817480" y="2891657"/>
            <a:ext cx="1235676" cy="1532238"/>
          </a:xfrm>
          <a:custGeom>
            <a:avLst/>
            <a:gdLst>
              <a:gd name="connsiteX0" fmla="*/ 0 w 1235676"/>
              <a:gd name="connsiteY0" fmla="*/ 0 h 1532238"/>
              <a:gd name="connsiteX1" fmla="*/ 580768 w 1235676"/>
              <a:gd name="connsiteY1" fmla="*/ 407773 h 1532238"/>
              <a:gd name="connsiteX2" fmla="*/ 556055 w 1235676"/>
              <a:gd name="connsiteY2" fmla="*/ 1149179 h 1532238"/>
              <a:gd name="connsiteX3" fmla="*/ 1235676 w 1235676"/>
              <a:gd name="connsiteY3" fmla="*/ 1532238 h 1532238"/>
            </a:gdLst>
            <a:ahLst/>
            <a:cxnLst>
              <a:cxn ang="0">
                <a:pos x="connsiteX0" y="connsiteY0"/>
              </a:cxn>
              <a:cxn ang="0">
                <a:pos x="connsiteX1" y="connsiteY1"/>
              </a:cxn>
              <a:cxn ang="0">
                <a:pos x="connsiteX2" y="connsiteY2"/>
              </a:cxn>
              <a:cxn ang="0">
                <a:pos x="connsiteX3" y="connsiteY3"/>
              </a:cxn>
            </a:cxnLst>
            <a:rect l="l" t="t" r="r" b="b"/>
            <a:pathLst>
              <a:path w="1235676" h="1532238">
                <a:moveTo>
                  <a:pt x="0" y="0"/>
                </a:moveTo>
                <a:cubicBezTo>
                  <a:pt x="244046" y="108121"/>
                  <a:pt x="488092" y="216243"/>
                  <a:pt x="580768" y="407773"/>
                </a:cubicBezTo>
                <a:cubicBezTo>
                  <a:pt x="673444" y="599303"/>
                  <a:pt x="446904" y="961768"/>
                  <a:pt x="556055" y="1149179"/>
                </a:cubicBezTo>
                <a:cubicBezTo>
                  <a:pt x="665206" y="1336590"/>
                  <a:pt x="1112109" y="1464276"/>
                  <a:pt x="1235676" y="1532238"/>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27" name="Freeform 26">
            <a:extLst>
              <a:ext uri="{FF2B5EF4-FFF2-40B4-BE49-F238E27FC236}">
                <a16:creationId xmlns:a16="http://schemas.microsoft.com/office/drawing/2014/main" id="{F06308E2-7F7C-D107-3D12-FDB5F9CC7BBE}"/>
              </a:ext>
            </a:extLst>
          </p:cNvPr>
          <p:cNvSpPr/>
          <p:nvPr/>
        </p:nvSpPr>
        <p:spPr>
          <a:xfrm>
            <a:off x="993681" y="3126436"/>
            <a:ext cx="1725843" cy="2360140"/>
          </a:xfrm>
          <a:custGeom>
            <a:avLst/>
            <a:gdLst>
              <a:gd name="connsiteX0" fmla="*/ 230675 w 1725843"/>
              <a:gd name="connsiteY0" fmla="*/ 0 h 2360140"/>
              <a:gd name="connsiteX1" fmla="*/ 32967 w 1725843"/>
              <a:gd name="connsiteY1" fmla="*/ 370702 h 2360140"/>
              <a:gd name="connsiteX2" fmla="*/ 836156 w 1725843"/>
              <a:gd name="connsiteY2" fmla="*/ 914400 h 2360140"/>
              <a:gd name="connsiteX3" fmla="*/ 1268643 w 1725843"/>
              <a:gd name="connsiteY3" fmla="*/ 1989438 h 2360140"/>
              <a:gd name="connsiteX4" fmla="*/ 1725843 w 1725843"/>
              <a:gd name="connsiteY4" fmla="*/ 2360140 h 2360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5843" h="2360140">
                <a:moveTo>
                  <a:pt x="230675" y="0"/>
                </a:moveTo>
                <a:cubicBezTo>
                  <a:pt x="81364" y="109151"/>
                  <a:pt x="-67946" y="218302"/>
                  <a:pt x="32967" y="370702"/>
                </a:cubicBezTo>
                <a:cubicBezTo>
                  <a:pt x="133880" y="523102"/>
                  <a:pt x="630210" y="644611"/>
                  <a:pt x="836156" y="914400"/>
                </a:cubicBezTo>
                <a:cubicBezTo>
                  <a:pt x="1042102" y="1184189"/>
                  <a:pt x="1120362" y="1748481"/>
                  <a:pt x="1268643" y="1989438"/>
                </a:cubicBezTo>
                <a:cubicBezTo>
                  <a:pt x="1416924" y="2230395"/>
                  <a:pt x="1571383" y="2295267"/>
                  <a:pt x="1725843" y="2360140"/>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28" name="Freeform 27">
            <a:extLst>
              <a:ext uri="{FF2B5EF4-FFF2-40B4-BE49-F238E27FC236}">
                <a16:creationId xmlns:a16="http://schemas.microsoft.com/office/drawing/2014/main" id="{BAA53E74-BA35-2D61-EE33-54F4E5B13B00}"/>
              </a:ext>
            </a:extLst>
          </p:cNvPr>
          <p:cNvSpPr/>
          <p:nvPr/>
        </p:nvSpPr>
        <p:spPr>
          <a:xfrm>
            <a:off x="1685102" y="2567281"/>
            <a:ext cx="2172918" cy="2827693"/>
          </a:xfrm>
          <a:custGeom>
            <a:avLst/>
            <a:gdLst>
              <a:gd name="connsiteX0" fmla="*/ 33524 w 2172918"/>
              <a:gd name="connsiteY0" fmla="*/ 2808084 h 2827693"/>
              <a:gd name="connsiteX1" fmla="*/ 144735 w 2172918"/>
              <a:gd name="connsiteY1" fmla="*/ 2783371 h 2827693"/>
              <a:gd name="connsiteX2" fmla="*/ 2109460 w 2172918"/>
              <a:gd name="connsiteY2" fmla="*/ 1992538 h 2827693"/>
              <a:gd name="connsiteX3" fmla="*/ 1652260 w 2172918"/>
              <a:gd name="connsiteY3" fmla="*/ 287306 h 2827693"/>
              <a:gd name="connsiteX4" fmla="*/ 1256843 w 2172918"/>
              <a:gd name="connsiteY4" fmla="*/ 15457 h 2827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72918" h="2827693">
                <a:moveTo>
                  <a:pt x="33524" y="2808084"/>
                </a:moveTo>
                <a:cubicBezTo>
                  <a:pt x="-83865" y="2863689"/>
                  <a:pt x="144735" y="2783371"/>
                  <a:pt x="144735" y="2783371"/>
                </a:cubicBezTo>
                <a:cubicBezTo>
                  <a:pt x="490724" y="2647447"/>
                  <a:pt x="1858206" y="2408549"/>
                  <a:pt x="2109460" y="1992538"/>
                </a:cubicBezTo>
                <a:cubicBezTo>
                  <a:pt x="2360714" y="1576527"/>
                  <a:pt x="1794363" y="616820"/>
                  <a:pt x="1652260" y="287306"/>
                </a:cubicBezTo>
                <a:cubicBezTo>
                  <a:pt x="1510157" y="-42208"/>
                  <a:pt x="1333043" y="-11316"/>
                  <a:pt x="1256843" y="15457"/>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29" name="Freeform 28">
            <a:extLst>
              <a:ext uri="{FF2B5EF4-FFF2-40B4-BE49-F238E27FC236}">
                <a16:creationId xmlns:a16="http://schemas.microsoft.com/office/drawing/2014/main" id="{C661FD22-5667-52EE-6CF1-E9DC41122BF3}"/>
              </a:ext>
            </a:extLst>
          </p:cNvPr>
          <p:cNvSpPr/>
          <p:nvPr/>
        </p:nvSpPr>
        <p:spPr>
          <a:xfrm>
            <a:off x="693016" y="3355503"/>
            <a:ext cx="2038284" cy="1698587"/>
          </a:xfrm>
          <a:custGeom>
            <a:avLst/>
            <a:gdLst>
              <a:gd name="connsiteX0" fmla="*/ 0 w 2038284"/>
              <a:gd name="connsiteY0" fmla="*/ 1698587 h 1698587"/>
              <a:gd name="connsiteX1" fmla="*/ 2014151 w 2038284"/>
              <a:gd name="connsiteY1" fmla="*/ 413484 h 1698587"/>
              <a:gd name="connsiteX2" fmla="*/ 1075037 w 2038284"/>
              <a:gd name="connsiteY2" fmla="*/ 5711 h 1698587"/>
              <a:gd name="connsiteX3" fmla="*/ 518983 w 2038284"/>
              <a:gd name="connsiteY3" fmla="*/ 648262 h 1698587"/>
            </a:gdLst>
            <a:ahLst/>
            <a:cxnLst>
              <a:cxn ang="0">
                <a:pos x="connsiteX0" y="connsiteY0"/>
              </a:cxn>
              <a:cxn ang="0">
                <a:pos x="connsiteX1" y="connsiteY1"/>
              </a:cxn>
              <a:cxn ang="0">
                <a:pos x="connsiteX2" y="connsiteY2"/>
              </a:cxn>
              <a:cxn ang="0">
                <a:pos x="connsiteX3" y="connsiteY3"/>
              </a:cxn>
            </a:cxnLst>
            <a:rect l="l" t="t" r="r" b="b"/>
            <a:pathLst>
              <a:path w="2038284" h="1698587">
                <a:moveTo>
                  <a:pt x="0" y="1698587"/>
                </a:moveTo>
                <a:cubicBezTo>
                  <a:pt x="917489" y="1197108"/>
                  <a:pt x="1834978" y="695630"/>
                  <a:pt x="2014151" y="413484"/>
                </a:cubicBezTo>
                <a:cubicBezTo>
                  <a:pt x="2193324" y="131338"/>
                  <a:pt x="1324231" y="-33419"/>
                  <a:pt x="1075037" y="5711"/>
                </a:cubicBezTo>
                <a:cubicBezTo>
                  <a:pt x="825843" y="44841"/>
                  <a:pt x="672413" y="346551"/>
                  <a:pt x="518983" y="648262"/>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30" name="Freeform 29">
            <a:extLst>
              <a:ext uri="{FF2B5EF4-FFF2-40B4-BE49-F238E27FC236}">
                <a16:creationId xmlns:a16="http://schemas.microsoft.com/office/drawing/2014/main" id="{47EC488F-BD7B-BA5E-19A4-86E0E59ACE99}"/>
              </a:ext>
            </a:extLst>
          </p:cNvPr>
          <p:cNvSpPr/>
          <p:nvPr/>
        </p:nvSpPr>
        <p:spPr>
          <a:xfrm>
            <a:off x="223262" y="3954338"/>
            <a:ext cx="568608" cy="1025611"/>
          </a:xfrm>
          <a:custGeom>
            <a:avLst/>
            <a:gdLst>
              <a:gd name="connsiteX0" fmla="*/ 234975 w 568608"/>
              <a:gd name="connsiteY0" fmla="*/ 1025611 h 1025611"/>
              <a:gd name="connsiteX1" fmla="*/ 12554 w 568608"/>
              <a:gd name="connsiteY1" fmla="*/ 284206 h 1025611"/>
              <a:gd name="connsiteX2" fmla="*/ 568608 w 568608"/>
              <a:gd name="connsiteY2" fmla="*/ 0 h 1025611"/>
            </a:gdLst>
            <a:ahLst/>
            <a:cxnLst>
              <a:cxn ang="0">
                <a:pos x="connsiteX0" y="connsiteY0"/>
              </a:cxn>
              <a:cxn ang="0">
                <a:pos x="connsiteX1" y="connsiteY1"/>
              </a:cxn>
              <a:cxn ang="0">
                <a:pos x="connsiteX2" y="connsiteY2"/>
              </a:cxn>
            </a:cxnLst>
            <a:rect l="l" t="t" r="r" b="b"/>
            <a:pathLst>
              <a:path w="568608" h="1025611">
                <a:moveTo>
                  <a:pt x="234975" y="1025611"/>
                </a:moveTo>
                <a:cubicBezTo>
                  <a:pt x="95961" y="740376"/>
                  <a:pt x="-43052" y="455141"/>
                  <a:pt x="12554" y="284206"/>
                </a:cubicBezTo>
                <a:cubicBezTo>
                  <a:pt x="68160" y="113271"/>
                  <a:pt x="531538" y="88557"/>
                  <a:pt x="568608" y="0"/>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31" name="Freeform 30">
            <a:extLst>
              <a:ext uri="{FF2B5EF4-FFF2-40B4-BE49-F238E27FC236}">
                <a16:creationId xmlns:a16="http://schemas.microsoft.com/office/drawing/2014/main" id="{A79B0F6C-FE3A-FABD-FF3E-B9047DED338C}"/>
              </a:ext>
            </a:extLst>
          </p:cNvPr>
          <p:cNvSpPr/>
          <p:nvPr/>
        </p:nvSpPr>
        <p:spPr>
          <a:xfrm>
            <a:off x="381620" y="2845964"/>
            <a:ext cx="818023" cy="2183412"/>
          </a:xfrm>
          <a:custGeom>
            <a:avLst/>
            <a:gdLst>
              <a:gd name="connsiteX0" fmla="*/ 793309 w 818023"/>
              <a:gd name="connsiteY0" fmla="*/ 2183412 h 2183412"/>
              <a:gd name="connsiteX1" fmla="*/ 27190 w 818023"/>
              <a:gd name="connsiteY1" fmla="*/ 1466720 h 2183412"/>
              <a:gd name="connsiteX2" fmla="*/ 212542 w 818023"/>
              <a:gd name="connsiteY2" fmla="*/ 750028 h 2183412"/>
              <a:gd name="connsiteX3" fmla="*/ 607958 w 818023"/>
              <a:gd name="connsiteY3" fmla="*/ 82764 h 2183412"/>
              <a:gd name="connsiteX4" fmla="*/ 818023 w 818023"/>
              <a:gd name="connsiteY4" fmla="*/ 33337 h 21834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8023" h="2183412">
                <a:moveTo>
                  <a:pt x="793309" y="2183412"/>
                </a:moveTo>
                <a:cubicBezTo>
                  <a:pt x="458646" y="1944514"/>
                  <a:pt x="123984" y="1705617"/>
                  <a:pt x="27190" y="1466720"/>
                </a:cubicBezTo>
                <a:cubicBezTo>
                  <a:pt x="-69604" y="1227823"/>
                  <a:pt x="115747" y="980687"/>
                  <a:pt x="212542" y="750028"/>
                </a:cubicBezTo>
                <a:cubicBezTo>
                  <a:pt x="309337" y="519369"/>
                  <a:pt x="507044" y="202213"/>
                  <a:pt x="607958" y="82764"/>
                </a:cubicBezTo>
                <a:cubicBezTo>
                  <a:pt x="708872" y="-36685"/>
                  <a:pt x="763447" y="-1674"/>
                  <a:pt x="818023" y="33337"/>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32" name="Freeform 31">
            <a:extLst>
              <a:ext uri="{FF2B5EF4-FFF2-40B4-BE49-F238E27FC236}">
                <a16:creationId xmlns:a16="http://schemas.microsoft.com/office/drawing/2014/main" id="{EF8DAF35-5D09-B16B-60A0-EA79437469A0}"/>
              </a:ext>
            </a:extLst>
          </p:cNvPr>
          <p:cNvSpPr/>
          <p:nvPr/>
        </p:nvSpPr>
        <p:spPr>
          <a:xfrm>
            <a:off x="1681556" y="3557763"/>
            <a:ext cx="1307435" cy="1446900"/>
          </a:xfrm>
          <a:custGeom>
            <a:avLst/>
            <a:gdLst>
              <a:gd name="connsiteX0" fmla="*/ 1272746 w 1307435"/>
              <a:gd name="connsiteY0" fmla="*/ 50586 h 1446900"/>
              <a:gd name="connsiteX1" fmla="*/ 1260389 w 1307435"/>
              <a:gd name="connsiteY1" fmla="*/ 100013 h 1446900"/>
              <a:gd name="connsiteX2" fmla="*/ 815546 w 1307435"/>
              <a:gd name="connsiteY2" fmla="*/ 952629 h 1446900"/>
              <a:gd name="connsiteX3" fmla="*/ 0 w 1307435"/>
              <a:gd name="connsiteY3" fmla="*/ 1446900 h 1446900"/>
            </a:gdLst>
            <a:ahLst/>
            <a:cxnLst>
              <a:cxn ang="0">
                <a:pos x="connsiteX0" y="connsiteY0"/>
              </a:cxn>
              <a:cxn ang="0">
                <a:pos x="connsiteX1" y="connsiteY1"/>
              </a:cxn>
              <a:cxn ang="0">
                <a:pos x="connsiteX2" y="connsiteY2"/>
              </a:cxn>
              <a:cxn ang="0">
                <a:pos x="connsiteX3" y="connsiteY3"/>
              </a:cxn>
            </a:cxnLst>
            <a:rect l="l" t="t" r="r" b="b"/>
            <a:pathLst>
              <a:path w="1307435" h="1446900">
                <a:moveTo>
                  <a:pt x="1272746" y="50586"/>
                </a:moveTo>
                <a:cubicBezTo>
                  <a:pt x="1304667" y="129"/>
                  <a:pt x="1336589" y="-50328"/>
                  <a:pt x="1260389" y="100013"/>
                </a:cubicBezTo>
                <a:cubicBezTo>
                  <a:pt x="1184189" y="250354"/>
                  <a:pt x="1025611" y="728148"/>
                  <a:pt x="815546" y="952629"/>
                </a:cubicBezTo>
                <a:cubicBezTo>
                  <a:pt x="605481" y="1177110"/>
                  <a:pt x="302740" y="1312005"/>
                  <a:pt x="0" y="1446900"/>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33" name="Freeform 32">
            <a:extLst>
              <a:ext uri="{FF2B5EF4-FFF2-40B4-BE49-F238E27FC236}">
                <a16:creationId xmlns:a16="http://schemas.microsoft.com/office/drawing/2014/main" id="{F243DCD1-80D6-4B3D-A747-11571860C618}"/>
              </a:ext>
            </a:extLst>
          </p:cNvPr>
          <p:cNvSpPr/>
          <p:nvPr/>
        </p:nvSpPr>
        <p:spPr>
          <a:xfrm>
            <a:off x="660049" y="2520540"/>
            <a:ext cx="2133615" cy="1359658"/>
          </a:xfrm>
          <a:custGeom>
            <a:avLst/>
            <a:gdLst>
              <a:gd name="connsiteX0" fmla="*/ 2133615 w 2133615"/>
              <a:gd name="connsiteY0" fmla="*/ 519398 h 1359658"/>
              <a:gd name="connsiteX1" fmla="*/ 836156 w 2133615"/>
              <a:gd name="connsiteY1" fmla="*/ 415 h 1359658"/>
              <a:gd name="connsiteX2" fmla="*/ 32967 w 2133615"/>
              <a:gd name="connsiteY2" fmla="*/ 593539 h 1359658"/>
              <a:gd name="connsiteX3" fmla="*/ 230675 w 2133615"/>
              <a:gd name="connsiteY3" fmla="*/ 1359658 h 1359658"/>
            </a:gdLst>
            <a:ahLst/>
            <a:cxnLst>
              <a:cxn ang="0">
                <a:pos x="connsiteX0" y="connsiteY0"/>
              </a:cxn>
              <a:cxn ang="0">
                <a:pos x="connsiteX1" y="connsiteY1"/>
              </a:cxn>
              <a:cxn ang="0">
                <a:pos x="connsiteX2" y="connsiteY2"/>
              </a:cxn>
              <a:cxn ang="0">
                <a:pos x="connsiteX3" y="connsiteY3"/>
              </a:cxn>
            </a:cxnLst>
            <a:rect l="l" t="t" r="r" b="b"/>
            <a:pathLst>
              <a:path w="2133615" h="1359658">
                <a:moveTo>
                  <a:pt x="2133615" y="519398"/>
                </a:moveTo>
                <a:cubicBezTo>
                  <a:pt x="1659939" y="253728"/>
                  <a:pt x="1186264" y="-11942"/>
                  <a:pt x="836156" y="415"/>
                </a:cubicBezTo>
                <a:cubicBezTo>
                  <a:pt x="486048" y="12772"/>
                  <a:pt x="133880" y="366999"/>
                  <a:pt x="32967" y="593539"/>
                </a:cubicBezTo>
                <a:cubicBezTo>
                  <a:pt x="-67946" y="820079"/>
                  <a:pt x="81364" y="1089868"/>
                  <a:pt x="230675" y="1359658"/>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34" name="Freeform 33">
            <a:extLst>
              <a:ext uri="{FF2B5EF4-FFF2-40B4-BE49-F238E27FC236}">
                <a16:creationId xmlns:a16="http://schemas.microsoft.com/office/drawing/2014/main" id="{33EC16D0-5790-12BB-4B9D-1D1B0FD3C2FD}"/>
              </a:ext>
            </a:extLst>
          </p:cNvPr>
          <p:cNvSpPr/>
          <p:nvPr/>
        </p:nvSpPr>
        <p:spPr>
          <a:xfrm>
            <a:off x="981309" y="3567498"/>
            <a:ext cx="2183058" cy="1573089"/>
          </a:xfrm>
          <a:custGeom>
            <a:avLst/>
            <a:gdLst>
              <a:gd name="connsiteX0" fmla="*/ 2183058 w 2183058"/>
              <a:gd name="connsiteY0" fmla="*/ 1573089 h 1573089"/>
              <a:gd name="connsiteX1" fmla="*/ 1664074 w 2183058"/>
              <a:gd name="connsiteY1" fmla="*/ 485694 h 1573089"/>
              <a:gd name="connsiteX2" fmla="*/ 230690 w 2183058"/>
              <a:gd name="connsiteY2" fmla="*/ 3781 h 1573089"/>
              <a:gd name="connsiteX3" fmla="*/ 20626 w 2183058"/>
              <a:gd name="connsiteY3" fmla="*/ 300343 h 1573089"/>
            </a:gdLst>
            <a:ahLst/>
            <a:cxnLst>
              <a:cxn ang="0">
                <a:pos x="connsiteX0" y="connsiteY0"/>
              </a:cxn>
              <a:cxn ang="0">
                <a:pos x="connsiteX1" y="connsiteY1"/>
              </a:cxn>
              <a:cxn ang="0">
                <a:pos x="connsiteX2" y="connsiteY2"/>
              </a:cxn>
              <a:cxn ang="0">
                <a:pos x="connsiteX3" y="connsiteY3"/>
              </a:cxn>
            </a:cxnLst>
            <a:rect l="l" t="t" r="r" b="b"/>
            <a:pathLst>
              <a:path w="2183058" h="1573089">
                <a:moveTo>
                  <a:pt x="2183058" y="1573089"/>
                </a:moveTo>
                <a:cubicBezTo>
                  <a:pt x="2086263" y="1160167"/>
                  <a:pt x="1989469" y="747245"/>
                  <a:pt x="1664074" y="485694"/>
                </a:cubicBezTo>
                <a:cubicBezTo>
                  <a:pt x="1338679" y="224143"/>
                  <a:pt x="504598" y="34673"/>
                  <a:pt x="230690" y="3781"/>
                </a:cubicBezTo>
                <a:cubicBezTo>
                  <a:pt x="-43218" y="-27111"/>
                  <a:pt x="-11296" y="136616"/>
                  <a:pt x="20626" y="300343"/>
                </a:cubicBezTo>
              </a:path>
            </a:pathLst>
          </a:custGeom>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48" name="TextBox 1047">
            <a:extLst>
              <a:ext uri="{FF2B5EF4-FFF2-40B4-BE49-F238E27FC236}">
                <a16:creationId xmlns:a16="http://schemas.microsoft.com/office/drawing/2014/main" id="{1461FDF6-7AD9-BD48-A3C1-5FF6B4866544}"/>
              </a:ext>
            </a:extLst>
          </p:cNvPr>
          <p:cNvSpPr txBox="1"/>
          <p:nvPr/>
        </p:nvSpPr>
        <p:spPr>
          <a:xfrm>
            <a:off x="4229891" y="2948414"/>
            <a:ext cx="2510560" cy="236988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914400" rtl="0" eaLnBrk="1" fontAlgn="auto" latinLnBrk="0" hangingPunct="1">
              <a:lnSpc>
                <a:spcPct val="100000"/>
              </a:lnSpc>
              <a:spcBef>
                <a:spcPts val="0"/>
              </a:spcBef>
              <a:spcAft>
                <a:spcPts val="375"/>
              </a:spcAft>
              <a:buClrTx/>
              <a:buSzTx/>
              <a:buFontTx/>
              <a:buNone/>
              <a:tabLst/>
              <a:defRPr/>
            </a:pPr>
            <a:r>
              <a:rPr kumimoji="0" lang="en-CA" sz="2000" b="1" i="0" u="none" strike="noStrike" kern="1200" cap="none" spc="0" normalizeH="0" baseline="0" noProof="0">
                <a:ln>
                  <a:noFill/>
                </a:ln>
                <a:solidFill>
                  <a:srgbClr val="FF0000"/>
                </a:solidFill>
                <a:effectLst/>
                <a:uLnTx/>
                <a:uFillTx/>
                <a:latin typeface="open-sans"/>
                <a:ea typeface="+mn-ea"/>
                <a:cs typeface="+mn-cs"/>
              </a:rPr>
              <a:t>Problems:</a:t>
            </a:r>
          </a:p>
          <a:p>
            <a:pPr marL="285750" marR="0" lvl="0" indent="-285750" algn="l" defTabSz="914400" rtl="0" eaLnBrk="1" fontAlgn="auto" latinLnBrk="0" hangingPunct="1">
              <a:lnSpc>
                <a:spcPct val="100000"/>
              </a:lnSpc>
              <a:spcBef>
                <a:spcPts val="0"/>
              </a:spcBef>
              <a:spcAft>
                <a:spcPts val="375"/>
              </a:spcAft>
              <a:buClrTx/>
              <a:buSzTx/>
              <a:buFont typeface="Arial" panose="020B0604020202020204" pitchFamily="34" charset="0"/>
              <a:buChar char="•"/>
              <a:tabLst/>
              <a:defRPr/>
            </a:pPr>
            <a:r>
              <a:rPr kumimoji="0" lang="en-CA" sz="1800" b="0" i="0" u="none" strike="noStrike" kern="1200" cap="none" spc="0" normalizeH="0" baseline="0" noProof="0">
                <a:ln>
                  <a:noFill/>
                </a:ln>
                <a:solidFill>
                  <a:srgbClr val="0A3B5E"/>
                </a:solidFill>
                <a:effectLst/>
                <a:uLnTx/>
                <a:uFillTx/>
                <a:latin typeface="open-sans"/>
                <a:ea typeface="+mn-ea"/>
                <a:cs typeface="+mn-cs"/>
              </a:rPr>
              <a:t>Complexity Explosion</a:t>
            </a:r>
          </a:p>
          <a:p>
            <a:pPr marL="285750" marR="0" lvl="0" indent="-285750" algn="l" defTabSz="914400" rtl="0" eaLnBrk="1" fontAlgn="auto" latinLnBrk="0" hangingPunct="1">
              <a:lnSpc>
                <a:spcPct val="100000"/>
              </a:lnSpc>
              <a:spcBef>
                <a:spcPts val="0"/>
              </a:spcBef>
              <a:spcAft>
                <a:spcPts val="375"/>
              </a:spcAft>
              <a:buClrTx/>
              <a:buSzTx/>
              <a:buFont typeface="Arial" panose="020B0604020202020204" pitchFamily="34" charset="0"/>
              <a:buChar char="•"/>
              <a:tabLst/>
              <a:defRPr/>
            </a:pPr>
            <a:r>
              <a:rPr kumimoji="0" lang="en-CA" sz="1800" b="0" i="0" u="none" strike="noStrike" kern="1200" cap="none" spc="0" normalizeH="0" baseline="0" noProof="0">
                <a:ln>
                  <a:noFill/>
                </a:ln>
                <a:solidFill>
                  <a:srgbClr val="0A3B5E"/>
                </a:solidFill>
                <a:effectLst/>
                <a:uLnTx/>
                <a:uFillTx/>
                <a:latin typeface="open-sans"/>
                <a:ea typeface="+mn-ea"/>
                <a:cs typeface="+mn-cs"/>
              </a:rPr>
              <a:t>Tight Coupling</a:t>
            </a:r>
          </a:p>
          <a:p>
            <a:pPr marL="285750" marR="0" lvl="0" indent="-285750" algn="l" defTabSz="914400" rtl="0" eaLnBrk="1" fontAlgn="auto" latinLnBrk="0" hangingPunct="1">
              <a:lnSpc>
                <a:spcPct val="100000"/>
              </a:lnSpc>
              <a:spcBef>
                <a:spcPts val="0"/>
              </a:spcBef>
              <a:spcAft>
                <a:spcPts val="375"/>
              </a:spcAft>
              <a:buClrTx/>
              <a:buSzTx/>
              <a:buFont typeface="Arial" panose="020B0604020202020204" pitchFamily="34" charset="0"/>
              <a:buChar char="•"/>
              <a:tabLst/>
              <a:defRPr/>
            </a:pPr>
            <a:r>
              <a:rPr kumimoji="0" lang="en-CA" sz="1800" b="0" i="0" u="none" strike="noStrike" kern="1200" cap="none" spc="0" normalizeH="0" baseline="0" noProof="0">
                <a:ln>
                  <a:noFill/>
                </a:ln>
                <a:solidFill>
                  <a:srgbClr val="0A3B5E"/>
                </a:solidFill>
                <a:effectLst/>
                <a:uLnTx/>
                <a:uFillTx/>
                <a:latin typeface="open-sans"/>
                <a:ea typeface="+mn-ea"/>
                <a:cs typeface="+mn-cs"/>
              </a:rPr>
              <a:t>Reliability</a:t>
            </a:r>
          </a:p>
          <a:p>
            <a:pPr marL="285750" marR="0" lvl="0" indent="-285750" algn="l" defTabSz="914400" rtl="0" eaLnBrk="1" fontAlgn="auto" latinLnBrk="0" hangingPunct="1">
              <a:lnSpc>
                <a:spcPct val="100000"/>
              </a:lnSpc>
              <a:spcBef>
                <a:spcPts val="0"/>
              </a:spcBef>
              <a:spcAft>
                <a:spcPts val="375"/>
              </a:spcAft>
              <a:buClrTx/>
              <a:buSzTx/>
              <a:buFont typeface="Arial" panose="020B0604020202020204" pitchFamily="34" charset="0"/>
              <a:buChar char="•"/>
              <a:tabLst/>
              <a:defRPr/>
            </a:pPr>
            <a:r>
              <a:rPr kumimoji="0" lang="en-CA" sz="1800" b="0" i="0" u="none" strike="noStrike" kern="1200" cap="none" spc="0" normalizeH="0" baseline="0" noProof="0">
                <a:ln>
                  <a:noFill/>
                </a:ln>
                <a:solidFill>
                  <a:srgbClr val="0A3B5E"/>
                </a:solidFill>
                <a:effectLst/>
                <a:uLnTx/>
                <a:uFillTx/>
                <a:latin typeface="open-sans"/>
                <a:ea typeface="+mn-ea"/>
                <a:cs typeface="+mn-cs"/>
              </a:rPr>
              <a:t>Scalability</a:t>
            </a:r>
          </a:p>
          <a:p>
            <a:pPr marL="285750" marR="0" lvl="0" indent="-285750" algn="l" defTabSz="914400" rtl="0" eaLnBrk="1" fontAlgn="auto" latinLnBrk="0" hangingPunct="1">
              <a:lnSpc>
                <a:spcPct val="100000"/>
              </a:lnSpc>
              <a:spcBef>
                <a:spcPts val="0"/>
              </a:spcBef>
              <a:spcAft>
                <a:spcPts val="375"/>
              </a:spcAft>
              <a:buClrTx/>
              <a:buSzTx/>
              <a:buFont typeface="Arial" panose="020B0604020202020204" pitchFamily="34" charset="0"/>
              <a:buChar char="•"/>
              <a:tabLst/>
              <a:defRPr/>
            </a:pPr>
            <a:r>
              <a:rPr kumimoji="0" lang="en-CA" sz="1800" b="0" i="0" u="none" strike="noStrike" kern="1200" cap="none" spc="0" normalizeH="0" baseline="0" noProof="0">
                <a:ln>
                  <a:noFill/>
                </a:ln>
                <a:solidFill>
                  <a:srgbClr val="0A3B5E"/>
                </a:solidFill>
                <a:effectLst/>
                <a:uLnTx/>
                <a:uFillTx/>
                <a:latin typeface="open-sans"/>
                <a:ea typeface="+mn-ea"/>
                <a:cs typeface="+mn-cs"/>
              </a:rPr>
              <a:t>Burst Handling</a:t>
            </a:r>
          </a:p>
          <a:p>
            <a:pPr marL="285750" marR="0" lvl="0" indent="-285750" algn="l" defTabSz="914400" rtl="0" eaLnBrk="1" fontAlgn="auto" latinLnBrk="0" hangingPunct="1">
              <a:lnSpc>
                <a:spcPct val="100000"/>
              </a:lnSpc>
              <a:spcBef>
                <a:spcPts val="0"/>
              </a:spcBef>
              <a:spcAft>
                <a:spcPts val="375"/>
              </a:spcAft>
              <a:buClrTx/>
              <a:buSzTx/>
              <a:buFont typeface="Arial" panose="020B0604020202020204" pitchFamily="34" charset="0"/>
              <a:buChar char="•"/>
              <a:tabLst/>
              <a:defRPr/>
            </a:pPr>
            <a:r>
              <a:rPr kumimoji="0" lang="en-CA" sz="1800" b="0" i="0" u="none" strike="noStrike" kern="1200" cap="none" spc="0" normalizeH="0" baseline="0" noProof="0">
                <a:ln>
                  <a:noFill/>
                </a:ln>
                <a:solidFill>
                  <a:srgbClr val="0A3B5E"/>
                </a:solidFill>
                <a:effectLst/>
                <a:uLnTx/>
                <a:uFillTx/>
                <a:latin typeface="open-sans"/>
                <a:ea typeface="+mn-ea"/>
                <a:cs typeface="+mn-cs"/>
              </a:rPr>
              <a:t>Cost Effectiveness</a:t>
            </a:r>
          </a:p>
        </p:txBody>
      </p:sp>
      <p:sp>
        <p:nvSpPr>
          <p:cNvPr id="1049" name="TextBox 1048">
            <a:extLst>
              <a:ext uri="{FF2B5EF4-FFF2-40B4-BE49-F238E27FC236}">
                <a16:creationId xmlns:a16="http://schemas.microsoft.com/office/drawing/2014/main" id="{EC894E12-5115-8C65-C4B2-844B590BF424}"/>
              </a:ext>
            </a:extLst>
          </p:cNvPr>
          <p:cNvSpPr txBox="1"/>
          <p:nvPr/>
        </p:nvSpPr>
        <p:spPr>
          <a:xfrm>
            <a:off x="479949" y="1313943"/>
            <a:ext cx="3463730"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rPr>
              <a:t>Point-to-Point Synchronous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rPr>
              <a:t>Communications</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endParaRPr>
          </a:p>
        </p:txBody>
      </p:sp>
      <p:grpSp>
        <p:nvGrpSpPr>
          <p:cNvPr id="1050" name="Graphic 9">
            <a:extLst>
              <a:ext uri="{FF2B5EF4-FFF2-40B4-BE49-F238E27FC236}">
                <a16:creationId xmlns:a16="http://schemas.microsoft.com/office/drawing/2014/main" id="{D434E4CA-AE45-5782-88C1-D2164DFDE018}"/>
              </a:ext>
            </a:extLst>
          </p:cNvPr>
          <p:cNvGrpSpPr/>
          <p:nvPr/>
        </p:nvGrpSpPr>
        <p:grpSpPr>
          <a:xfrm>
            <a:off x="1175630" y="2669119"/>
            <a:ext cx="649581" cy="649581"/>
            <a:chOff x="1175630" y="2669119"/>
            <a:chExt cx="649581" cy="649581"/>
          </a:xfrm>
        </p:grpSpPr>
        <p:sp>
          <p:nvSpPr>
            <p:cNvPr id="1051" name="Freeform: Shape 11">
              <a:extLst>
                <a:ext uri="{FF2B5EF4-FFF2-40B4-BE49-F238E27FC236}">
                  <a16:creationId xmlns:a16="http://schemas.microsoft.com/office/drawing/2014/main" id="{6FA8244C-06F7-6ED3-98F9-FAB9800CF68B}"/>
                </a:ext>
              </a:extLst>
            </p:cNvPr>
            <p:cNvSpPr/>
            <p:nvPr/>
          </p:nvSpPr>
          <p:spPr>
            <a:xfrm>
              <a:off x="1175630" y="2669119"/>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tx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52" name="Freeform: Shape 12">
              <a:extLst>
                <a:ext uri="{FF2B5EF4-FFF2-40B4-BE49-F238E27FC236}">
                  <a16:creationId xmlns:a16="http://schemas.microsoft.com/office/drawing/2014/main" id="{02ED3E08-6506-4971-5AA1-262EB87E9B82}"/>
                </a:ext>
              </a:extLst>
            </p:cNvPr>
            <p:cNvSpPr/>
            <p:nvPr/>
          </p:nvSpPr>
          <p:spPr>
            <a:xfrm>
              <a:off x="1244196" y="2779428"/>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53" name="Graphic 5">
            <a:extLst>
              <a:ext uri="{FF2B5EF4-FFF2-40B4-BE49-F238E27FC236}">
                <a16:creationId xmlns:a16="http://schemas.microsoft.com/office/drawing/2014/main" id="{0C54D97D-A9D5-FF67-A37D-70E8E2AEF44A}"/>
              </a:ext>
            </a:extLst>
          </p:cNvPr>
          <p:cNvGrpSpPr/>
          <p:nvPr/>
        </p:nvGrpSpPr>
        <p:grpSpPr>
          <a:xfrm>
            <a:off x="3048246" y="3983905"/>
            <a:ext cx="649581" cy="649581"/>
            <a:chOff x="3048246" y="3983905"/>
            <a:chExt cx="649581" cy="649581"/>
          </a:xfrm>
        </p:grpSpPr>
        <p:sp>
          <p:nvSpPr>
            <p:cNvPr id="1054" name="Freeform: Shape 14">
              <a:extLst>
                <a:ext uri="{FF2B5EF4-FFF2-40B4-BE49-F238E27FC236}">
                  <a16:creationId xmlns:a16="http://schemas.microsoft.com/office/drawing/2014/main" id="{C37BC2A7-13AA-BBE4-242F-D19393CE5D70}"/>
                </a:ext>
              </a:extLst>
            </p:cNvPr>
            <p:cNvSpPr/>
            <p:nvPr/>
          </p:nvSpPr>
          <p:spPr>
            <a:xfrm>
              <a:off x="3048246" y="3983905"/>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tx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55" name="Freeform: Shape 19">
              <a:extLst>
                <a:ext uri="{FF2B5EF4-FFF2-40B4-BE49-F238E27FC236}">
                  <a16:creationId xmlns:a16="http://schemas.microsoft.com/office/drawing/2014/main" id="{5D57547B-76CD-E2DF-9681-EA506906FF11}"/>
                </a:ext>
              </a:extLst>
            </p:cNvPr>
            <p:cNvSpPr/>
            <p:nvPr/>
          </p:nvSpPr>
          <p:spPr>
            <a:xfrm>
              <a:off x="3116812" y="4094214"/>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56" name="Graphic 16">
            <a:extLst>
              <a:ext uri="{FF2B5EF4-FFF2-40B4-BE49-F238E27FC236}">
                <a16:creationId xmlns:a16="http://schemas.microsoft.com/office/drawing/2014/main" id="{C0A64326-F5EB-6D2F-EB6E-F321410BD6AD}"/>
              </a:ext>
            </a:extLst>
          </p:cNvPr>
          <p:cNvGrpSpPr/>
          <p:nvPr/>
        </p:nvGrpSpPr>
        <p:grpSpPr>
          <a:xfrm>
            <a:off x="2694322" y="2977239"/>
            <a:ext cx="649581" cy="649581"/>
            <a:chOff x="2694322" y="2977239"/>
            <a:chExt cx="649581" cy="649581"/>
          </a:xfrm>
        </p:grpSpPr>
        <p:sp>
          <p:nvSpPr>
            <p:cNvPr id="1057" name="Freeform: Shape 21">
              <a:extLst>
                <a:ext uri="{FF2B5EF4-FFF2-40B4-BE49-F238E27FC236}">
                  <a16:creationId xmlns:a16="http://schemas.microsoft.com/office/drawing/2014/main" id="{83D7343B-C855-D115-CBAD-939F019529B5}"/>
                </a:ext>
              </a:extLst>
            </p:cNvPr>
            <p:cNvSpPr/>
            <p:nvPr/>
          </p:nvSpPr>
          <p:spPr>
            <a:xfrm>
              <a:off x="2694322" y="2977239"/>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tx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58" name="Freeform: Shape 22">
              <a:extLst>
                <a:ext uri="{FF2B5EF4-FFF2-40B4-BE49-F238E27FC236}">
                  <a16:creationId xmlns:a16="http://schemas.microsoft.com/office/drawing/2014/main" id="{F27D727C-8EC5-7451-0FB4-ADDCF999CA41}"/>
                </a:ext>
              </a:extLst>
            </p:cNvPr>
            <p:cNvSpPr/>
            <p:nvPr/>
          </p:nvSpPr>
          <p:spPr>
            <a:xfrm>
              <a:off x="2762888" y="3087548"/>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59" name="Graphic 18">
            <a:extLst>
              <a:ext uri="{FF2B5EF4-FFF2-40B4-BE49-F238E27FC236}">
                <a16:creationId xmlns:a16="http://schemas.microsoft.com/office/drawing/2014/main" id="{EAD22489-831D-C78A-4D17-E834298E977D}"/>
              </a:ext>
            </a:extLst>
          </p:cNvPr>
          <p:cNvGrpSpPr/>
          <p:nvPr/>
        </p:nvGrpSpPr>
        <p:grpSpPr>
          <a:xfrm>
            <a:off x="653048" y="3904911"/>
            <a:ext cx="649581" cy="649581"/>
            <a:chOff x="653048" y="3904911"/>
            <a:chExt cx="649581" cy="649581"/>
          </a:xfrm>
        </p:grpSpPr>
        <p:sp>
          <p:nvSpPr>
            <p:cNvPr id="1060" name="Freeform: Shape 35">
              <a:extLst>
                <a:ext uri="{FF2B5EF4-FFF2-40B4-BE49-F238E27FC236}">
                  <a16:creationId xmlns:a16="http://schemas.microsoft.com/office/drawing/2014/main" id="{E68ED339-B7F9-FD67-6E03-9399A80F7226}"/>
                </a:ext>
              </a:extLst>
            </p:cNvPr>
            <p:cNvSpPr/>
            <p:nvPr/>
          </p:nvSpPr>
          <p:spPr>
            <a:xfrm>
              <a:off x="653048" y="3904911"/>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tx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61" name="Freeform: Shape 36">
              <a:extLst>
                <a:ext uri="{FF2B5EF4-FFF2-40B4-BE49-F238E27FC236}">
                  <a16:creationId xmlns:a16="http://schemas.microsoft.com/office/drawing/2014/main" id="{FA0E6544-57B3-2B29-0C48-887ABB1E0D9C}"/>
                </a:ext>
              </a:extLst>
            </p:cNvPr>
            <p:cNvSpPr/>
            <p:nvPr/>
          </p:nvSpPr>
          <p:spPr>
            <a:xfrm>
              <a:off x="721614" y="4015220"/>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62" name="Graphic 17">
            <a:extLst>
              <a:ext uri="{FF2B5EF4-FFF2-40B4-BE49-F238E27FC236}">
                <a16:creationId xmlns:a16="http://schemas.microsoft.com/office/drawing/2014/main" id="{94CBCB1A-59DD-CAC8-FB69-6B6BF3E9E212}"/>
              </a:ext>
            </a:extLst>
          </p:cNvPr>
          <p:cNvGrpSpPr/>
          <p:nvPr/>
        </p:nvGrpSpPr>
        <p:grpSpPr>
          <a:xfrm>
            <a:off x="1126299" y="4943660"/>
            <a:ext cx="649581" cy="649581"/>
            <a:chOff x="1126299" y="4943660"/>
            <a:chExt cx="649581" cy="649581"/>
          </a:xfrm>
        </p:grpSpPr>
        <p:sp>
          <p:nvSpPr>
            <p:cNvPr id="1063" name="Freeform: Shape 42">
              <a:extLst>
                <a:ext uri="{FF2B5EF4-FFF2-40B4-BE49-F238E27FC236}">
                  <a16:creationId xmlns:a16="http://schemas.microsoft.com/office/drawing/2014/main" id="{D809DFB6-ED25-9B83-9381-8E3EC9754E69}"/>
                </a:ext>
              </a:extLst>
            </p:cNvPr>
            <p:cNvSpPr/>
            <p:nvPr/>
          </p:nvSpPr>
          <p:spPr>
            <a:xfrm>
              <a:off x="1126299" y="4943660"/>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tx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64" name="Freeform: Shape 44">
              <a:extLst>
                <a:ext uri="{FF2B5EF4-FFF2-40B4-BE49-F238E27FC236}">
                  <a16:creationId xmlns:a16="http://schemas.microsoft.com/office/drawing/2014/main" id="{8B20C8BA-152A-B6EE-A431-53699E909D4E}"/>
                </a:ext>
              </a:extLst>
            </p:cNvPr>
            <p:cNvSpPr/>
            <p:nvPr/>
          </p:nvSpPr>
          <p:spPr>
            <a:xfrm>
              <a:off x="1194865" y="5053969"/>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65" name="Graphic 4">
            <a:extLst>
              <a:ext uri="{FF2B5EF4-FFF2-40B4-BE49-F238E27FC236}">
                <a16:creationId xmlns:a16="http://schemas.microsoft.com/office/drawing/2014/main" id="{78F2E6F7-04ED-179D-917E-F148113185C0}"/>
              </a:ext>
            </a:extLst>
          </p:cNvPr>
          <p:cNvGrpSpPr/>
          <p:nvPr/>
        </p:nvGrpSpPr>
        <p:grpSpPr>
          <a:xfrm>
            <a:off x="2706871" y="5141176"/>
            <a:ext cx="649581" cy="649581"/>
            <a:chOff x="2706871" y="5141176"/>
            <a:chExt cx="649581" cy="649581"/>
          </a:xfrm>
        </p:grpSpPr>
        <p:sp>
          <p:nvSpPr>
            <p:cNvPr id="1066" name="Freeform: Shape 48">
              <a:extLst>
                <a:ext uri="{FF2B5EF4-FFF2-40B4-BE49-F238E27FC236}">
                  <a16:creationId xmlns:a16="http://schemas.microsoft.com/office/drawing/2014/main" id="{D802622C-3656-C349-7A8C-6EFF46E96C86}"/>
                </a:ext>
              </a:extLst>
            </p:cNvPr>
            <p:cNvSpPr/>
            <p:nvPr/>
          </p:nvSpPr>
          <p:spPr>
            <a:xfrm>
              <a:off x="2706871" y="5141176"/>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tx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67" name="Freeform: Shape 50">
              <a:extLst>
                <a:ext uri="{FF2B5EF4-FFF2-40B4-BE49-F238E27FC236}">
                  <a16:creationId xmlns:a16="http://schemas.microsoft.com/office/drawing/2014/main" id="{834E867A-101C-1EAC-AE06-D097FF5BCEB2}"/>
                </a:ext>
              </a:extLst>
            </p:cNvPr>
            <p:cNvSpPr/>
            <p:nvPr/>
          </p:nvSpPr>
          <p:spPr>
            <a:xfrm>
              <a:off x="2775437" y="5251485"/>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068" name="TextBox 1067">
            <a:extLst>
              <a:ext uri="{FF2B5EF4-FFF2-40B4-BE49-F238E27FC236}">
                <a16:creationId xmlns:a16="http://schemas.microsoft.com/office/drawing/2014/main" id="{67BEDB78-D257-39F5-F0C4-042593456382}"/>
              </a:ext>
            </a:extLst>
          </p:cNvPr>
          <p:cNvSpPr txBox="1"/>
          <p:nvPr/>
        </p:nvSpPr>
        <p:spPr>
          <a:xfrm>
            <a:off x="710782" y="5917709"/>
            <a:ext cx="2291639"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rPr>
              <a:t>Other Agentic Platforms</a:t>
            </a:r>
          </a:p>
        </p:txBody>
      </p:sp>
      <p:grpSp>
        <p:nvGrpSpPr>
          <p:cNvPr id="1069" name="Group 1068">
            <a:extLst>
              <a:ext uri="{FF2B5EF4-FFF2-40B4-BE49-F238E27FC236}">
                <a16:creationId xmlns:a16="http://schemas.microsoft.com/office/drawing/2014/main" id="{8548F4AE-E1B2-6972-2C47-1B75EC459947}"/>
              </a:ext>
            </a:extLst>
          </p:cNvPr>
          <p:cNvGrpSpPr/>
          <p:nvPr/>
        </p:nvGrpSpPr>
        <p:grpSpPr>
          <a:xfrm>
            <a:off x="7048704" y="1310609"/>
            <a:ext cx="4165848" cy="5104764"/>
            <a:chOff x="7048704" y="1310609"/>
            <a:chExt cx="4165848" cy="5104764"/>
          </a:xfrm>
        </p:grpSpPr>
        <p:pic>
          <p:nvPicPr>
            <p:cNvPr id="1070" name="Graphic 1069">
              <a:extLst>
                <a:ext uri="{FF2B5EF4-FFF2-40B4-BE49-F238E27FC236}">
                  <a16:creationId xmlns:a16="http://schemas.microsoft.com/office/drawing/2014/main" id="{11D40C0C-2D2A-7596-D608-93CBF32243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500980" y="3308209"/>
              <a:ext cx="1497380" cy="1497380"/>
            </a:xfrm>
            <a:prstGeom prst="rect">
              <a:avLst/>
            </a:prstGeom>
          </p:spPr>
        </p:pic>
        <p:sp>
          <p:nvSpPr>
            <p:cNvPr id="1071" name="Freeform: Shape 15">
              <a:extLst>
                <a:ext uri="{FF2B5EF4-FFF2-40B4-BE49-F238E27FC236}">
                  <a16:creationId xmlns:a16="http://schemas.microsoft.com/office/drawing/2014/main" id="{15CD1913-54D6-2531-6D75-4C171B06671E}"/>
                </a:ext>
              </a:extLst>
            </p:cNvPr>
            <p:cNvSpPr/>
            <p:nvPr/>
          </p:nvSpPr>
          <p:spPr>
            <a:xfrm flipV="1">
              <a:off x="8220034" y="4594525"/>
              <a:ext cx="491453" cy="411535"/>
            </a:xfrm>
            <a:custGeom>
              <a:avLst/>
              <a:gdLst>
                <a:gd name="connsiteX0" fmla="*/ 0 w 4206111"/>
                <a:gd name="connsiteY0" fmla="*/ 0 h 2754"/>
                <a:gd name="connsiteX1" fmla="*/ 4206111 w 4206111"/>
                <a:gd name="connsiteY1" fmla="*/ 2755 h 2754"/>
              </a:gdLst>
              <a:ahLst/>
              <a:cxnLst>
                <a:cxn ang="0">
                  <a:pos x="connsiteX0" y="connsiteY0"/>
                </a:cxn>
                <a:cxn ang="0">
                  <a:pos x="connsiteX1" y="connsiteY1"/>
                </a:cxn>
              </a:cxnLst>
              <a:rect l="l" t="t" r="r" b="b"/>
              <a:pathLst>
                <a:path w="4206111" h="2754">
                  <a:moveTo>
                    <a:pt x="0" y="0"/>
                  </a:moveTo>
                  <a:lnTo>
                    <a:pt x="4206111" y="2755"/>
                  </a:lnTo>
                </a:path>
              </a:pathLst>
            </a:custGeom>
            <a:ln w="12700" cap="flat">
              <a:solidFill>
                <a:schemeClr val="tx1"/>
              </a:solidFill>
              <a:prstDash val="solid"/>
              <a:miter/>
            </a:ln>
          </p:spPr>
          <p:txBody>
            <a:bodyPr rtlCol="0" anchor="ctr"/>
            <a:lstStyle/>
            <a:p>
              <a:pPr marL="0" marR="0" lvl="0" indent="0" algn="ctr" defTabSz="409575" rtl="0" eaLnBrk="1" fontAlgn="auto" latinLnBrk="0" hangingPunct="0">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0A3B5E"/>
                </a:solidFill>
                <a:effectLst/>
                <a:uLnTx/>
                <a:uFillTx/>
                <a:latin typeface="Segoe UI"/>
                <a:ea typeface="+mn-ea"/>
                <a:cs typeface="+mn-cs"/>
                <a:sym typeface="Gill Sans"/>
              </a:endParaRPr>
            </a:p>
          </p:txBody>
        </p:sp>
        <p:sp>
          <p:nvSpPr>
            <p:cNvPr id="1072" name="Freeform: Shape 15">
              <a:extLst>
                <a:ext uri="{FF2B5EF4-FFF2-40B4-BE49-F238E27FC236}">
                  <a16:creationId xmlns:a16="http://schemas.microsoft.com/office/drawing/2014/main" id="{403F8DCF-8626-6CDB-8FC7-42A00D724DF1}"/>
                </a:ext>
              </a:extLst>
            </p:cNvPr>
            <p:cNvSpPr/>
            <p:nvPr/>
          </p:nvSpPr>
          <p:spPr>
            <a:xfrm>
              <a:off x="9777611" y="4538660"/>
              <a:ext cx="387712" cy="379189"/>
            </a:xfrm>
            <a:custGeom>
              <a:avLst/>
              <a:gdLst>
                <a:gd name="connsiteX0" fmla="*/ 0 w 4206111"/>
                <a:gd name="connsiteY0" fmla="*/ 0 h 2754"/>
                <a:gd name="connsiteX1" fmla="*/ 4206111 w 4206111"/>
                <a:gd name="connsiteY1" fmla="*/ 2755 h 2754"/>
              </a:gdLst>
              <a:ahLst/>
              <a:cxnLst>
                <a:cxn ang="0">
                  <a:pos x="connsiteX0" y="connsiteY0"/>
                </a:cxn>
                <a:cxn ang="0">
                  <a:pos x="connsiteX1" y="connsiteY1"/>
                </a:cxn>
              </a:cxnLst>
              <a:rect l="l" t="t" r="r" b="b"/>
              <a:pathLst>
                <a:path w="4206111" h="2754">
                  <a:moveTo>
                    <a:pt x="0" y="0"/>
                  </a:moveTo>
                  <a:lnTo>
                    <a:pt x="4206111" y="2755"/>
                  </a:lnTo>
                </a:path>
              </a:pathLst>
            </a:custGeom>
            <a:ln w="12700" cap="flat">
              <a:solidFill>
                <a:schemeClr val="tx1"/>
              </a:solidFill>
              <a:prstDash val="solid"/>
              <a:miter/>
            </a:ln>
          </p:spPr>
          <p:txBody>
            <a:bodyPr rtlCol="0" anchor="ctr"/>
            <a:lstStyle/>
            <a:p>
              <a:pPr marL="0" marR="0" lvl="0" indent="0" algn="ctr" defTabSz="409575" rtl="0" eaLnBrk="1" fontAlgn="auto" latinLnBrk="0" hangingPunct="0">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0A3B5E"/>
                </a:solidFill>
                <a:effectLst/>
                <a:uLnTx/>
                <a:uFillTx/>
                <a:latin typeface="Segoe UI"/>
                <a:ea typeface="+mn-ea"/>
                <a:cs typeface="+mn-cs"/>
                <a:sym typeface="Gill Sans"/>
              </a:endParaRPr>
            </a:p>
          </p:txBody>
        </p:sp>
        <p:sp>
          <p:nvSpPr>
            <p:cNvPr id="1073" name="Freeform: Shape 15">
              <a:extLst>
                <a:ext uri="{FF2B5EF4-FFF2-40B4-BE49-F238E27FC236}">
                  <a16:creationId xmlns:a16="http://schemas.microsoft.com/office/drawing/2014/main" id="{3C936913-6675-61D2-06A8-D0D8235D6227}"/>
                </a:ext>
              </a:extLst>
            </p:cNvPr>
            <p:cNvSpPr/>
            <p:nvPr/>
          </p:nvSpPr>
          <p:spPr>
            <a:xfrm>
              <a:off x="8307123" y="3125076"/>
              <a:ext cx="411867" cy="421114"/>
            </a:xfrm>
            <a:custGeom>
              <a:avLst/>
              <a:gdLst>
                <a:gd name="connsiteX0" fmla="*/ 0 w 4206111"/>
                <a:gd name="connsiteY0" fmla="*/ 0 h 2754"/>
                <a:gd name="connsiteX1" fmla="*/ 4206111 w 4206111"/>
                <a:gd name="connsiteY1" fmla="*/ 2755 h 2754"/>
              </a:gdLst>
              <a:ahLst/>
              <a:cxnLst>
                <a:cxn ang="0">
                  <a:pos x="connsiteX0" y="connsiteY0"/>
                </a:cxn>
                <a:cxn ang="0">
                  <a:pos x="connsiteX1" y="connsiteY1"/>
                </a:cxn>
              </a:cxnLst>
              <a:rect l="l" t="t" r="r" b="b"/>
              <a:pathLst>
                <a:path w="4206111" h="2754">
                  <a:moveTo>
                    <a:pt x="0" y="0"/>
                  </a:moveTo>
                  <a:lnTo>
                    <a:pt x="4206111" y="2755"/>
                  </a:lnTo>
                </a:path>
              </a:pathLst>
            </a:custGeom>
            <a:ln w="12700" cap="flat">
              <a:solidFill>
                <a:schemeClr val="tx1"/>
              </a:solidFill>
              <a:prstDash val="solid"/>
              <a:miter/>
            </a:ln>
          </p:spPr>
          <p:txBody>
            <a:bodyPr rtlCol="0" anchor="ctr"/>
            <a:lstStyle/>
            <a:p>
              <a:pPr marL="0" marR="0" lvl="0" indent="0" algn="ctr" defTabSz="409575" rtl="0" eaLnBrk="1" fontAlgn="auto" latinLnBrk="0" hangingPunct="0">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0A3B5E"/>
                </a:solidFill>
                <a:effectLst/>
                <a:uLnTx/>
                <a:uFillTx/>
                <a:latin typeface="Segoe UI"/>
                <a:ea typeface="+mn-ea"/>
                <a:cs typeface="+mn-cs"/>
                <a:sym typeface="Gill Sans"/>
              </a:endParaRPr>
            </a:p>
          </p:txBody>
        </p:sp>
        <p:sp>
          <p:nvSpPr>
            <p:cNvPr id="1074" name="Freeform: Shape 15">
              <a:extLst>
                <a:ext uri="{FF2B5EF4-FFF2-40B4-BE49-F238E27FC236}">
                  <a16:creationId xmlns:a16="http://schemas.microsoft.com/office/drawing/2014/main" id="{58AB5021-BDD7-6F4D-E75C-04DC9FA52E91}"/>
                </a:ext>
              </a:extLst>
            </p:cNvPr>
            <p:cNvSpPr/>
            <p:nvPr/>
          </p:nvSpPr>
          <p:spPr>
            <a:xfrm flipV="1">
              <a:off x="9774919" y="3167001"/>
              <a:ext cx="411878" cy="379189"/>
            </a:xfrm>
            <a:custGeom>
              <a:avLst/>
              <a:gdLst>
                <a:gd name="connsiteX0" fmla="*/ 0 w 4206111"/>
                <a:gd name="connsiteY0" fmla="*/ 0 h 2754"/>
                <a:gd name="connsiteX1" fmla="*/ 4206111 w 4206111"/>
                <a:gd name="connsiteY1" fmla="*/ 2755 h 2754"/>
              </a:gdLst>
              <a:ahLst/>
              <a:cxnLst>
                <a:cxn ang="0">
                  <a:pos x="connsiteX0" y="connsiteY0"/>
                </a:cxn>
                <a:cxn ang="0">
                  <a:pos x="connsiteX1" y="connsiteY1"/>
                </a:cxn>
              </a:cxnLst>
              <a:rect l="l" t="t" r="r" b="b"/>
              <a:pathLst>
                <a:path w="4206111" h="2754">
                  <a:moveTo>
                    <a:pt x="0" y="0"/>
                  </a:moveTo>
                  <a:lnTo>
                    <a:pt x="4206111" y="2755"/>
                  </a:lnTo>
                </a:path>
              </a:pathLst>
            </a:custGeom>
            <a:ln w="12700" cap="flat">
              <a:solidFill>
                <a:schemeClr val="tx1"/>
              </a:solidFill>
              <a:prstDash val="solid"/>
              <a:miter/>
            </a:ln>
          </p:spPr>
          <p:txBody>
            <a:bodyPr rtlCol="0" anchor="ctr"/>
            <a:lstStyle/>
            <a:p>
              <a:pPr marL="0" marR="0" lvl="0" indent="0" algn="ctr" defTabSz="409575" rtl="0" eaLnBrk="1" fontAlgn="auto" latinLnBrk="0" hangingPunct="0">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0A3B5E"/>
                </a:solidFill>
                <a:effectLst/>
                <a:uLnTx/>
                <a:uFillTx/>
                <a:latin typeface="Segoe UI"/>
                <a:ea typeface="+mn-ea"/>
                <a:cs typeface="+mn-cs"/>
                <a:sym typeface="Gill Sans"/>
              </a:endParaRPr>
            </a:p>
          </p:txBody>
        </p:sp>
        <p:cxnSp>
          <p:nvCxnSpPr>
            <p:cNvPr id="1075" name="Straight Connector 1074">
              <a:extLst>
                <a:ext uri="{FF2B5EF4-FFF2-40B4-BE49-F238E27FC236}">
                  <a16:creationId xmlns:a16="http://schemas.microsoft.com/office/drawing/2014/main" id="{DBFE03D9-6C9D-0C3C-44DE-39432E641EE5}"/>
                </a:ext>
              </a:extLst>
            </p:cNvPr>
            <p:cNvCxnSpPr>
              <a:cxnSpLocks/>
            </p:cNvCxnSpPr>
            <p:nvPr/>
          </p:nvCxnSpPr>
          <p:spPr>
            <a:xfrm>
              <a:off x="9242854" y="2735767"/>
              <a:ext cx="0" cy="598537"/>
            </a:xfrm>
            <a:prstGeom prst="line">
              <a:avLst/>
            </a:prstGeom>
            <a:ln/>
          </p:spPr>
          <p:style>
            <a:lnRef idx="1">
              <a:schemeClr val="dk1"/>
            </a:lnRef>
            <a:fillRef idx="0">
              <a:schemeClr val="dk1"/>
            </a:fillRef>
            <a:effectRef idx="0">
              <a:schemeClr val="dk1"/>
            </a:effectRef>
            <a:fontRef idx="minor">
              <a:schemeClr val="tx1"/>
            </a:fontRef>
          </p:style>
        </p:cxnSp>
        <p:cxnSp>
          <p:nvCxnSpPr>
            <p:cNvPr id="1076" name="Straight Connector 1075">
              <a:extLst>
                <a:ext uri="{FF2B5EF4-FFF2-40B4-BE49-F238E27FC236}">
                  <a16:creationId xmlns:a16="http://schemas.microsoft.com/office/drawing/2014/main" id="{8D95C7FE-3B3F-652A-00A9-B26C436F80C6}"/>
                </a:ext>
              </a:extLst>
            </p:cNvPr>
            <p:cNvCxnSpPr>
              <a:cxnSpLocks/>
            </p:cNvCxnSpPr>
            <p:nvPr/>
          </p:nvCxnSpPr>
          <p:spPr>
            <a:xfrm>
              <a:off x="9234616" y="4779494"/>
              <a:ext cx="0" cy="598537"/>
            </a:xfrm>
            <a:prstGeom prst="line">
              <a:avLst/>
            </a:prstGeom>
            <a:ln/>
          </p:spPr>
          <p:style>
            <a:lnRef idx="1">
              <a:schemeClr val="dk1"/>
            </a:lnRef>
            <a:fillRef idx="0">
              <a:schemeClr val="dk1"/>
            </a:fillRef>
            <a:effectRef idx="0">
              <a:schemeClr val="dk1"/>
            </a:effectRef>
            <a:fontRef idx="minor">
              <a:schemeClr val="tx1"/>
            </a:fontRef>
          </p:style>
        </p:cxnSp>
        <p:cxnSp>
          <p:nvCxnSpPr>
            <p:cNvPr id="1077" name="Straight Connector 1076">
              <a:extLst>
                <a:ext uri="{FF2B5EF4-FFF2-40B4-BE49-F238E27FC236}">
                  <a16:creationId xmlns:a16="http://schemas.microsoft.com/office/drawing/2014/main" id="{2D9437DF-2289-938A-E15C-E515B5FC287D}"/>
                </a:ext>
              </a:extLst>
            </p:cNvPr>
            <p:cNvCxnSpPr>
              <a:cxnSpLocks/>
            </p:cNvCxnSpPr>
            <p:nvPr/>
          </p:nvCxnSpPr>
          <p:spPr>
            <a:xfrm>
              <a:off x="7906696" y="4076989"/>
              <a:ext cx="621957" cy="5661"/>
            </a:xfrm>
            <a:prstGeom prst="line">
              <a:avLst/>
            </a:prstGeom>
            <a:ln/>
          </p:spPr>
          <p:style>
            <a:lnRef idx="1">
              <a:schemeClr val="dk1"/>
            </a:lnRef>
            <a:fillRef idx="0">
              <a:schemeClr val="dk1"/>
            </a:fillRef>
            <a:effectRef idx="0">
              <a:schemeClr val="dk1"/>
            </a:effectRef>
            <a:fontRef idx="minor">
              <a:schemeClr val="tx1"/>
            </a:fontRef>
          </p:style>
        </p:cxnSp>
        <p:cxnSp>
          <p:nvCxnSpPr>
            <p:cNvPr id="1078" name="Straight Connector 1077">
              <a:extLst>
                <a:ext uri="{FF2B5EF4-FFF2-40B4-BE49-F238E27FC236}">
                  <a16:creationId xmlns:a16="http://schemas.microsoft.com/office/drawing/2014/main" id="{DB0AF7E0-E6A2-B2C0-CDFF-09392F198767}"/>
                </a:ext>
              </a:extLst>
            </p:cNvPr>
            <p:cNvCxnSpPr>
              <a:cxnSpLocks/>
            </p:cNvCxnSpPr>
            <p:nvPr/>
          </p:nvCxnSpPr>
          <p:spPr>
            <a:xfrm>
              <a:off x="9958753" y="4054068"/>
              <a:ext cx="621957" cy="5661"/>
            </a:xfrm>
            <a:prstGeom prst="line">
              <a:avLst/>
            </a:prstGeom>
            <a:ln/>
          </p:spPr>
          <p:style>
            <a:lnRef idx="1">
              <a:schemeClr val="dk1"/>
            </a:lnRef>
            <a:fillRef idx="0">
              <a:schemeClr val="dk1"/>
            </a:fillRef>
            <a:effectRef idx="0">
              <a:schemeClr val="dk1"/>
            </a:effectRef>
            <a:fontRef idx="minor">
              <a:schemeClr val="tx1"/>
            </a:fontRef>
          </p:style>
        </p:cxnSp>
        <p:sp>
          <p:nvSpPr>
            <p:cNvPr id="1079" name="TextBox 1078">
              <a:extLst>
                <a:ext uri="{FF2B5EF4-FFF2-40B4-BE49-F238E27FC236}">
                  <a16:creationId xmlns:a16="http://schemas.microsoft.com/office/drawing/2014/main" id="{6889FB66-4B48-FE74-35E6-566845561C7B}"/>
                </a:ext>
              </a:extLst>
            </p:cNvPr>
            <p:cNvSpPr txBox="1"/>
            <p:nvPr/>
          </p:nvSpPr>
          <p:spPr>
            <a:xfrm>
              <a:off x="7426043" y="1310609"/>
              <a:ext cx="3788509"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rPr>
                <a:t>The Solution: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rPr>
                <a:t>Event-Driven Agents/Microservices</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endParaRPr>
            </a:p>
          </p:txBody>
        </p:sp>
        <p:grpSp>
          <p:nvGrpSpPr>
            <p:cNvPr id="1080" name="Graphic 32">
              <a:extLst>
                <a:ext uri="{FF2B5EF4-FFF2-40B4-BE49-F238E27FC236}">
                  <a16:creationId xmlns:a16="http://schemas.microsoft.com/office/drawing/2014/main" id="{C060E345-ABD4-0448-ECDA-B0D99F8DBE3B}"/>
                </a:ext>
              </a:extLst>
            </p:cNvPr>
            <p:cNvGrpSpPr/>
            <p:nvPr/>
          </p:nvGrpSpPr>
          <p:grpSpPr>
            <a:xfrm>
              <a:off x="7274962" y="3732106"/>
              <a:ext cx="649581" cy="649581"/>
              <a:chOff x="7274962" y="3732106"/>
              <a:chExt cx="649581" cy="649581"/>
            </a:xfrm>
          </p:grpSpPr>
          <p:sp>
            <p:nvSpPr>
              <p:cNvPr id="1104" name="Freeform: Shape 56">
                <a:extLst>
                  <a:ext uri="{FF2B5EF4-FFF2-40B4-BE49-F238E27FC236}">
                    <a16:creationId xmlns:a16="http://schemas.microsoft.com/office/drawing/2014/main" id="{7BD3FAC2-9623-0098-E68C-E73CBB1B504C}"/>
                  </a:ext>
                </a:extLst>
              </p:cNvPr>
              <p:cNvSpPr/>
              <p:nvPr/>
            </p:nvSpPr>
            <p:spPr>
              <a:xfrm>
                <a:off x="7274962" y="3732106"/>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105" name="Freeform: Shape 57">
                <a:extLst>
                  <a:ext uri="{FF2B5EF4-FFF2-40B4-BE49-F238E27FC236}">
                    <a16:creationId xmlns:a16="http://schemas.microsoft.com/office/drawing/2014/main" id="{657B3D39-BF19-6964-2C4C-975994361B2D}"/>
                  </a:ext>
                </a:extLst>
              </p:cNvPr>
              <p:cNvSpPr/>
              <p:nvPr/>
            </p:nvSpPr>
            <p:spPr>
              <a:xfrm>
                <a:off x="7343528" y="3842415"/>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81" name="Graphic 30">
              <a:extLst>
                <a:ext uri="{FF2B5EF4-FFF2-40B4-BE49-F238E27FC236}">
                  <a16:creationId xmlns:a16="http://schemas.microsoft.com/office/drawing/2014/main" id="{DFB11A31-674C-510F-1E18-5346819E61B4}"/>
                </a:ext>
              </a:extLst>
            </p:cNvPr>
            <p:cNvGrpSpPr/>
            <p:nvPr/>
          </p:nvGrpSpPr>
          <p:grpSpPr>
            <a:xfrm>
              <a:off x="7748309" y="2568464"/>
              <a:ext cx="649581" cy="649581"/>
              <a:chOff x="7748309" y="2568464"/>
              <a:chExt cx="649581" cy="649581"/>
            </a:xfrm>
          </p:grpSpPr>
          <p:sp>
            <p:nvSpPr>
              <p:cNvPr id="1102" name="Freeform: Shape 1025">
                <a:extLst>
                  <a:ext uri="{FF2B5EF4-FFF2-40B4-BE49-F238E27FC236}">
                    <a16:creationId xmlns:a16="http://schemas.microsoft.com/office/drawing/2014/main" id="{620F024B-A723-7075-6C3F-0B53C4B43A65}"/>
                  </a:ext>
                </a:extLst>
              </p:cNvPr>
              <p:cNvSpPr/>
              <p:nvPr/>
            </p:nvSpPr>
            <p:spPr>
              <a:xfrm>
                <a:off x="7748309" y="2568464"/>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103" name="Freeform: Shape 1026">
                <a:extLst>
                  <a:ext uri="{FF2B5EF4-FFF2-40B4-BE49-F238E27FC236}">
                    <a16:creationId xmlns:a16="http://schemas.microsoft.com/office/drawing/2014/main" id="{C6C8003D-83E5-D1FA-71FA-58970F00A6E0}"/>
                  </a:ext>
                </a:extLst>
              </p:cNvPr>
              <p:cNvSpPr/>
              <p:nvPr/>
            </p:nvSpPr>
            <p:spPr>
              <a:xfrm>
                <a:off x="7816875" y="2678773"/>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82" name="Graphic 26">
              <a:extLst>
                <a:ext uri="{FF2B5EF4-FFF2-40B4-BE49-F238E27FC236}">
                  <a16:creationId xmlns:a16="http://schemas.microsoft.com/office/drawing/2014/main" id="{1AAAC8D6-2C35-3744-9300-9CD986C89692}"/>
                </a:ext>
              </a:extLst>
            </p:cNvPr>
            <p:cNvGrpSpPr/>
            <p:nvPr/>
          </p:nvGrpSpPr>
          <p:grpSpPr>
            <a:xfrm>
              <a:off x="8924880" y="2086186"/>
              <a:ext cx="649581" cy="649581"/>
              <a:chOff x="8924880" y="2086186"/>
              <a:chExt cx="649581" cy="649581"/>
            </a:xfrm>
          </p:grpSpPr>
          <p:sp>
            <p:nvSpPr>
              <p:cNvPr id="1100" name="Freeform: Shape 1030">
                <a:extLst>
                  <a:ext uri="{FF2B5EF4-FFF2-40B4-BE49-F238E27FC236}">
                    <a16:creationId xmlns:a16="http://schemas.microsoft.com/office/drawing/2014/main" id="{2F29714F-9B03-C41D-6E14-DA2CAC64CC3E}"/>
                  </a:ext>
                </a:extLst>
              </p:cNvPr>
              <p:cNvSpPr/>
              <p:nvPr/>
            </p:nvSpPr>
            <p:spPr>
              <a:xfrm>
                <a:off x="8924880" y="2086186"/>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101" name="Freeform: Shape 1031">
                <a:extLst>
                  <a:ext uri="{FF2B5EF4-FFF2-40B4-BE49-F238E27FC236}">
                    <a16:creationId xmlns:a16="http://schemas.microsoft.com/office/drawing/2014/main" id="{383C61B8-3639-3AEB-AB70-74128C50883D}"/>
                  </a:ext>
                </a:extLst>
              </p:cNvPr>
              <p:cNvSpPr/>
              <p:nvPr/>
            </p:nvSpPr>
            <p:spPr>
              <a:xfrm>
                <a:off x="8993446" y="2196495"/>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83" name="Graphic 31">
              <a:extLst>
                <a:ext uri="{FF2B5EF4-FFF2-40B4-BE49-F238E27FC236}">
                  <a16:creationId xmlns:a16="http://schemas.microsoft.com/office/drawing/2014/main" id="{6D689C7C-BD42-F0C5-8CD9-EBDD7E8018FC}"/>
                </a:ext>
              </a:extLst>
            </p:cNvPr>
            <p:cNvGrpSpPr/>
            <p:nvPr/>
          </p:nvGrpSpPr>
          <p:grpSpPr>
            <a:xfrm>
              <a:off x="10101451" y="2630157"/>
              <a:ext cx="649581" cy="649581"/>
              <a:chOff x="10101451" y="2630157"/>
              <a:chExt cx="649581" cy="649581"/>
            </a:xfrm>
          </p:grpSpPr>
          <p:sp>
            <p:nvSpPr>
              <p:cNvPr id="1098" name="Freeform: Shape 1033">
                <a:extLst>
                  <a:ext uri="{FF2B5EF4-FFF2-40B4-BE49-F238E27FC236}">
                    <a16:creationId xmlns:a16="http://schemas.microsoft.com/office/drawing/2014/main" id="{BD4C161B-813A-492A-1F43-B02BB3873A18}"/>
                  </a:ext>
                </a:extLst>
              </p:cNvPr>
              <p:cNvSpPr/>
              <p:nvPr/>
            </p:nvSpPr>
            <p:spPr>
              <a:xfrm>
                <a:off x="10101451" y="2630157"/>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99" name="Freeform: Shape 1034">
                <a:extLst>
                  <a:ext uri="{FF2B5EF4-FFF2-40B4-BE49-F238E27FC236}">
                    <a16:creationId xmlns:a16="http://schemas.microsoft.com/office/drawing/2014/main" id="{9B52E9C2-0BC8-21E1-FB59-B55D7E172D7A}"/>
                  </a:ext>
                </a:extLst>
              </p:cNvPr>
              <p:cNvSpPr/>
              <p:nvPr/>
            </p:nvSpPr>
            <p:spPr>
              <a:xfrm>
                <a:off x="10170017" y="2740466"/>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84" name="Graphic 33">
              <a:extLst>
                <a:ext uri="{FF2B5EF4-FFF2-40B4-BE49-F238E27FC236}">
                  <a16:creationId xmlns:a16="http://schemas.microsoft.com/office/drawing/2014/main" id="{66056FD1-5B7E-925F-294A-FD64361FDA39}"/>
                </a:ext>
              </a:extLst>
            </p:cNvPr>
            <p:cNvGrpSpPr/>
            <p:nvPr/>
          </p:nvGrpSpPr>
          <p:grpSpPr>
            <a:xfrm>
              <a:off x="10564971" y="3732108"/>
              <a:ext cx="649581" cy="649581"/>
              <a:chOff x="10564971" y="3732108"/>
              <a:chExt cx="649581" cy="649581"/>
            </a:xfrm>
          </p:grpSpPr>
          <p:sp>
            <p:nvSpPr>
              <p:cNvPr id="1096" name="Freeform: Shape 1036">
                <a:extLst>
                  <a:ext uri="{FF2B5EF4-FFF2-40B4-BE49-F238E27FC236}">
                    <a16:creationId xmlns:a16="http://schemas.microsoft.com/office/drawing/2014/main" id="{A3ECA61D-B407-4E32-9CC6-1012E2434327}"/>
                  </a:ext>
                </a:extLst>
              </p:cNvPr>
              <p:cNvSpPr/>
              <p:nvPr/>
            </p:nvSpPr>
            <p:spPr>
              <a:xfrm>
                <a:off x="10564971" y="3732108"/>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97" name="Freeform: Shape 1037">
                <a:extLst>
                  <a:ext uri="{FF2B5EF4-FFF2-40B4-BE49-F238E27FC236}">
                    <a16:creationId xmlns:a16="http://schemas.microsoft.com/office/drawing/2014/main" id="{4F9F44DF-13E9-5BF4-5605-A2CB02D7DD2B}"/>
                  </a:ext>
                </a:extLst>
              </p:cNvPr>
              <p:cNvSpPr/>
              <p:nvPr/>
            </p:nvSpPr>
            <p:spPr>
              <a:xfrm>
                <a:off x="10633537" y="3842417"/>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85" name="Graphic 28">
              <a:extLst>
                <a:ext uri="{FF2B5EF4-FFF2-40B4-BE49-F238E27FC236}">
                  <a16:creationId xmlns:a16="http://schemas.microsoft.com/office/drawing/2014/main" id="{260CF742-7830-F2D4-27A5-A652C5325ADA}"/>
                </a:ext>
              </a:extLst>
            </p:cNvPr>
            <p:cNvGrpSpPr/>
            <p:nvPr/>
          </p:nvGrpSpPr>
          <p:grpSpPr>
            <a:xfrm>
              <a:off x="10091209" y="4834059"/>
              <a:ext cx="649581" cy="649581"/>
              <a:chOff x="10091209" y="4834059"/>
              <a:chExt cx="649581" cy="649581"/>
            </a:xfrm>
          </p:grpSpPr>
          <p:sp>
            <p:nvSpPr>
              <p:cNvPr id="1094" name="Freeform: Shape 1039">
                <a:extLst>
                  <a:ext uri="{FF2B5EF4-FFF2-40B4-BE49-F238E27FC236}">
                    <a16:creationId xmlns:a16="http://schemas.microsoft.com/office/drawing/2014/main" id="{C1B0878A-DFC6-ECC4-C579-06AC79922E47}"/>
                  </a:ext>
                </a:extLst>
              </p:cNvPr>
              <p:cNvSpPr/>
              <p:nvPr/>
            </p:nvSpPr>
            <p:spPr>
              <a:xfrm>
                <a:off x="10091209" y="4834059"/>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95" name="Freeform: Shape 1040">
                <a:extLst>
                  <a:ext uri="{FF2B5EF4-FFF2-40B4-BE49-F238E27FC236}">
                    <a16:creationId xmlns:a16="http://schemas.microsoft.com/office/drawing/2014/main" id="{B3630FE9-7902-DE2C-32FA-25976B5E31D1}"/>
                  </a:ext>
                </a:extLst>
              </p:cNvPr>
              <p:cNvSpPr/>
              <p:nvPr/>
            </p:nvSpPr>
            <p:spPr>
              <a:xfrm>
                <a:off x="10159775" y="4944368"/>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86" name="Graphic 27">
              <a:extLst>
                <a:ext uri="{FF2B5EF4-FFF2-40B4-BE49-F238E27FC236}">
                  <a16:creationId xmlns:a16="http://schemas.microsoft.com/office/drawing/2014/main" id="{1EFAEED9-3353-08D9-70F6-4134CABD6B29}"/>
                </a:ext>
              </a:extLst>
            </p:cNvPr>
            <p:cNvGrpSpPr/>
            <p:nvPr/>
          </p:nvGrpSpPr>
          <p:grpSpPr>
            <a:xfrm>
              <a:off x="8924880" y="5378031"/>
              <a:ext cx="649581" cy="649581"/>
              <a:chOff x="8924880" y="5378031"/>
              <a:chExt cx="649581" cy="649581"/>
            </a:xfrm>
          </p:grpSpPr>
          <p:sp>
            <p:nvSpPr>
              <p:cNvPr id="1092" name="Freeform: Shape 1042">
                <a:extLst>
                  <a:ext uri="{FF2B5EF4-FFF2-40B4-BE49-F238E27FC236}">
                    <a16:creationId xmlns:a16="http://schemas.microsoft.com/office/drawing/2014/main" id="{A61D5404-C330-DFDF-BD3B-5E253B884844}"/>
                  </a:ext>
                </a:extLst>
              </p:cNvPr>
              <p:cNvSpPr/>
              <p:nvPr/>
            </p:nvSpPr>
            <p:spPr>
              <a:xfrm>
                <a:off x="8924880" y="5378031"/>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93" name="Freeform: Shape 1043">
                <a:extLst>
                  <a:ext uri="{FF2B5EF4-FFF2-40B4-BE49-F238E27FC236}">
                    <a16:creationId xmlns:a16="http://schemas.microsoft.com/office/drawing/2014/main" id="{B4C56529-01F5-3F1F-42A3-3E07481D0E86}"/>
                  </a:ext>
                </a:extLst>
              </p:cNvPr>
              <p:cNvSpPr/>
              <p:nvPr/>
            </p:nvSpPr>
            <p:spPr>
              <a:xfrm>
                <a:off x="8993446" y="5488340"/>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grpSp>
          <p:nvGrpSpPr>
            <p:cNvPr id="1087" name="Graphic 29">
              <a:extLst>
                <a:ext uri="{FF2B5EF4-FFF2-40B4-BE49-F238E27FC236}">
                  <a16:creationId xmlns:a16="http://schemas.microsoft.com/office/drawing/2014/main" id="{8E60752E-F0D8-1DF9-6400-49A35AAC6950}"/>
                </a:ext>
              </a:extLst>
            </p:cNvPr>
            <p:cNvGrpSpPr/>
            <p:nvPr/>
          </p:nvGrpSpPr>
          <p:grpSpPr>
            <a:xfrm>
              <a:off x="7748308" y="4890843"/>
              <a:ext cx="649581" cy="649581"/>
              <a:chOff x="7748308" y="4890843"/>
              <a:chExt cx="649581" cy="649581"/>
            </a:xfrm>
          </p:grpSpPr>
          <p:sp>
            <p:nvSpPr>
              <p:cNvPr id="1090" name="Freeform: Shape 1045">
                <a:extLst>
                  <a:ext uri="{FF2B5EF4-FFF2-40B4-BE49-F238E27FC236}">
                    <a16:creationId xmlns:a16="http://schemas.microsoft.com/office/drawing/2014/main" id="{6D265951-AFFF-782F-71AF-E4CB89C9EF68}"/>
                  </a:ext>
                </a:extLst>
              </p:cNvPr>
              <p:cNvSpPr/>
              <p:nvPr/>
            </p:nvSpPr>
            <p:spPr>
              <a:xfrm>
                <a:off x="7748308" y="4890843"/>
                <a:ext cx="649581" cy="649581"/>
              </a:xfrm>
              <a:custGeom>
                <a:avLst/>
                <a:gdLst>
                  <a:gd name="connsiteX0" fmla="*/ 649581 w 649581"/>
                  <a:gd name="connsiteY0" fmla="*/ 324791 h 649581"/>
                  <a:gd name="connsiteX1" fmla="*/ 324791 w 649581"/>
                  <a:gd name="connsiteY1" fmla="*/ 649581 h 649581"/>
                  <a:gd name="connsiteX2" fmla="*/ 0 w 649581"/>
                  <a:gd name="connsiteY2" fmla="*/ 324791 h 649581"/>
                  <a:gd name="connsiteX3" fmla="*/ 324791 w 649581"/>
                  <a:gd name="connsiteY3" fmla="*/ 0 h 649581"/>
                  <a:gd name="connsiteX4" fmla="*/ 649581 w 649581"/>
                  <a:gd name="connsiteY4" fmla="*/ 324791 h 64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9581" h="649581">
                    <a:moveTo>
                      <a:pt x="649581" y="324791"/>
                    </a:moveTo>
                    <a:cubicBezTo>
                      <a:pt x="649581" y="504167"/>
                      <a:pt x="504167" y="649581"/>
                      <a:pt x="324791" y="649581"/>
                    </a:cubicBezTo>
                    <a:cubicBezTo>
                      <a:pt x="145414" y="649581"/>
                      <a:pt x="0" y="504167"/>
                      <a:pt x="0" y="324791"/>
                    </a:cubicBezTo>
                    <a:cubicBezTo>
                      <a:pt x="0" y="145414"/>
                      <a:pt x="145414" y="0"/>
                      <a:pt x="324791" y="0"/>
                    </a:cubicBezTo>
                    <a:cubicBezTo>
                      <a:pt x="504167" y="0"/>
                      <a:pt x="649581" y="145414"/>
                      <a:pt x="649581" y="324791"/>
                    </a:cubicBezTo>
                    <a:close/>
                  </a:path>
                </a:pathLst>
              </a:custGeom>
              <a:solidFill>
                <a:schemeClr val="accent1"/>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091" name="Freeform: Shape 1046">
                <a:extLst>
                  <a:ext uri="{FF2B5EF4-FFF2-40B4-BE49-F238E27FC236}">
                    <a16:creationId xmlns:a16="http://schemas.microsoft.com/office/drawing/2014/main" id="{EA5CD583-67C9-C5CB-9E6A-B0B38882449B}"/>
                  </a:ext>
                </a:extLst>
              </p:cNvPr>
              <p:cNvSpPr/>
              <p:nvPr/>
            </p:nvSpPr>
            <p:spPr>
              <a:xfrm>
                <a:off x="7816874" y="5001152"/>
                <a:ext cx="519664" cy="431910"/>
              </a:xfrm>
              <a:custGeom>
                <a:avLst/>
                <a:gdLst>
                  <a:gd name="connsiteX0" fmla="*/ 390651 w 519664"/>
                  <a:gd name="connsiteY0" fmla="*/ 207263 h 431910"/>
                  <a:gd name="connsiteX1" fmla="*/ 392455 w 519664"/>
                  <a:gd name="connsiteY1" fmla="*/ 219894 h 431910"/>
                  <a:gd name="connsiteX2" fmla="*/ 392455 w 519664"/>
                  <a:gd name="connsiteY2" fmla="*/ 242449 h 431910"/>
                  <a:gd name="connsiteX3" fmla="*/ 407793 w 519664"/>
                  <a:gd name="connsiteY3" fmla="*/ 242449 h 431910"/>
                  <a:gd name="connsiteX4" fmla="*/ 435761 w 519664"/>
                  <a:gd name="connsiteY4" fmla="*/ 270417 h 431910"/>
                  <a:gd name="connsiteX5" fmla="*/ 435761 w 519664"/>
                  <a:gd name="connsiteY5" fmla="*/ 327255 h 431910"/>
                  <a:gd name="connsiteX6" fmla="*/ 407793 w 519664"/>
                  <a:gd name="connsiteY6" fmla="*/ 355223 h 431910"/>
                  <a:gd name="connsiteX7" fmla="*/ 392455 w 519664"/>
                  <a:gd name="connsiteY7" fmla="*/ 355223 h 431910"/>
                  <a:gd name="connsiteX8" fmla="*/ 392455 w 519664"/>
                  <a:gd name="connsiteY8" fmla="*/ 377778 h 431910"/>
                  <a:gd name="connsiteX9" fmla="*/ 338323 w 519664"/>
                  <a:gd name="connsiteY9" fmla="*/ 431910 h 431910"/>
                  <a:gd name="connsiteX10" fmla="*/ 97437 w 519664"/>
                  <a:gd name="connsiteY10" fmla="*/ 431910 h 431910"/>
                  <a:gd name="connsiteX11" fmla="*/ 43305 w 519664"/>
                  <a:gd name="connsiteY11" fmla="*/ 377778 h 431910"/>
                  <a:gd name="connsiteX12" fmla="*/ 43305 w 519664"/>
                  <a:gd name="connsiteY12" fmla="*/ 355223 h 431910"/>
                  <a:gd name="connsiteX13" fmla="*/ 27968 w 519664"/>
                  <a:gd name="connsiteY13" fmla="*/ 355223 h 431910"/>
                  <a:gd name="connsiteX14" fmla="*/ 0 w 519664"/>
                  <a:gd name="connsiteY14" fmla="*/ 327255 h 431910"/>
                  <a:gd name="connsiteX15" fmla="*/ 0 w 519664"/>
                  <a:gd name="connsiteY15" fmla="*/ 270417 h 431910"/>
                  <a:gd name="connsiteX16" fmla="*/ 27968 w 519664"/>
                  <a:gd name="connsiteY16" fmla="*/ 242449 h 431910"/>
                  <a:gd name="connsiteX17" fmla="*/ 43305 w 519664"/>
                  <a:gd name="connsiteY17" fmla="*/ 242449 h 431910"/>
                  <a:gd name="connsiteX18" fmla="*/ 43305 w 519664"/>
                  <a:gd name="connsiteY18" fmla="*/ 219894 h 431910"/>
                  <a:gd name="connsiteX19" fmla="*/ 97437 w 519664"/>
                  <a:gd name="connsiteY19" fmla="*/ 165762 h 431910"/>
                  <a:gd name="connsiteX20" fmla="*/ 168711 w 519664"/>
                  <a:gd name="connsiteY20" fmla="*/ 165762 h 431910"/>
                  <a:gd name="connsiteX21" fmla="*/ 168711 w 519664"/>
                  <a:gd name="connsiteY21" fmla="*/ 155838 h 431910"/>
                  <a:gd name="connsiteX22" fmla="*/ 189461 w 519664"/>
                  <a:gd name="connsiteY22" fmla="*/ 132381 h 431910"/>
                  <a:gd name="connsiteX23" fmla="*/ 199385 w 519664"/>
                  <a:gd name="connsiteY23" fmla="*/ 132381 h 431910"/>
                  <a:gd name="connsiteX24" fmla="*/ 199385 w 519664"/>
                  <a:gd name="connsiteY24" fmla="*/ 100804 h 431910"/>
                  <a:gd name="connsiteX25" fmla="*/ 169613 w 519664"/>
                  <a:gd name="connsiteY25" fmla="*/ 33139 h 431910"/>
                  <a:gd name="connsiteX26" fmla="*/ 237278 w 519664"/>
                  <a:gd name="connsiteY26" fmla="*/ 3367 h 431910"/>
                  <a:gd name="connsiteX27" fmla="*/ 267050 w 519664"/>
                  <a:gd name="connsiteY27" fmla="*/ 71032 h 431910"/>
                  <a:gd name="connsiteX28" fmla="*/ 237278 w 519664"/>
                  <a:gd name="connsiteY28" fmla="*/ 100804 h 431910"/>
                  <a:gd name="connsiteX29" fmla="*/ 237278 w 519664"/>
                  <a:gd name="connsiteY29" fmla="*/ 132381 h 431910"/>
                  <a:gd name="connsiteX30" fmla="*/ 247202 w 519664"/>
                  <a:gd name="connsiteY30" fmla="*/ 132381 h 431910"/>
                  <a:gd name="connsiteX31" fmla="*/ 267952 w 519664"/>
                  <a:gd name="connsiteY31" fmla="*/ 155838 h 431910"/>
                  <a:gd name="connsiteX32" fmla="*/ 267952 w 519664"/>
                  <a:gd name="connsiteY32" fmla="*/ 165762 h 431910"/>
                  <a:gd name="connsiteX33" fmla="*/ 293214 w 519664"/>
                  <a:gd name="connsiteY33" fmla="*/ 165762 h 431910"/>
                  <a:gd name="connsiteX34" fmla="*/ 293214 w 519664"/>
                  <a:gd name="connsiteY34" fmla="*/ 75543 h 431910"/>
                  <a:gd name="connsiteX35" fmla="*/ 331106 w 519664"/>
                  <a:gd name="connsiteY35" fmla="*/ 37650 h 431910"/>
                  <a:gd name="connsiteX36" fmla="*/ 481773 w 519664"/>
                  <a:gd name="connsiteY36" fmla="*/ 37650 h 431910"/>
                  <a:gd name="connsiteX37" fmla="*/ 519665 w 519664"/>
                  <a:gd name="connsiteY37" fmla="*/ 75543 h 431910"/>
                  <a:gd name="connsiteX38" fmla="*/ 519665 w 519664"/>
                  <a:gd name="connsiteY38" fmla="*/ 169371 h 431910"/>
                  <a:gd name="connsiteX39" fmla="*/ 481773 w 519664"/>
                  <a:gd name="connsiteY39" fmla="*/ 207263 h 431910"/>
                  <a:gd name="connsiteX40" fmla="*/ 392455 w 519664"/>
                  <a:gd name="connsiteY40" fmla="*/ 207263 h 431910"/>
                  <a:gd name="connsiteX41" fmla="*/ 464631 w 519664"/>
                  <a:gd name="connsiteY41" fmla="*/ 98098 h 431910"/>
                  <a:gd name="connsiteX42" fmla="*/ 489892 w 519664"/>
                  <a:gd name="connsiteY42" fmla="*/ 123359 h 431910"/>
                  <a:gd name="connsiteX43" fmla="*/ 464631 w 519664"/>
                  <a:gd name="connsiteY43" fmla="*/ 148621 h 431910"/>
                  <a:gd name="connsiteX44" fmla="*/ 439369 w 519664"/>
                  <a:gd name="connsiteY44" fmla="*/ 123359 h 431910"/>
                  <a:gd name="connsiteX45" fmla="*/ 439369 w 519664"/>
                  <a:gd name="connsiteY45" fmla="*/ 123359 h 431910"/>
                  <a:gd name="connsiteX46" fmla="*/ 464631 w 519664"/>
                  <a:gd name="connsiteY46" fmla="*/ 98098 h 431910"/>
                  <a:gd name="connsiteX47" fmla="*/ 472751 w 519664"/>
                  <a:gd name="connsiteY47" fmla="*/ 116141 h 431910"/>
                  <a:gd name="connsiteX48" fmla="*/ 456511 w 519664"/>
                  <a:gd name="connsiteY48" fmla="*/ 116141 h 431910"/>
                  <a:gd name="connsiteX49" fmla="*/ 456511 w 519664"/>
                  <a:gd name="connsiteY49" fmla="*/ 132381 h 431910"/>
                  <a:gd name="connsiteX50" fmla="*/ 472751 w 519664"/>
                  <a:gd name="connsiteY50" fmla="*/ 132381 h 431910"/>
                  <a:gd name="connsiteX51" fmla="*/ 472751 w 519664"/>
                  <a:gd name="connsiteY51" fmla="*/ 132381 h 431910"/>
                  <a:gd name="connsiteX52" fmla="*/ 472751 w 519664"/>
                  <a:gd name="connsiteY52" fmla="*/ 116141 h 431910"/>
                  <a:gd name="connsiteX53" fmla="*/ 404184 w 519664"/>
                  <a:gd name="connsiteY53" fmla="*/ 98098 h 431910"/>
                  <a:gd name="connsiteX54" fmla="*/ 429445 w 519664"/>
                  <a:gd name="connsiteY54" fmla="*/ 123359 h 431910"/>
                  <a:gd name="connsiteX55" fmla="*/ 404184 w 519664"/>
                  <a:gd name="connsiteY55" fmla="*/ 148621 h 431910"/>
                  <a:gd name="connsiteX56" fmla="*/ 378922 w 519664"/>
                  <a:gd name="connsiteY56" fmla="*/ 123359 h 431910"/>
                  <a:gd name="connsiteX57" fmla="*/ 378922 w 519664"/>
                  <a:gd name="connsiteY57" fmla="*/ 123359 h 431910"/>
                  <a:gd name="connsiteX58" fmla="*/ 404184 w 519664"/>
                  <a:gd name="connsiteY58" fmla="*/ 98098 h 431910"/>
                  <a:gd name="connsiteX59" fmla="*/ 412304 w 519664"/>
                  <a:gd name="connsiteY59" fmla="*/ 116141 h 431910"/>
                  <a:gd name="connsiteX60" fmla="*/ 396064 w 519664"/>
                  <a:gd name="connsiteY60" fmla="*/ 116141 h 431910"/>
                  <a:gd name="connsiteX61" fmla="*/ 396064 w 519664"/>
                  <a:gd name="connsiteY61" fmla="*/ 132381 h 431910"/>
                  <a:gd name="connsiteX62" fmla="*/ 412304 w 519664"/>
                  <a:gd name="connsiteY62" fmla="*/ 132381 h 431910"/>
                  <a:gd name="connsiteX63" fmla="*/ 412304 w 519664"/>
                  <a:gd name="connsiteY63" fmla="*/ 132381 h 431910"/>
                  <a:gd name="connsiteX64" fmla="*/ 412304 w 519664"/>
                  <a:gd name="connsiteY64" fmla="*/ 116141 h 431910"/>
                  <a:gd name="connsiteX65" fmla="*/ 344639 w 519664"/>
                  <a:gd name="connsiteY65" fmla="*/ 98098 h 431910"/>
                  <a:gd name="connsiteX66" fmla="*/ 369900 w 519664"/>
                  <a:gd name="connsiteY66" fmla="*/ 123359 h 431910"/>
                  <a:gd name="connsiteX67" fmla="*/ 344639 w 519664"/>
                  <a:gd name="connsiteY67" fmla="*/ 148621 h 431910"/>
                  <a:gd name="connsiteX68" fmla="*/ 319377 w 519664"/>
                  <a:gd name="connsiteY68" fmla="*/ 123359 h 431910"/>
                  <a:gd name="connsiteX69" fmla="*/ 344639 w 519664"/>
                  <a:gd name="connsiteY69" fmla="*/ 98098 h 431910"/>
                  <a:gd name="connsiteX70" fmla="*/ 352759 w 519664"/>
                  <a:gd name="connsiteY70" fmla="*/ 116141 h 431910"/>
                  <a:gd name="connsiteX71" fmla="*/ 336519 w 519664"/>
                  <a:gd name="connsiteY71" fmla="*/ 116141 h 431910"/>
                  <a:gd name="connsiteX72" fmla="*/ 336519 w 519664"/>
                  <a:gd name="connsiteY72" fmla="*/ 132381 h 431910"/>
                  <a:gd name="connsiteX73" fmla="*/ 352759 w 519664"/>
                  <a:gd name="connsiteY73" fmla="*/ 132381 h 431910"/>
                  <a:gd name="connsiteX74" fmla="*/ 352759 w 519664"/>
                  <a:gd name="connsiteY74" fmla="*/ 132381 h 431910"/>
                  <a:gd name="connsiteX75" fmla="*/ 352759 w 519664"/>
                  <a:gd name="connsiteY75" fmla="*/ 116141 h 431910"/>
                  <a:gd name="connsiteX76" fmla="*/ 305844 w 519664"/>
                  <a:gd name="connsiteY76" fmla="*/ 172078 h 431910"/>
                  <a:gd name="connsiteX77" fmla="*/ 305844 w 519664"/>
                  <a:gd name="connsiteY77" fmla="*/ 215383 h 431910"/>
                  <a:gd name="connsiteX78" fmla="*/ 356367 w 519664"/>
                  <a:gd name="connsiteY78" fmla="*/ 193730 h 431910"/>
                  <a:gd name="connsiteX79" fmla="*/ 480870 w 519664"/>
                  <a:gd name="connsiteY79" fmla="*/ 193730 h 431910"/>
                  <a:gd name="connsiteX80" fmla="*/ 504327 w 519664"/>
                  <a:gd name="connsiteY80" fmla="*/ 170273 h 431910"/>
                  <a:gd name="connsiteX81" fmla="*/ 504327 w 519664"/>
                  <a:gd name="connsiteY81" fmla="*/ 76445 h 431910"/>
                  <a:gd name="connsiteX82" fmla="*/ 480870 w 519664"/>
                  <a:gd name="connsiteY82" fmla="*/ 52988 h 431910"/>
                  <a:gd name="connsiteX83" fmla="*/ 330204 w 519664"/>
                  <a:gd name="connsiteY83" fmla="*/ 52988 h 431910"/>
                  <a:gd name="connsiteX84" fmla="*/ 306747 w 519664"/>
                  <a:gd name="connsiteY84" fmla="*/ 76445 h 431910"/>
                  <a:gd name="connsiteX85" fmla="*/ 306747 w 519664"/>
                  <a:gd name="connsiteY85" fmla="*/ 172980 h 431910"/>
                  <a:gd name="connsiteX86" fmla="*/ 306747 w 519664"/>
                  <a:gd name="connsiteY86" fmla="*/ 172980 h 431910"/>
                  <a:gd name="connsiteX87" fmla="*/ 291409 w 519664"/>
                  <a:gd name="connsiteY87" fmla="*/ 179295 h 431910"/>
                  <a:gd name="connsiteX88" fmla="*/ 96535 w 519664"/>
                  <a:gd name="connsiteY88" fmla="*/ 179295 h 431910"/>
                  <a:gd name="connsiteX89" fmla="*/ 55936 w 519664"/>
                  <a:gd name="connsiteY89" fmla="*/ 219894 h 431910"/>
                  <a:gd name="connsiteX90" fmla="*/ 55936 w 519664"/>
                  <a:gd name="connsiteY90" fmla="*/ 379583 h 431910"/>
                  <a:gd name="connsiteX91" fmla="*/ 96535 w 519664"/>
                  <a:gd name="connsiteY91" fmla="*/ 420181 h 431910"/>
                  <a:gd name="connsiteX92" fmla="*/ 337421 w 519664"/>
                  <a:gd name="connsiteY92" fmla="*/ 420181 h 431910"/>
                  <a:gd name="connsiteX93" fmla="*/ 378020 w 519664"/>
                  <a:gd name="connsiteY93" fmla="*/ 379583 h 431910"/>
                  <a:gd name="connsiteX94" fmla="*/ 378020 w 519664"/>
                  <a:gd name="connsiteY94" fmla="*/ 219894 h 431910"/>
                  <a:gd name="connsiteX95" fmla="*/ 376216 w 519664"/>
                  <a:gd name="connsiteY95" fmla="*/ 207263 h 431910"/>
                  <a:gd name="connsiteX96" fmla="*/ 359976 w 519664"/>
                  <a:gd name="connsiteY96" fmla="*/ 207263 h 431910"/>
                  <a:gd name="connsiteX97" fmla="*/ 344639 w 519664"/>
                  <a:gd name="connsiteY97" fmla="*/ 213579 h 431910"/>
                  <a:gd name="connsiteX98" fmla="*/ 360878 w 519664"/>
                  <a:gd name="connsiteY98" fmla="*/ 252373 h 431910"/>
                  <a:gd name="connsiteX99" fmla="*/ 360878 w 519664"/>
                  <a:gd name="connsiteY99" fmla="*/ 346201 h 431910"/>
                  <a:gd name="connsiteX100" fmla="*/ 306747 w 519664"/>
                  <a:gd name="connsiteY100" fmla="*/ 400333 h 431910"/>
                  <a:gd name="connsiteX101" fmla="*/ 129014 w 519664"/>
                  <a:gd name="connsiteY101" fmla="*/ 400333 h 431910"/>
                  <a:gd name="connsiteX102" fmla="*/ 74882 w 519664"/>
                  <a:gd name="connsiteY102" fmla="*/ 346201 h 431910"/>
                  <a:gd name="connsiteX103" fmla="*/ 74882 w 519664"/>
                  <a:gd name="connsiteY103" fmla="*/ 252373 h 431910"/>
                  <a:gd name="connsiteX104" fmla="*/ 129014 w 519664"/>
                  <a:gd name="connsiteY104" fmla="*/ 198241 h 431910"/>
                  <a:gd name="connsiteX105" fmla="*/ 292311 w 519664"/>
                  <a:gd name="connsiteY105" fmla="*/ 198241 h 431910"/>
                  <a:gd name="connsiteX106" fmla="*/ 292311 w 519664"/>
                  <a:gd name="connsiteY106" fmla="*/ 179295 h 431910"/>
                  <a:gd name="connsiteX107" fmla="*/ 330204 w 519664"/>
                  <a:gd name="connsiteY107" fmla="*/ 219894 h 431910"/>
                  <a:gd name="connsiteX108" fmla="*/ 300431 w 519664"/>
                  <a:gd name="connsiteY108" fmla="*/ 232525 h 431910"/>
                  <a:gd name="connsiteX109" fmla="*/ 291409 w 519664"/>
                  <a:gd name="connsiteY109" fmla="*/ 228916 h 431910"/>
                  <a:gd name="connsiteX110" fmla="*/ 291409 w 519664"/>
                  <a:gd name="connsiteY110" fmla="*/ 226209 h 431910"/>
                  <a:gd name="connsiteX111" fmla="*/ 291409 w 519664"/>
                  <a:gd name="connsiteY111" fmla="*/ 212676 h 431910"/>
                  <a:gd name="connsiteX112" fmla="*/ 129014 w 519664"/>
                  <a:gd name="connsiteY112" fmla="*/ 212676 h 431910"/>
                  <a:gd name="connsiteX113" fmla="*/ 88415 w 519664"/>
                  <a:gd name="connsiteY113" fmla="*/ 253275 h 431910"/>
                  <a:gd name="connsiteX114" fmla="*/ 88415 w 519664"/>
                  <a:gd name="connsiteY114" fmla="*/ 347104 h 431910"/>
                  <a:gd name="connsiteX115" fmla="*/ 129014 w 519664"/>
                  <a:gd name="connsiteY115" fmla="*/ 387702 h 431910"/>
                  <a:gd name="connsiteX116" fmla="*/ 306747 w 519664"/>
                  <a:gd name="connsiteY116" fmla="*/ 387702 h 431910"/>
                  <a:gd name="connsiteX117" fmla="*/ 347345 w 519664"/>
                  <a:gd name="connsiteY117" fmla="*/ 347104 h 431910"/>
                  <a:gd name="connsiteX118" fmla="*/ 347345 w 519664"/>
                  <a:gd name="connsiteY118" fmla="*/ 253275 h 431910"/>
                  <a:gd name="connsiteX119" fmla="*/ 331106 w 519664"/>
                  <a:gd name="connsiteY119" fmla="*/ 220796 h 431910"/>
                  <a:gd name="connsiteX120" fmla="*/ 156080 w 519664"/>
                  <a:gd name="connsiteY120" fmla="*/ 233427 h 431910"/>
                  <a:gd name="connsiteX121" fmla="*/ 187657 w 519664"/>
                  <a:gd name="connsiteY121" fmla="*/ 265004 h 431910"/>
                  <a:gd name="connsiteX122" fmla="*/ 156080 w 519664"/>
                  <a:gd name="connsiteY122" fmla="*/ 296581 h 431910"/>
                  <a:gd name="connsiteX123" fmla="*/ 124503 w 519664"/>
                  <a:gd name="connsiteY123" fmla="*/ 265004 h 431910"/>
                  <a:gd name="connsiteX124" fmla="*/ 156080 w 519664"/>
                  <a:gd name="connsiteY124" fmla="*/ 233427 h 431910"/>
                  <a:gd name="connsiteX125" fmla="*/ 167808 w 519664"/>
                  <a:gd name="connsiteY125" fmla="*/ 252373 h 431910"/>
                  <a:gd name="connsiteX126" fmla="*/ 143449 w 519664"/>
                  <a:gd name="connsiteY126" fmla="*/ 252373 h 431910"/>
                  <a:gd name="connsiteX127" fmla="*/ 143449 w 519664"/>
                  <a:gd name="connsiteY127" fmla="*/ 276732 h 431910"/>
                  <a:gd name="connsiteX128" fmla="*/ 167808 w 519664"/>
                  <a:gd name="connsiteY128" fmla="*/ 276732 h 431910"/>
                  <a:gd name="connsiteX129" fmla="*/ 167808 w 519664"/>
                  <a:gd name="connsiteY129" fmla="*/ 252373 h 431910"/>
                  <a:gd name="connsiteX130" fmla="*/ 278779 w 519664"/>
                  <a:gd name="connsiteY130" fmla="*/ 233427 h 431910"/>
                  <a:gd name="connsiteX131" fmla="*/ 310355 w 519664"/>
                  <a:gd name="connsiteY131" fmla="*/ 265004 h 431910"/>
                  <a:gd name="connsiteX132" fmla="*/ 278779 w 519664"/>
                  <a:gd name="connsiteY132" fmla="*/ 296581 h 431910"/>
                  <a:gd name="connsiteX133" fmla="*/ 247202 w 519664"/>
                  <a:gd name="connsiteY133" fmla="*/ 265004 h 431910"/>
                  <a:gd name="connsiteX134" fmla="*/ 247202 w 519664"/>
                  <a:gd name="connsiteY134" fmla="*/ 265004 h 431910"/>
                  <a:gd name="connsiteX135" fmla="*/ 278779 w 519664"/>
                  <a:gd name="connsiteY135" fmla="*/ 233427 h 431910"/>
                  <a:gd name="connsiteX136" fmla="*/ 291409 w 519664"/>
                  <a:gd name="connsiteY136" fmla="*/ 252373 h 431910"/>
                  <a:gd name="connsiteX137" fmla="*/ 267050 w 519664"/>
                  <a:gd name="connsiteY137" fmla="*/ 252373 h 431910"/>
                  <a:gd name="connsiteX138" fmla="*/ 267050 w 519664"/>
                  <a:gd name="connsiteY138" fmla="*/ 276732 h 431910"/>
                  <a:gd name="connsiteX139" fmla="*/ 291409 w 519664"/>
                  <a:gd name="connsiteY139" fmla="*/ 276732 h 431910"/>
                  <a:gd name="connsiteX140" fmla="*/ 291409 w 519664"/>
                  <a:gd name="connsiteY140" fmla="*/ 252373 h 431910"/>
                  <a:gd name="connsiteX141" fmla="*/ 212016 w 519664"/>
                  <a:gd name="connsiteY141" fmla="*/ 104413 h 431910"/>
                  <a:gd name="connsiteX142" fmla="*/ 212016 w 519664"/>
                  <a:gd name="connsiteY142" fmla="*/ 132381 h 431910"/>
                  <a:gd name="connsiteX143" fmla="*/ 221940 w 519664"/>
                  <a:gd name="connsiteY143" fmla="*/ 132381 h 431910"/>
                  <a:gd name="connsiteX144" fmla="*/ 221940 w 519664"/>
                  <a:gd name="connsiteY144" fmla="*/ 104413 h 431910"/>
                  <a:gd name="connsiteX145" fmla="*/ 212016 w 519664"/>
                  <a:gd name="connsiteY145" fmla="*/ 104413 h 431910"/>
                  <a:gd name="connsiteX146" fmla="*/ 212016 w 519664"/>
                  <a:gd name="connsiteY146" fmla="*/ 104413 h 431910"/>
                  <a:gd name="connsiteX147" fmla="*/ 244495 w 519664"/>
                  <a:gd name="connsiteY147" fmla="*/ 25922 h 431910"/>
                  <a:gd name="connsiteX148" fmla="*/ 190363 w 519664"/>
                  <a:gd name="connsiteY148" fmla="*/ 25922 h 431910"/>
                  <a:gd name="connsiteX149" fmla="*/ 190363 w 519664"/>
                  <a:gd name="connsiteY149" fmla="*/ 80054 h 431910"/>
                  <a:gd name="connsiteX150" fmla="*/ 244495 w 519664"/>
                  <a:gd name="connsiteY150" fmla="*/ 80054 h 431910"/>
                  <a:gd name="connsiteX151" fmla="*/ 244495 w 519664"/>
                  <a:gd name="connsiteY151" fmla="*/ 25922 h 431910"/>
                  <a:gd name="connsiteX152" fmla="*/ 244495 w 519664"/>
                  <a:gd name="connsiteY152" fmla="*/ 25922 h 431910"/>
                  <a:gd name="connsiteX153" fmla="*/ 181341 w 519664"/>
                  <a:gd name="connsiteY153" fmla="*/ 165762 h 431910"/>
                  <a:gd name="connsiteX154" fmla="*/ 252615 w 519664"/>
                  <a:gd name="connsiteY154" fmla="*/ 165762 h 431910"/>
                  <a:gd name="connsiteX155" fmla="*/ 252615 w 519664"/>
                  <a:gd name="connsiteY155" fmla="*/ 155838 h 431910"/>
                  <a:gd name="connsiteX156" fmla="*/ 245397 w 519664"/>
                  <a:gd name="connsiteY156" fmla="*/ 146816 h 431910"/>
                  <a:gd name="connsiteX157" fmla="*/ 187657 w 519664"/>
                  <a:gd name="connsiteY157" fmla="*/ 146816 h 431910"/>
                  <a:gd name="connsiteX158" fmla="*/ 180439 w 519664"/>
                  <a:gd name="connsiteY158" fmla="*/ 155838 h 431910"/>
                  <a:gd name="connsiteX159" fmla="*/ 180439 w 519664"/>
                  <a:gd name="connsiteY159" fmla="*/ 165762 h 431910"/>
                  <a:gd name="connsiteX160" fmla="*/ 42403 w 519664"/>
                  <a:gd name="connsiteY160" fmla="*/ 342593 h 431910"/>
                  <a:gd name="connsiteX161" fmla="*/ 42403 w 519664"/>
                  <a:gd name="connsiteY161" fmla="*/ 256884 h 431910"/>
                  <a:gd name="connsiteX162" fmla="*/ 27066 w 519664"/>
                  <a:gd name="connsiteY162" fmla="*/ 256884 h 431910"/>
                  <a:gd name="connsiteX163" fmla="*/ 12631 w 519664"/>
                  <a:gd name="connsiteY163" fmla="*/ 271319 h 431910"/>
                  <a:gd name="connsiteX164" fmla="*/ 12631 w 519664"/>
                  <a:gd name="connsiteY164" fmla="*/ 328158 h 431910"/>
                  <a:gd name="connsiteX165" fmla="*/ 27066 w 519664"/>
                  <a:gd name="connsiteY165" fmla="*/ 342593 h 431910"/>
                  <a:gd name="connsiteX166" fmla="*/ 42403 w 519664"/>
                  <a:gd name="connsiteY166" fmla="*/ 342593 h 431910"/>
                  <a:gd name="connsiteX167" fmla="*/ 392455 w 519664"/>
                  <a:gd name="connsiteY167" fmla="*/ 256884 h 431910"/>
                  <a:gd name="connsiteX168" fmla="*/ 392455 w 519664"/>
                  <a:gd name="connsiteY168" fmla="*/ 342593 h 431910"/>
                  <a:gd name="connsiteX169" fmla="*/ 407793 w 519664"/>
                  <a:gd name="connsiteY169" fmla="*/ 342593 h 431910"/>
                  <a:gd name="connsiteX170" fmla="*/ 422228 w 519664"/>
                  <a:gd name="connsiteY170" fmla="*/ 328158 h 431910"/>
                  <a:gd name="connsiteX171" fmla="*/ 422228 w 519664"/>
                  <a:gd name="connsiteY171" fmla="*/ 271319 h 431910"/>
                  <a:gd name="connsiteX172" fmla="*/ 407793 w 519664"/>
                  <a:gd name="connsiteY172" fmla="*/ 256884 h 431910"/>
                  <a:gd name="connsiteX173" fmla="*/ 392455 w 519664"/>
                  <a:gd name="connsiteY173" fmla="*/ 256884 h 431910"/>
                  <a:gd name="connsiteX174" fmla="*/ 141645 w 519664"/>
                  <a:gd name="connsiteY174" fmla="*/ 346201 h 431910"/>
                  <a:gd name="connsiteX175" fmla="*/ 138036 w 519664"/>
                  <a:gd name="connsiteY175" fmla="*/ 337179 h 431910"/>
                  <a:gd name="connsiteX176" fmla="*/ 147058 w 519664"/>
                  <a:gd name="connsiteY176" fmla="*/ 333571 h 431910"/>
                  <a:gd name="connsiteX177" fmla="*/ 286898 w 519664"/>
                  <a:gd name="connsiteY177" fmla="*/ 333571 h 431910"/>
                  <a:gd name="connsiteX178" fmla="*/ 295920 w 519664"/>
                  <a:gd name="connsiteY178" fmla="*/ 337179 h 431910"/>
                  <a:gd name="connsiteX179" fmla="*/ 292311 w 519664"/>
                  <a:gd name="connsiteY179" fmla="*/ 346201 h 431910"/>
                  <a:gd name="connsiteX180" fmla="*/ 140743 w 519664"/>
                  <a:gd name="connsiteY180" fmla="*/ 346201 h 431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519664" h="431910">
                    <a:moveTo>
                      <a:pt x="390651" y="207263"/>
                    </a:moveTo>
                    <a:cubicBezTo>
                      <a:pt x="391553" y="211774"/>
                      <a:pt x="392455" y="215383"/>
                      <a:pt x="392455" y="219894"/>
                    </a:cubicBezTo>
                    <a:lnTo>
                      <a:pt x="392455" y="242449"/>
                    </a:lnTo>
                    <a:lnTo>
                      <a:pt x="407793" y="242449"/>
                    </a:lnTo>
                    <a:cubicBezTo>
                      <a:pt x="423130" y="242449"/>
                      <a:pt x="435761" y="255080"/>
                      <a:pt x="435761" y="270417"/>
                    </a:cubicBezTo>
                    <a:lnTo>
                      <a:pt x="435761" y="327255"/>
                    </a:lnTo>
                    <a:cubicBezTo>
                      <a:pt x="435761" y="342593"/>
                      <a:pt x="423130" y="355223"/>
                      <a:pt x="407793" y="355223"/>
                    </a:cubicBezTo>
                    <a:lnTo>
                      <a:pt x="392455" y="355223"/>
                    </a:lnTo>
                    <a:lnTo>
                      <a:pt x="392455" y="377778"/>
                    </a:lnTo>
                    <a:cubicBezTo>
                      <a:pt x="392455" y="407551"/>
                      <a:pt x="368096" y="431910"/>
                      <a:pt x="338323" y="431910"/>
                    </a:cubicBezTo>
                    <a:lnTo>
                      <a:pt x="97437" y="431910"/>
                    </a:lnTo>
                    <a:cubicBezTo>
                      <a:pt x="67665" y="431910"/>
                      <a:pt x="43305" y="407551"/>
                      <a:pt x="43305" y="377778"/>
                    </a:cubicBezTo>
                    <a:lnTo>
                      <a:pt x="43305" y="355223"/>
                    </a:lnTo>
                    <a:lnTo>
                      <a:pt x="27968" y="355223"/>
                    </a:lnTo>
                    <a:cubicBezTo>
                      <a:pt x="12631" y="355223"/>
                      <a:pt x="0" y="342593"/>
                      <a:pt x="0" y="327255"/>
                    </a:cubicBezTo>
                    <a:lnTo>
                      <a:pt x="0" y="270417"/>
                    </a:lnTo>
                    <a:cubicBezTo>
                      <a:pt x="0" y="255080"/>
                      <a:pt x="12631" y="242449"/>
                      <a:pt x="27968" y="242449"/>
                    </a:cubicBezTo>
                    <a:lnTo>
                      <a:pt x="43305" y="242449"/>
                    </a:lnTo>
                    <a:lnTo>
                      <a:pt x="43305" y="219894"/>
                    </a:lnTo>
                    <a:cubicBezTo>
                      <a:pt x="43305" y="190122"/>
                      <a:pt x="67665" y="165762"/>
                      <a:pt x="97437" y="165762"/>
                    </a:cubicBezTo>
                    <a:lnTo>
                      <a:pt x="168711" y="165762"/>
                    </a:lnTo>
                    <a:lnTo>
                      <a:pt x="168711" y="155838"/>
                    </a:lnTo>
                    <a:cubicBezTo>
                      <a:pt x="168711" y="144110"/>
                      <a:pt x="177733" y="133283"/>
                      <a:pt x="189461" y="132381"/>
                    </a:cubicBezTo>
                    <a:lnTo>
                      <a:pt x="199385" y="132381"/>
                    </a:lnTo>
                    <a:lnTo>
                      <a:pt x="199385" y="100804"/>
                    </a:lnTo>
                    <a:cubicBezTo>
                      <a:pt x="172319" y="89978"/>
                      <a:pt x="159689" y="60205"/>
                      <a:pt x="169613" y="33139"/>
                    </a:cubicBezTo>
                    <a:cubicBezTo>
                      <a:pt x="180439" y="6074"/>
                      <a:pt x="210212" y="-6557"/>
                      <a:pt x="237278" y="3367"/>
                    </a:cubicBezTo>
                    <a:cubicBezTo>
                      <a:pt x="264343" y="14193"/>
                      <a:pt x="276974" y="43966"/>
                      <a:pt x="267050" y="71032"/>
                    </a:cubicBezTo>
                    <a:cubicBezTo>
                      <a:pt x="261637" y="84565"/>
                      <a:pt x="250810" y="95391"/>
                      <a:pt x="237278" y="100804"/>
                    </a:cubicBezTo>
                    <a:lnTo>
                      <a:pt x="237278" y="132381"/>
                    </a:lnTo>
                    <a:lnTo>
                      <a:pt x="247202" y="132381"/>
                    </a:lnTo>
                    <a:cubicBezTo>
                      <a:pt x="258930" y="132381"/>
                      <a:pt x="268854" y="143207"/>
                      <a:pt x="267952" y="155838"/>
                    </a:cubicBezTo>
                    <a:lnTo>
                      <a:pt x="267952" y="165762"/>
                    </a:lnTo>
                    <a:lnTo>
                      <a:pt x="293214" y="165762"/>
                    </a:lnTo>
                    <a:lnTo>
                      <a:pt x="293214" y="75543"/>
                    </a:lnTo>
                    <a:cubicBezTo>
                      <a:pt x="293214" y="54792"/>
                      <a:pt x="310355" y="37650"/>
                      <a:pt x="331106" y="37650"/>
                    </a:cubicBezTo>
                    <a:lnTo>
                      <a:pt x="481773" y="37650"/>
                    </a:lnTo>
                    <a:cubicBezTo>
                      <a:pt x="502523" y="37650"/>
                      <a:pt x="519665" y="54792"/>
                      <a:pt x="519665" y="75543"/>
                    </a:cubicBezTo>
                    <a:lnTo>
                      <a:pt x="519665" y="169371"/>
                    </a:lnTo>
                    <a:cubicBezTo>
                      <a:pt x="519665" y="190122"/>
                      <a:pt x="502523" y="207263"/>
                      <a:pt x="481773" y="207263"/>
                    </a:cubicBezTo>
                    <a:lnTo>
                      <a:pt x="392455" y="207263"/>
                    </a:lnTo>
                    <a:close/>
                    <a:moveTo>
                      <a:pt x="464631" y="98098"/>
                    </a:moveTo>
                    <a:cubicBezTo>
                      <a:pt x="479066" y="98098"/>
                      <a:pt x="489892" y="109826"/>
                      <a:pt x="489892" y="123359"/>
                    </a:cubicBezTo>
                    <a:cubicBezTo>
                      <a:pt x="489892" y="136892"/>
                      <a:pt x="478164" y="148621"/>
                      <a:pt x="464631" y="148621"/>
                    </a:cubicBezTo>
                    <a:cubicBezTo>
                      <a:pt x="450196" y="148621"/>
                      <a:pt x="439369" y="136892"/>
                      <a:pt x="439369" y="123359"/>
                    </a:cubicBezTo>
                    <a:lnTo>
                      <a:pt x="439369" y="123359"/>
                    </a:lnTo>
                    <a:cubicBezTo>
                      <a:pt x="439369" y="108924"/>
                      <a:pt x="451098" y="98098"/>
                      <a:pt x="464631" y="98098"/>
                    </a:cubicBezTo>
                    <a:close/>
                    <a:moveTo>
                      <a:pt x="472751" y="116141"/>
                    </a:moveTo>
                    <a:cubicBezTo>
                      <a:pt x="468240" y="111631"/>
                      <a:pt x="461022" y="111631"/>
                      <a:pt x="456511" y="116141"/>
                    </a:cubicBezTo>
                    <a:cubicBezTo>
                      <a:pt x="452000" y="120652"/>
                      <a:pt x="452000" y="127870"/>
                      <a:pt x="456511" y="132381"/>
                    </a:cubicBezTo>
                    <a:cubicBezTo>
                      <a:pt x="461022" y="136892"/>
                      <a:pt x="468240" y="136892"/>
                      <a:pt x="472751" y="132381"/>
                    </a:cubicBezTo>
                    <a:cubicBezTo>
                      <a:pt x="472751" y="132381"/>
                      <a:pt x="472751" y="132381"/>
                      <a:pt x="472751" y="132381"/>
                    </a:cubicBezTo>
                    <a:cubicBezTo>
                      <a:pt x="477262" y="127870"/>
                      <a:pt x="477262" y="120652"/>
                      <a:pt x="472751" y="116141"/>
                    </a:cubicBezTo>
                    <a:close/>
                    <a:moveTo>
                      <a:pt x="404184" y="98098"/>
                    </a:moveTo>
                    <a:cubicBezTo>
                      <a:pt x="418619" y="98098"/>
                      <a:pt x="429445" y="109826"/>
                      <a:pt x="429445" y="123359"/>
                    </a:cubicBezTo>
                    <a:cubicBezTo>
                      <a:pt x="429445" y="136892"/>
                      <a:pt x="417717" y="148621"/>
                      <a:pt x="404184" y="148621"/>
                    </a:cubicBezTo>
                    <a:cubicBezTo>
                      <a:pt x="390651" y="148621"/>
                      <a:pt x="378922" y="136892"/>
                      <a:pt x="378922" y="123359"/>
                    </a:cubicBezTo>
                    <a:lnTo>
                      <a:pt x="378922" y="123359"/>
                    </a:lnTo>
                    <a:cubicBezTo>
                      <a:pt x="378922" y="108924"/>
                      <a:pt x="390651" y="98098"/>
                      <a:pt x="404184" y="98098"/>
                    </a:cubicBezTo>
                    <a:close/>
                    <a:moveTo>
                      <a:pt x="412304" y="116141"/>
                    </a:moveTo>
                    <a:cubicBezTo>
                      <a:pt x="407793" y="111631"/>
                      <a:pt x="400575" y="111631"/>
                      <a:pt x="396064" y="116141"/>
                    </a:cubicBezTo>
                    <a:cubicBezTo>
                      <a:pt x="391553" y="120652"/>
                      <a:pt x="391553" y="127870"/>
                      <a:pt x="396064" y="132381"/>
                    </a:cubicBezTo>
                    <a:cubicBezTo>
                      <a:pt x="400575" y="136892"/>
                      <a:pt x="407793" y="136892"/>
                      <a:pt x="412304" y="132381"/>
                    </a:cubicBezTo>
                    <a:cubicBezTo>
                      <a:pt x="412304" y="132381"/>
                      <a:pt x="412304" y="132381"/>
                      <a:pt x="412304" y="132381"/>
                    </a:cubicBezTo>
                    <a:cubicBezTo>
                      <a:pt x="416814" y="127870"/>
                      <a:pt x="416814" y="120652"/>
                      <a:pt x="412304" y="116141"/>
                    </a:cubicBezTo>
                    <a:close/>
                    <a:moveTo>
                      <a:pt x="344639" y="98098"/>
                    </a:moveTo>
                    <a:cubicBezTo>
                      <a:pt x="359074" y="98098"/>
                      <a:pt x="369900" y="109826"/>
                      <a:pt x="369900" y="123359"/>
                    </a:cubicBezTo>
                    <a:cubicBezTo>
                      <a:pt x="369900" y="136892"/>
                      <a:pt x="358172" y="148621"/>
                      <a:pt x="344639" y="148621"/>
                    </a:cubicBezTo>
                    <a:cubicBezTo>
                      <a:pt x="331106" y="148621"/>
                      <a:pt x="319377" y="136892"/>
                      <a:pt x="319377" y="123359"/>
                    </a:cubicBezTo>
                    <a:cubicBezTo>
                      <a:pt x="319377" y="108924"/>
                      <a:pt x="331106" y="98098"/>
                      <a:pt x="344639" y="98098"/>
                    </a:cubicBezTo>
                    <a:close/>
                    <a:moveTo>
                      <a:pt x="352759" y="116141"/>
                    </a:moveTo>
                    <a:cubicBezTo>
                      <a:pt x="348248" y="111631"/>
                      <a:pt x="341030" y="111631"/>
                      <a:pt x="336519" y="116141"/>
                    </a:cubicBezTo>
                    <a:cubicBezTo>
                      <a:pt x="332008" y="120652"/>
                      <a:pt x="332008" y="127870"/>
                      <a:pt x="336519" y="132381"/>
                    </a:cubicBezTo>
                    <a:cubicBezTo>
                      <a:pt x="341030" y="136892"/>
                      <a:pt x="348248" y="136892"/>
                      <a:pt x="352759" y="132381"/>
                    </a:cubicBezTo>
                    <a:cubicBezTo>
                      <a:pt x="352759" y="132381"/>
                      <a:pt x="352759" y="132381"/>
                      <a:pt x="352759" y="132381"/>
                    </a:cubicBezTo>
                    <a:cubicBezTo>
                      <a:pt x="357270" y="127870"/>
                      <a:pt x="357270" y="120652"/>
                      <a:pt x="352759" y="116141"/>
                    </a:cubicBezTo>
                    <a:close/>
                    <a:moveTo>
                      <a:pt x="305844" y="172078"/>
                    </a:moveTo>
                    <a:lnTo>
                      <a:pt x="305844" y="215383"/>
                    </a:lnTo>
                    <a:cubicBezTo>
                      <a:pt x="305844" y="215383"/>
                      <a:pt x="356367" y="193730"/>
                      <a:pt x="356367" y="193730"/>
                    </a:cubicBezTo>
                    <a:cubicBezTo>
                      <a:pt x="359976" y="191926"/>
                      <a:pt x="466435" y="193730"/>
                      <a:pt x="480870" y="193730"/>
                    </a:cubicBezTo>
                    <a:cubicBezTo>
                      <a:pt x="494403" y="193730"/>
                      <a:pt x="504327" y="182904"/>
                      <a:pt x="504327" y="170273"/>
                    </a:cubicBezTo>
                    <a:lnTo>
                      <a:pt x="504327" y="76445"/>
                    </a:lnTo>
                    <a:cubicBezTo>
                      <a:pt x="504327" y="62912"/>
                      <a:pt x="493501" y="52988"/>
                      <a:pt x="480870" y="52988"/>
                    </a:cubicBezTo>
                    <a:lnTo>
                      <a:pt x="330204" y="52988"/>
                    </a:lnTo>
                    <a:cubicBezTo>
                      <a:pt x="316671" y="52988"/>
                      <a:pt x="306747" y="63814"/>
                      <a:pt x="306747" y="76445"/>
                    </a:cubicBezTo>
                    <a:cubicBezTo>
                      <a:pt x="306747" y="108924"/>
                      <a:pt x="306747" y="140501"/>
                      <a:pt x="306747" y="172980"/>
                    </a:cubicBezTo>
                    <a:lnTo>
                      <a:pt x="306747" y="172980"/>
                    </a:lnTo>
                    <a:close/>
                    <a:moveTo>
                      <a:pt x="291409" y="179295"/>
                    </a:moveTo>
                    <a:lnTo>
                      <a:pt x="96535" y="179295"/>
                    </a:lnTo>
                    <a:cubicBezTo>
                      <a:pt x="73980" y="179295"/>
                      <a:pt x="55936" y="197339"/>
                      <a:pt x="55936" y="219894"/>
                    </a:cubicBezTo>
                    <a:lnTo>
                      <a:pt x="55936" y="379583"/>
                    </a:lnTo>
                    <a:cubicBezTo>
                      <a:pt x="55936" y="402138"/>
                      <a:pt x="73980" y="420181"/>
                      <a:pt x="96535" y="420181"/>
                    </a:cubicBezTo>
                    <a:lnTo>
                      <a:pt x="337421" y="420181"/>
                    </a:lnTo>
                    <a:cubicBezTo>
                      <a:pt x="359976" y="420181"/>
                      <a:pt x="378020" y="402138"/>
                      <a:pt x="378020" y="379583"/>
                    </a:cubicBezTo>
                    <a:lnTo>
                      <a:pt x="378020" y="219894"/>
                    </a:lnTo>
                    <a:cubicBezTo>
                      <a:pt x="378020" y="215383"/>
                      <a:pt x="378020" y="211774"/>
                      <a:pt x="376216" y="207263"/>
                    </a:cubicBezTo>
                    <a:lnTo>
                      <a:pt x="359976" y="207263"/>
                    </a:lnTo>
                    <a:lnTo>
                      <a:pt x="344639" y="213579"/>
                    </a:lnTo>
                    <a:cubicBezTo>
                      <a:pt x="355465" y="223503"/>
                      <a:pt x="360878" y="237938"/>
                      <a:pt x="360878" y="252373"/>
                    </a:cubicBezTo>
                    <a:lnTo>
                      <a:pt x="360878" y="346201"/>
                    </a:lnTo>
                    <a:cubicBezTo>
                      <a:pt x="360878" y="375974"/>
                      <a:pt x="336519" y="400333"/>
                      <a:pt x="306747" y="400333"/>
                    </a:cubicBezTo>
                    <a:lnTo>
                      <a:pt x="129014" y="400333"/>
                    </a:lnTo>
                    <a:cubicBezTo>
                      <a:pt x="99242" y="400333"/>
                      <a:pt x="74882" y="375974"/>
                      <a:pt x="74882" y="346201"/>
                    </a:cubicBezTo>
                    <a:lnTo>
                      <a:pt x="74882" y="252373"/>
                    </a:lnTo>
                    <a:cubicBezTo>
                      <a:pt x="74882" y="222601"/>
                      <a:pt x="99242" y="198241"/>
                      <a:pt x="129014" y="198241"/>
                    </a:cubicBezTo>
                    <a:lnTo>
                      <a:pt x="292311" y="198241"/>
                    </a:lnTo>
                    <a:lnTo>
                      <a:pt x="292311" y="179295"/>
                    </a:lnTo>
                    <a:close/>
                    <a:moveTo>
                      <a:pt x="330204" y="219894"/>
                    </a:moveTo>
                    <a:lnTo>
                      <a:pt x="300431" y="232525"/>
                    </a:lnTo>
                    <a:cubicBezTo>
                      <a:pt x="296822" y="234329"/>
                      <a:pt x="293214" y="232525"/>
                      <a:pt x="291409" y="228916"/>
                    </a:cubicBezTo>
                    <a:cubicBezTo>
                      <a:pt x="291409" y="228916"/>
                      <a:pt x="291409" y="227112"/>
                      <a:pt x="291409" y="226209"/>
                    </a:cubicBezTo>
                    <a:lnTo>
                      <a:pt x="291409" y="212676"/>
                    </a:lnTo>
                    <a:cubicBezTo>
                      <a:pt x="291409" y="212676"/>
                      <a:pt x="129014" y="212676"/>
                      <a:pt x="129014" y="212676"/>
                    </a:cubicBezTo>
                    <a:cubicBezTo>
                      <a:pt x="106459" y="212676"/>
                      <a:pt x="88415" y="230720"/>
                      <a:pt x="88415" y="253275"/>
                    </a:cubicBezTo>
                    <a:lnTo>
                      <a:pt x="88415" y="347104"/>
                    </a:lnTo>
                    <a:cubicBezTo>
                      <a:pt x="88415" y="369659"/>
                      <a:pt x="106459" y="387702"/>
                      <a:pt x="129014" y="387702"/>
                    </a:cubicBezTo>
                    <a:lnTo>
                      <a:pt x="306747" y="387702"/>
                    </a:lnTo>
                    <a:cubicBezTo>
                      <a:pt x="329301" y="387702"/>
                      <a:pt x="347345" y="369659"/>
                      <a:pt x="347345" y="347104"/>
                    </a:cubicBezTo>
                    <a:lnTo>
                      <a:pt x="347345" y="253275"/>
                    </a:lnTo>
                    <a:cubicBezTo>
                      <a:pt x="347345" y="240645"/>
                      <a:pt x="341030" y="228014"/>
                      <a:pt x="331106" y="220796"/>
                    </a:cubicBezTo>
                    <a:close/>
                    <a:moveTo>
                      <a:pt x="156080" y="233427"/>
                    </a:moveTo>
                    <a:cubicBezTo>
                      <a:pt x="173222" y="233427"/>
                      <a:pt x="187657" y="246960"/>
                      <a:pt x="187657" y="265004"/>
                    </a:cubicBezTo>
                    <a:cubicBezTo>
                      <a:pt x="187657" y="282146"/>
                      <a:pt x="174124" y="296581"/>
                      <a:pt x="156080" y="296581"/>
                    </a:cubicBezTo>
                    <a:cubicBezTo>
                      <a:pt x="138938" y="296581"/>
                      <a:pt x="124503" y="283048"/>
                      <a:pt x="124503" y="265004"/>
                    </a:cubicBezTo>
                    <a:cubicBezTo>
                      <a:pt x="124503" y="247862"/>
                      <a:pt x="138036" y="233427"/>
                      <a:pt x="156080" y="233427"/>
                    </a:cubicBezTo>
                    <a:close/>
                    <a:moveTo>
                      <a:pt x="167808" y="252373"/>
                    </a:moveTo>
                    <a:cubicBezTo>
                      <a:pt x="160591" y="245156"/>
                      <a:pt x="149765" y="245156"/>
                      <a:pt x="143449" y="252373"/>
                    </a:cubicBezTo>
                    <a:cubicBezTo>
                      <a:pt x="137134" y="259591"/>
                      <a:pt x="136232" y="270417"/>
                      <a:pt x="143449" y="276732"/>
                    </a:cubicBezTo>
                    <a:cubicBezTo>
                      <a:pt x="150667" y="283950"/>
                      <a:pt x="161493" y="283950"/>
                      <a:pt x="167808" y="276732"/>
                    </a:cubicBezTo>
                    <a:cubicBezTo>
                      <a:pt x="175026" y="269515"/>
                      <a:pt x="175026" y="258688"/>
                      <a:pt x="167808" y="252373"/>
                    </a:cubicBezTo>
                    <a:close/>
                    <a:moveTo>
                      <a:pt x="278779" y="233427"/>
                    </a:moveTo>
                    <a:cubicBezTo>
                      <a:pt x="295920" y="233427"/>
                      <a:pt x="310355" y="246960"/>
                      <a:pt x="310355" y="265004"/>
                    </a:cubicBezTo>
                    <a:cubicBezTo>
                      <a:pt x="310355" y="283048"/>
                      <a:pt x="296822" y="296581"/>
                      <a:pt x="278779" y="296581"/>
                    </a:cubicBezTo>
                    <a:cubicBezTo>
                      <a:pt x="260735" y="296581"/>
                      <a:pt x="247202" y="283048"/>
                      <a:pt x="247202" y="265004"/>
                    </a:cubicBezTo>
                    <a:lnTo>
                      <a:pt x="247202" y="265004"/>
                    </a:lnTo>
                    <a:cubicBezTo>
                      <a:pt x="247202" y="247862"/>
                      <a:pt x="260735" y="233427"/>
                      <a:pt x="278779" y="233427"/>
                    </a:cubicBezTo>
                    <a:close/>
                    <a:moveTo>
                      <a:pt x="291409" y="252373"/>
                    </a:moveTo>
                    <a:cubicBezTo>
                      <a:pt x="284192" y="245156"/>
                      <a:pt x="273365" y="245156"/>
                      <a:pt x="267050" y="252373"/>
                    </a:cubicBezTo>
                    <a:cubicBezTo>
                      <a:pt x="260735" y="259591"/>
                      <a:pt x="259832" y="270417"/>
                      <a:pt x="267050" y="276732"/>
                    </a:cubicBezTo>
                    <a:cubicBezTo>
                      <a:pt x="274268" y="283950"/>
                      <a:pt x="285094" y="283950"/>
                      <a:pt x="291409" y="276732"/>
                    </a:cubicBezTo>
                    <a:cubicBezTo>
                      <a:pt x="298627" y="269515"/>
                      <a:pt x="298627" y="258688"/>
                      <a:pt x="291409" y="252373"/>
                    </a:cubicBezTo>
                    <a:close/>
                    <a:moveTo>
                      <a:pt x="212016" y="104413"/>
                    </a:moveTo>
                    <a:lnTo>
                      <a:pt x="212016" y="132381"/>
                    </a:lnTo>
                    <a:lnTo>
                      <a:pt x="221940" y="132381"/>
                    </a:lnTo>
                    <a:lnTo>
                      <a:pt x="221940" y="104413"/>
                    </a:lnTo>
                    <a:cubicBezTo>
                      <a:pt x="218331" y="104413"/>
                      <a:pt x="214723" y="104413"/>
                      <a:pt x="212016" y="104413"/>
                    </a:cubicBezTo>
                    <a:lnTo>
                      <a:pt x="212016" y="104413"/>
                    </a:lnTo>
                    <a:close/>
                    <a:moveTo>
                      <a:pt x="244495" y="25922"/>
                    </a:moveTo>
                    <a:cubicBezTo>
                      <a:pt x="230060" y="11487"/>
                      <a:pt x="205701" y="11487"/>
                      <a:pt x="190363" y="25922"/>
                    </a:cubicBezTo>
                    <a:cubicBezTo>
                      <a:pt x="175928" y="40357"/>
                      <a:pt x="175928" y="64716"/>
                      <a:pt x="190363" y="80054"/>
                    </a:cubicBezTo>
                    <a:cubicBezTo>
                      <a:pt x="204798" y="94489"/>
                      <a:pt x="229158" y="94489"/>
                      <a:pt x="244495" y="80054"/>
                    </a:cubicBezTo>
                    <a:cubicBezTo>
                      <a:pt x="258930" y="65619"/>
                      <a:pt x="258930" y="41259"/>
                      <a:pt x="244495" y="25922"/>
                    </a:cubicBezTo>
                    <a:cubicBezTo>
                      <a:pt x="244495" y="25922"/>
                      <a:pt x="244495" y="25922"/>
                      <a:pt x="244495" y="25922"/>
                    </a:cubicBezTo>
                    <a:close/>
                    <a:moveTo>
                      <a:pt x="181341" y="165762"/>
                    </a:moveTo>
                    <a:lnTo>
                      <a:pt x="252615" y="165762"/>
                    </a:lnTo>
                    <a:lnTo>
                      <a:pt x="252615" y="155838"/>
                    </a:lnTo>
                    <a:cubicBezTo>
                      <a:pt x="252615" y="151327"/>
                      <a:pt x="249908" y="146816"/>
                      <a:pt x="245397" y="146816"/>
                    </a:cubicBezTo>
                    <a:lnTo>
                      <a:pt x="187657" y="146816"/>
                    </a:lnTo>
                    <a:cubicBezTo>
                      <a:pt x="183146" y="146816"/>
                      <a:pt x="180439" y="151327"/>
                      <a:pt x="180439" y="155838"/>
                    </a:cubicBezTo>
                    <a:lnTo>
                      <a:pt x="180439" y="165762"/>
                    </a:lnTo>
                    <a:close/>
                    <a:moveTo>
                      <a:pt x="42403" y="342593"/>
                    </a:moveTo>
                    <a:lnTo>
                      <a:pt x="42403" y="256884"/>
                    </a:lnTo>
                    <a:lnTo>
                      <a:pt x="27066" y="256884"/>
                    </a:lnTo>
                    <a:cubicBezTo>
                      <a:pt x="18946" y="256884"/>
                      <a:pt x="12631" y="263199"/>
                      <a:pt x="12631" y="271319"/>
                    </a:cubicBezTo>
                    <a:lnTo>
                      <a:pt x="12631" y="328158"/>
                    </a:lnTo>
                    <a:cubicBezTo>
                      <a:pt x="12631" y="336277"/>
                      <a:pt x="18946" y="342593"/>
                      <a:pt x="27066" y="342593"/>
                    </a:cubicBezTo>
                    <a:lnTo>
                      <a:pt x="42403" y="342593"/>
                    </a:lnTo>
                    <a:close/>
                    <a:moveTo>
                      <a:pt x="392455" y="256884"/>
                    </a:moveTo>
                    <a:lnTo>
                      <a:pt x="392455" y="342593"/>
                    </a:lnTo>
                    <a:lnTo>
                      <a:pt x="407793" y="342593"/>
                    </a:lnTo>
                    <a:cubicBezTo>
                      <a:pt x="415912" y="342593"/>
                      <a:pt x="422228" y="336277"/>
                      <a:pt x="422228" y="328158"/>
                    </a:cubicBezTo>
                    <a:lnTo>
                      <a:pt x="422228" y="271319"/>
                    </a:lnTo>
                    <a:cubicBezTo>
                      <a:pt x="422228" y="263199"/>
                      <a:pt x="415912" y="256884"/>
                      <a:pt x="407793" y="256884"/>
                    </a:cubicBezTo>
                    <a:lnTo>
                      <a:pt x="392455" y="256884"/>
                    </a:lnTo>
                    <a:close/>
                    <a:moveTo>
                      <a:pt x="141645" y="346201"/>
                    </a:moveTo>
                    <a:cubicBezTo>
                      <a:pt x="138036" y="344397"/>
                      <a:pt x="137134" y="340788"/>
                      <a:pt x="138036" y="337179"/>
                    </a:cubicBezTo>
                    <a:cubicBezTo>
                      <a:pt x="139840" y="333571"/>
                      <a:pt x="143449" y="332668"/>
                      <a:pt x="147058" y="333571"/>
                    </a:cubicBezTo>
                    <a:cubicBezTo>
                      <a:pt x="197581" y="357930"/>
                      <a:pt x="235473" y="357930"/>
                      <a:pt x="286898" y="333571"/>
                    </a:cubicBezTo>
                    <a:cubicBezTo>
                      <a:pt x="290507" y="331766"/>
                      <a:pt x="294116" y="333571"/>
                      <a:pt x="295920" y="337179"/>
                    </a:cubicBezTo>
                    <a:cubicBezTo>
                      <a:pt x="297725" y="340788"/>
                      <a:pt x="295920" y="344397"/>
                      <a:pt x="292311" y="346201"/>
                    </a:cubicBezTo>
                    <a:cubicBezTo>
                      <a:pt x="238180" y="372365"/>
                      <a:pt x="195776" y="372365"/>
                      <a:pt x="140743" y="346201"/>
                    </a:cubicBezTo>
                    <a:close/>
                  </a:path>
                </a:pathLst>
              </a:custGeom>
              <a:solidFill>
                <a:srgbClr val="FFFFFF"/>
              </a:solidFill>
              <a:ln w="89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088" name="TextBox 1087">
              <a:extLst>
                <a:ext uri="{FF2B5EF4-FFF2-40B4-BE49-F238E27FC236}">
                  <a16:creationId xmlns:a16="http://schemas.microsoft.com/office/drawing/2014/main" id="{773654B9-827D-5F61-5ED7-D209DD2C082D}"/>
                </a:ext>
              </a:extLst>
            </p:cNvPr>
            <p:cNvSpPr txBox="1"/>
            <p:nvPr/>
          </p:nvSpPr>
          <p:spPr>
            <a:xfrm>
              <a:off x="8088796" y="6138374"/>
              <a:ext cx="2291639"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93B5F"/>
                  </a:solidFill>
                  <a:effectLst/>
                  <a:uLnTx/>
                  <a:uFillTx/>
                  <a:latin typeface="Segoe UI" panose="020B0502040204020203" pitchFamily="34" charset="0"/>
                  <a:ea typeface="+mn-ea"/>
                  <a:cs typeface="Segoe UI" panose="020B0502040204020203" pitchFamily="34" charset="0"/>
                </a:rPr>
                <a:t>Solace Agent Mesh</a:t>
              </a:r>
            </a:p>
          </p:txBody>
        </p:sp>
        <p:cxnSp>
          <p:nvCxnSpPr>
            <p:cNvPr id="1089" name="Straight Connector 1088">
              <a:extLst>
                <a:ext uri="{FF2B5EF4-FFF2-40B4-BE49-F238E27FC236}">
                  <a16:creationId xmlns:a16="http://schemas.microsoft.com/office/drawing/2014/main" id="{4EA884EA-CEC7-22DB-56C2-ED03D5676B67}"/>
                </a:ext>
              </a:extLst>
            </p:cNvPr>
            <p:cNvCxnSpPr>
              <a:cxnSpLocks/>
            </p:cNvCxnSpPr>
            <p:nvPr/>
          </p:nvCxnSpPr>
          <p:spPr>
            <a:xfrm>
              <a:off x="7048704" y="2128085"/>
              <a:ext cx="0" cy="4010289"/>
            </a:xfrm>
            <a:prstGeom prst="line">
              <a:avLst/>
            </a:prstGeom>
            <a:ln w="381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0994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Solace Agent Mesh Vision</a:t>
            </a:r>
            <a:br>
              <a:rPr lang="en-US"/>
            </a:br>
            <a:r>
              <a:rPr lang="en-US" sz="2400"/>
              <a:t>Managing Your AI Worker Lifecycle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Monitor performance</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and provide feedback</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(coming soon!)</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Get them working</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together as a team</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Close oversight to ensure accuracy</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Internal education to</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improve competence</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Give access to systems &amp; tools</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Define role, responsibilities, expectations</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a:t>Solace Agent Mesh v2 on Kubernetes (Go Stack)</a:t>
            </a:r>
          </a:p>
        </p:txBody>
      </p:sp>
      <p:sp>
        <p:nvSpPr>
          <p:cNvPr id="3" name="TextBox 2"/>
          <p:cNvSpPr txBox="1"/>
          <p:nvPr/>
        </p:nvSpPr>
        <p:spPr>
          <a:xfrm>
            <a:off x="548640" y="822960"/>
            <a:ext cx="8869680" cy="201168"/>
          </a:xfrm>
          <a:prstGeom prst="rect">
            <a:avLst/>
          </a:prstGeom>
          <a:noFill/>
        </p:spPr>
        <p:txBody>
          <a:bodyPr wrap="square" lIns="18288" tIns="0" rIns="18288" bIns="0" anchor="t">
            <a:noAutofit/>
          </a:bodyPr>
          <a:lstStyle/>
          <a:p>
            <a:pPr algn="l">
              <a:lnSpc>
                <a:spcPct val="100000"/>
              </a:lnSpc>
              <a:spcBef>
                <a:spcPts val="0"/>
              </a:spcBef>
              <a:spcAft>
                <a:spcPts val="0"/>
              </a:spcAft>
            </a:pPr>
            <a:r>
              <a:rPr sz="1050" b="0" i="1">
                <a:solidFill>
                  <a:srgbClr val="5A7486"/>
                </a:solidFill>
              </a:rPr>
              <a:t>One Helm release, one MCP entrypoint – agents for every client, observability built into the lab.</a:t>
            </a:r>
          </a:p>
        </p:txBody>
      </p:sp>
      <p:pic>
        <p:nvPicPr>
          <p:cNvPr id="4" name="Picture 3" descr="solace_green.png"/>
          <p:cNvPicPr>
            <a:picLocks noChangeAspect="1"/>
          </p:cNvPicPr>
          <p:nvPr/>
        </p:nvPicPr>
        <p:blipFill>
          <a:blip r:embed="rId3"/>
          <a:stretch>
            <a:fillRect/>
          </a:stretch>
        </p:blipFill>
        <p:spPr>
          <a:xfrm>
            <a:off x="9418320" y="914400"/>
            <a:ext cx="612983" cy="155448"/>
          </a:xfrm>
          <a:prstGeom prst="rect">
            <a:avLst/>
          </a:prstGeom>
        </p:spPr>
      </p:pic>
      <p:sp>
        <p:nvSpPr>
          <p:cNvPr id="5" name="TextBox 4"/>
          <p:cNvSpPr txBox="1"/>
          <p:nvPr/>
        </p:nvSpPr>
        <p:spPr>
          <a:xfrm>
            <a:off x="10077023" y="859536"/>
            <a:ext cx="1463040" cy="256032"/>
          </a:xfrm>
          <a:prstGeom prst="rect">
            <a:avLst/>
          </a:prstGeom>
          <a:noFill/>
        </p:spPr>
        <p:txBody>
          <a:bodyPr wrap="square" lIns="18288" tIns="0" rIns="18288" bIns="0" anchor="ctr">
            <a:noAutofit/>
          </a:bodyPr>
          <a:lstStyle/>
          <a:p>
            <a:pPr algn="l">
              <a:lnSpc>
                <a:spcPct val="100000"/>
              </a:lnSpc>
              <a:spcBef>
                <a:spcPts val="0"/>
              </a:spcBef>
              <a:spcAft>
                <a:spcPts val="0"/>
              </a:spcAft>
            </a:pPr>
            <a:r>
              <a:rPr sz="1100" b="1" i="0">
                <a:solidFill>
                  <a:srgbClr val="0A3B5E"/>
                </a:solidFill>
              </a:rPr>
              <a:t>Agent Mesh</a:t>
            </a:r>
          </a:p>
        </p:txBody>
      </p:sp>
      <p:sp>
        <p:nvSpPr>
          <p:cNvPr id="6" name="zone-clients"/>
          <p:cNvSpPr/>
          <p:nvPr/>
        </p:nvSpPr>
        <p:spPr>
          <a:xfrm>
            <a:off x="201168" y="1207008"/>
            <a:ext cx="1828800" cy="3685031"/>
          </a:xfrm>
          <a:prstGeom prst="roundRect">
            <a:avLst>
              <a:gd name="adj" fmla="val 8000"/>
            </a:avLst>
          </a:prstGeom>
          <a:solidFill>
            <a:srgbClr val="E9EFF3"/>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zone-k8s"/>
          <p:cNvSpPr/>
          <p:nvPr/>
        </p:nvSpPr>
        <p:spPr>
          <a:xfrm>
            <a:off x="2834640" y="1207008"/>
            <a:ext cx="4069080" cy="3685031"/>
          </a:xfrm>
          <a:prstGeom prst="roundRect">
            <a:avLst>
              <a:gd name="adj" fmla="val 8000"/>
            </a:avLst>
          </a:prstGeom>
          <a:solidFill>
            <a:srgbClr val="E9FBE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zone-infra"/>
          <p:cNvSpPr/>
          <p:nvPr/>
        </p:nvSpPr>
        <p:spPr>
          <a:xfrm>
            <a:off x="8375904" y="1207008"/>
            <a:ext cx="3630168" cy="3685031"/>
          </a:xfrm>
          <a:prstGeom prst="roundRect">
            <a:avLst>
              <a:gd name="adj" fmla="val 8000"/>
            </a:avLst>
          </a:prstGeom>
          <a:solidFill>
            <a:srgbClr val="E4F8FC"/>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band-mesh"/>
          <p:cNvSpPr/>
          <p:nvPr/>
        </p:nvSpPr>
        <p:spPr>
          <a:xfrm>
            <a:off x="201168" y="5029200"/>
            <a:ext cx="11804904" cy="1261872"/>
          </a:xfrm>
          <a:prstGeom prst="roundRect">
            <a:avLst>
              <a:gd name="adj" fmla="val 8000"/>
            </a:avLst>
          </a:prstGeom>
          <a:solidFill>
            <a:srgbClr val="0A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1252728"/>
            <a:ext cx="1700784"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Clients / Workstation (macOS)</a:t>
            </a:r>
          </a:p>
        </p:txBody>
      </p:sp>
      <p:sp>
        <p:nvSpPr>
          <p:cNvPr id="11" name="Rounded Rectangle 10"/>
          <p:cNvSpPr/>
          <p:nvPr/>
        </p:nvSpPr>
        <p:spPr>
          <a:xfrm>
            <a:off x="292608" y="1627632"/>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laude.png"/>
          <p:cNvPicPr>
            <a:picLocks noChangeAspect="1"/>
          </p:cNvPicPr>
          <p:nvPr/>
        </p:nvPicPr>
        <p:blipFill>
          <a:blip r:embed="rId4"/>
          <a:stretch>
            <a:fillRect/>
          </a:stretch>
        </p:blipFill>
        <p:spPr>
          <a:xfrm>
            <a:off x="365760" y="1696212"/>
            <a:ext cx="155448" cy="155448"/>
          </a:xfrm>
          <a:prstGeom prst="rect">
            <a:avLst/>
          </a:prstGeom>
        </p:spPr>
      </p:pic>
      <p:sp>
        <p:nvSpPr>
          <p:cNvPr id="13" name="TextBox 12"/>
          <p:cNvSpPr txBox="1"/>
          <p:nvPr/>
        </p:nvSpPr>
        <p:spPr>
          <a:xfrm>
            <a:off x="566928" y="1673352"/>
            <a:ext cx="1371600"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Claude Code</a:t>
            </a:r>
          </a:p>
        </p:txBody>
      </p:sp>
      <p:sp>
        <p:nvSpPr>
          <p:cNvPr id="14" name="TextBox 13"/>
          <p:cNvSpPr txBox="1"/>
          <p:nvPr/>
        </p:nvSpPr>
        <p:spPr>
          <a:xfrm>
            <a:off x="329184" y="1874519"/>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620" b="0" i="0">
                <a:solidFill>
                  <a:srgbClr val="0A3B5E"/>
                </a:solidFill>
              </a:rPr>
              <a:t>MCP client → /gw/dev (OAuth 2.1 + PKCE)</a:t>
            </a:r>
          </a:p>
        </p:txBody>
      </p:sp>
      <p:sp>
        <p:nvSpPr>
          <p:cNvPr id="15" name="Rounded Rectangle 14"/>
          <p:cNvSpPr/>
          <p:nvPr/>
        </p:nvSpPr>
        <p:spPr>
          <a:xfrm>
            <a:off x="292608" y="2468880"/>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solace_green.png"/>
          <p:cNvPicPr>
            <a:picLocks noChangeAspect="1"/>
          </p:cNvPicPr>
          <p:nvPr/>
        </p:nvPicPr>
        <p:blipFill>
          <a:blip r:embed="rId3"/>
          <a:stretch>
            <a:fillRect/>
          </a:stretch>
        </p:blipFill>
        <p:spPr>
          <a:xfrm>
            <a:off x="365760" y="2537460"/>
            <a:ext cx="360578" cy="91440"/>
          </a:xfrm>
          <a:prstGeom prst="rect">
            <a:avLst/>
          </a:prstGeom>
        </p:spPr>
      </p:pic>
      <p:sp>
        <p:nvSpPr>
          <p:cNvPr id="17" name="TextBox 16"/>
          <p:cNvSpPr txBox="1"/>
          <p:nvPr/>
        </p:nvSpPr>
        <p:spPr>
          <a:xfrm>
            <a:off x="772058" y="2514600"/>
            <a:ext cx="1166469"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SAM Desktop App</a:t>
            </a:r>
          </a:p>
        </p:txBody>
      </p:sp>
      <p:sp>
        <p:nvSpPr>
          <p:cNvPr id="18" name="TextBox 17"/>
          <p:cNvSpPr txBox="1"/>
          <p:nvPr/>
        </p:nvSpPr>
        <p:spPr>
          <a:xfrm>
            <a:off x="329184" y="2715768"/>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590" b="0" i="0">
                <a:solidFill>
                  <a:srgbClr val="0A3B5E"/>
                </a:solidFill>
              </a:rPr>
              <a:t>Embedded runtime (SQLite, dev broker) · MCP connector to the K8s mesh · models via LiteLLM</a:t>
            </a:r>
          </a:p>
        </p:txBody>
      </p:sp>
      <p:sp>
        <p:nvSpPr>
          <p:cNvPr id="19" name="Rounded Rectangle 18"/>
          <p:cNvSpPr/>
          <p:nvPr/>
        </p:nvSpPr>
        <p:spPr>
          <a:xfrm>
            <a:off x="292608" y="3310128"/>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go.png"/>
          <p:cNvPicPr>
            <a:picLocks noChangeAspect="1"/>
          </p:cNvPicPr>
          <p:nvPr/>
        </p:nvPicPr>
        <p:blipFill>
          <a:blip r:embed="rId5"/>
          <a:stretch>
            <a:fillRect/>
          </a:stretch>
        </p:blipFill>
        <p:spPr>
          <a:xfrm>
            <a:off x="365760" y="3378708"/>
            <a:ext cx="315522" cy="118872"/>
          </a:xfrm>
          <a:prstGeom prst="rect">
            <a:avLst/>
          </a:prstGeom>
        </p:spPr>
      </p:pic>
      <p:sp>
        <p:nvSpPr>
          <p:cNvPr id="21" name="TextBox 20"/>
          <p:cNvSpPr txBox="1"/>
          <p:nvPr/>
        </p:nvSpPr>
        <p:spPr>
          <a:xfrm>
            <a:off x="727001" y="3355848"/>
            <a:ext cx="1211526"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sam CLI (Go)</a:t>
            </a:r>
          </a:p>
        </p:txBody>
      </p:sp>
      <p:sp>
        <p:nvSpPr>
          <p:cNvPr id="22" name="TextBox 21"/>
          <p:cNvSpPr txBox="1"/>
          <p:nvPr/>
        </p:nvSpPr>
        <p:spPr>
          <a:xfrm>
            <a:off x="329184" y="3557016"/>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sam auth login · sam config plan/apply – declarative provisioning + RBAC</a:t>
            </a:r>
          </a:p>
        </p:txBody>
      </p:sp>
      <p:sp>
        <p:nvSpPr>
          <p:cNvPr id="23" name="Rounded Rectangle 22"/>
          <p:cNvSpPr/>
          <p:nvPr/>
        </p:nvSpPr>
        <p:spPr>
          <a:xfrm>
            <a:off x="292608" y="4114800"/>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chrome.png"/>
          <p:cNvPicPr>
            <a:picLocks noChangeAspect="1"/>
          </p:cNvPicPr>
          <p:nvPr/>
        </p:nvPicPr>
        <p:blipFill>
          <a:blip r:embed="rId6"/>
          <a:stretch>
            <a:fillRect/>
          </a:stretch>
        </p:blipFill>
        <p:spPr>
          <a:xfrm>
            <a:off x="365760" y="4183380"/>
            <a:ext cx="146304" cy="146304"/>
          </a:xfrm>
          <a:prstGeom prst="rect">
            <a:avLst/>
          </a:prstGeom>
        </p:spPr>
      </p:pic>
      <p:sp>
        <p:nvSpPr>
          <p:cNvPr id="25" name="TextBox 24"/>
          <p:cNvSpPr txBox="1"/>
          <p:nvPr/>
        </p:nvSpPr>
        <p:spPr>
          <a:xfrm>
            <a:off x="557784" y="4160520"/>
            <a:ext cx="1380744"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“SAM K8s” Mirror App</a:t>
            </a:r>
          </a:p>
        </p:txBody>
      </p:sp>
      <p:sp>
        <p:nvSpPr>
          <p:cNvPr id="26" name="TextBox 25"/>
          <p:cNvSpPr txBox="1"/>
          <p:nvPr/>
        </p:nvSpPr>
        <p:spPr>
          <a:xfrm>
            <a:off x="329184" y="4361688"/>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590" b="0" i="0">
                <a:solidFill>
                  <a:srgbClr val="0A3B5E"/>
                </a:solidFill>
              </a:rPr>
              <a:t>Chrome app-mode window → https://sam.solace.lab · pure live view, zero local runtime</a:t>
            </a:r>
          </a:p>
        </p:txBody>
      </p:sp>
      <p:cxnSp>
        <p:nvCxnSpPr>
          <p:cNvPr id="27" name="Connector 26"/>
          <p:cNvCxnSpPr/>
          <p:nvPr/>
        </p:nvCxnSpPr>
        <p:spPr>
          <a:xfrm>
            <a:off x="2029968" y="2002536"/>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975104" y="1696212"/>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MCP (Streamable HTTP + OAuth)</a:t>
            </a:r>
          </a:p>
        </p:txBody>
      </p:sp>
      <p:cxnSp>
        <p:nvCxnSpPr>
          <p:cNvPr id="29" name="Connector 28"/>
          <p:cNvCxnSpPr/>
          <p:nvPr/>
        </p:nvCxnSpPr>
        <p:spPr>
          <a:xfrm>
            <a:off x="2029968" y="2843784"/>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975104" y="2537460"/>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MCP connector (same entrypoint)</a:t>
            </a:r>
          </a:p>
        </p:txBody>
      </p:sp>
      <p:cxnSp>
        <p:nvCxnSpPr>
          <p:cNvPr id="31" name="Connector 30"/>
          <p:cNvCxnSpPr/>
          <p:nvPr/>
        </p:nvCxnSpPr>
        <p:spPr>
          <a:xfrm>
            <a:off x="2029968" y="3685032"/>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975104" y="3378708"/>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sam config apply (declarative)</a:t>
            </a:r>
          </a:p>
        </p:txBody>
      </p:sp>
      <p:cxnSp>
        <p:nvCxnSpPr>
          <p:cNvPr id="33" name="Connector 32"/>
          <p:cNvCxnSpPr/>
          <p:nvPr/>
        </p:nvCxnSpPr>
        <p:spPr>
          <a:xfrm>
            <a:off x="2029968" y="4489704"/>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975104" y="4183380"/>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HTTPS (browser session)</a:t>
            </a:r>
          </a:p>
        </p:txBody>
      </p:sp>
      <p:pic>
        <p:nvPicPr>
          <p:cNvPr id="35" name="Picture 34" descr="kubernetes.png"/>
          <p:cNvPicPr>
            <a:picLocks noChangeAspect="1"/>
          </p:cNvPicPr>
          <p:nvPr/>
        </p:nvPicPr>
        <p:blipFill>
          <a:blip r:embed="rId7"/>
          <a:stretch>
            <a:fillRect/>
          </a:stretch>
        </p:blipFill>
        <p:spPr>
          <a:xfrm>
            <a:off x="2926080" y="1271016"/>
            <a:ext cx="282892" cy="274320"/>
          </a:xfrm>
          <a:prstGeom prst="rect">
            <a:avLst/>
          </a:prstGeom>
        </p:spPr>
      </p:pic>
      <p:sp>
        <p:nvSpPr>
          <p:cNvPr id="36" name="TextBox 35"/>
          <p:cNvSpPr txBox="1"/>
          <p:nvPr/>
        </p:nvSpPr>
        <p:spPr>
          <a:xfrm>
            <a:off x="3255264" y="1239012"/>
            <a:ext cx="3017520" cy="438912"/>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Kubernetes (k3s)</a:t>
            </a:r>
          </a:p>
          <a:p>
            <a:pPr algn="l">
              <a:lnSpc>
                <a:spcPct val="100000"/>
              </a:lnSpc>
              <a:spcBef>
                <a:spcPts val="0"/>
              </a:spcBef>
              <a:spcAft>
                <a:spcPts val="0"/>
              </a:spcAft>
            </a:pPr>
            <a:r>
              <a:rPr sz="600" b="0" i="0">
                <a:solidFill>
                  <a:srgbClr val="0A3B5E"/>
                </a:solidFill>
              </a:rPr>
              <a:t>namespace sam-solace-lab · Helm release agent-mesh</a:t>
            </a:r>
          </a:p>
          <a:p>
            <a:pPr algn="l">
              <a:lnSpc>
                <a:spcPct val="100000"/>
              </a:lnSpc>
              <a:spcBef>
                <a:spcPts val="0"/>
              </a:spcBef>
              <a:spcAft>
                <a:spcPts val="0"/>
              </a:spcAft>
            </a:pPr>
            <a:r>
              <a:rPr sz="600" b="0" i="0">
                <a:solidFill>
                  <a:srgbClr val="0A3B5E"/>
                </a:solidFill>
              </a:rPr>
              <a:t>(chart 2.0.23, app 2.225.14)</a:t>
            </a:r>
          </a:p>
        </p:txBody>
      </p:sp>
      <p:pic>
        <p:nvPicPr>
          <p:cNvPr id="37" name="Picture 36" descr="helm.png"/>
          <p:cNvPicPr>
            <a:picLocks noChangeAspect="1"/>
          </p:cNvPicPr>
          <p:nvPr/>
        </p:nvPicPr>
        <p:blipFill>
          <a:blip r:embed="rId8"/>
          <a:stretch>
            <a:fillRect/>
          </a:stretch>
        </p:blipFill>
        <p:spPr>
          <a:xfrm>
            <a:off x="6638544" y="1261872"/>
            <a:ext cx="201168" cy="201168"/>
          </a:xfrm>
          <a:prstGeom prst="rect">
            <a:avLst/>
          </a:prstGeom>
        </p:spPr>
      </p:pic>
      <p:sp>
        <p:nvSpPr>
          <p:cNvPr id="38" name="Rounded Rectangle 37"/>
          <p:cNvSpPr/>
          <p:nvPr/>
        </p:nvSpPr>
        <p:spPr>
          <a:xfrm>
            <a:off x="2907792" y="1700784"/>
            <a:ext cx="402336" cy="3054096"/>
          </a:xfrm>
          <a:prstGeom prst="roundRect">
            <a:avLst>
              <a:gd name="adj" fmla="val 12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nginx.png"/>
          <p:cNvPicPr>
            <a:picLocks noChangeAspect="1"/>
          </p:cNvPicPr>
          <p:nvPr/>
        </p:nvPicPr>
        <p:blipFill>
          <a:blip r:embed="rId9"/>
          <a:stretch>
            <a:fillRect/>
          </a:stretch>
        </p:blipFill>
        <p:spPr>
          <a:xfrm>
            <a:off x="2930652" y="1764792"/>
            <a:ext cx="369948" cy="77724"/>
          </a:xfrm>
          <a:prstGeom prst="rect">
            <a:avLst/>
          </a:prstGeom>
        </p:spPr>
      </p:pic>
      <p:sp>
        <p:nvSpPr>
          <p:cNvPr id="40" name="TextBox 39"/>
          <p:cNvSpPr txBox="1"/>
          <p:nvPr/>
        </p:nvSpPr>
        <p:spPr>
          <a:xfrm rot="16200000">
            <a:off x="1920239" y="3227832"/>
            <a:ext cx="2377440" cy="274320"/>
          </a:xfrm>
          <a:prstGeom prst="rect">
            <a:avLst/>
          </a:prstGeom>
          <a:noFill/>
        </p:spPr>
        <p:txBody>
          <a:bodyPr wrap="square" lIns="27432" tIns="9144" rIns="27432" bIns="9144" anchor="ctr">
            <a:noAutofit/>
          </a:bodyPr>
          <a:lstStyle/>
          <a:p>
            <a:pPr algn="ctr">
              <a:lnSpc>
                <a:spcPct val="100000"/>
              </a:lnSpc>
              <a:spcBef>
                <a:spcPts val="0"/>
              </a:spcBef>
              <a:spcAft>
                <a:spcPts val="0"/>
              </a:spcAft>
            </a:pPr>
            <a:r>
              <a:rPr sz="630" b="0" i="0">
                <a:solidFill>
                  <a:srgbClr val="0A3B5E"/>
                </a:solidFill>
              </a:rPr>
              <a:t>NGINX Ingress · sam.solace.lab (TLS)</a:t>
            </a:r>
          </a:p>
        </p:txBody>
      </p:sp>
      <p:sp>
        <p:nvSpPr>
          <p:cNvPr id="41" name="Rounded Rectangle 40"/>
          <p:cNvSpPr/>
          <p:nvPr/>
        </p:nvSpPr>
        <p:spPr>
          <a:xfrm>
            <a:off x="3456432" y="1700784"/>
            <a:ext cx="1828800" cy="91440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474720" y="1741932"/>
            <a:ext cx="1792224" cy="292608"/>
          </a:xfrm>
          <a:prstGeom prst="rect">
            <a:avLst/>
          </a:prstGeom>
          <a:noFill/>
        </p:spPr>
        <p:txBody>
          <a:bodyPr wrap="square" lIns="18288" tIns="0" rIns="18288" bIns="0" anchor="t">
            <a:noAutofit/>
          </a:bodyPr>
          <a:lstStyle/>
          <a:p>
            <a:pPr algn="ctr">
              <a:lnSpc>
                <a:spcPct val="100000"/>
              </a:lnSpc>
              <a:spcBef>
                <a:spcPts val="0"/>
              </a:spcBef>
              <a:spcAft>
                <a:spcPts val="0"/>
              </a:spcAft>
            </a:pPr>
            <a:r>
              <a:rPr sz="740" b="1" i="0">
                <a:solidFill>
                  <a:srgbClr val="0A3B5E"/>
                </a:solidFill>
              </a:rPr>
              <a:t>gwe – Entrypoint Executor</a:t>
            </a:r>
          </a:p>
        </p:txBody>
      </p:sp>
      <p:sp>
        <p:nvSpPr>
          <p:cNvPr id="43" name="TextBox 42"/>
          <p:cNvSpPr txBox="1"/>
          <p:nvPr/>
        </p:nvSpPr>
        <p:spPr>
          <a:xfrm>
            <a:off x="3511296" y="2048256"/>
            <a:ext cx="1719072" cy="548640"/>
          </a:xfrm>
          <a:prstGeom prst="rect">
            <a:avLst/>
          </a:prstGeom>
          <a:noFill/>
        </p:spPr>
        <p:txBody>
          <a:bodyPr wrap="square" lIns="18288" tIns="0" rIns="18288" bIns="0" anchor="t">
            <a:noAutofit/>
          </a:bodyPr>
          <a:lstStyle/>
          <a:p>
            <a:pPr algn="ctr">
              <a:lnSpc>
                <a:spcPct val="100000"/>
              </a:lnSpc>
              <a:spcBef>
                <a:spcPts val="0"/>
              </a:spcBef>
              <a:spcAft>
                <a:spcPts val="0"/>
              </a:spcAft>
            </a:pPr>
            <a:r>
              <a:rPr sz="610" b="0" i="0">
                <a:solidFill>
                  <a:srgbClr val="0A3B5E"/>
                </a:solidFill>
              </a:rPr>
              <a:t>WebUI · Platform API · MCP entrypoint /gw/dev (single ingress backend)</a:t>
            </a:r>
          </a:p>
        </p:txBody>
      </p:sp>
      <p:sp>
        <p:nvSpPr>
          <p:cNvPr id="44" name="Rounded Rectangle 43"/>
          <p:cNvSpPr/>
          <p:nvPr/>
        </p:nvSpPr>
        <p:spPr>
          <a:xfrm>
            <a:off x="3456432" y="2743200"/>
            <a:ext cx="1828800" cy="896112"/>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474720" y="2784348"/>
            <a:ext cx="1792224" cy="292608"/>
          </a:xfrm>
          <a:prstGeom prst="rect">
            <a:avLst/>
          </a:prstGeom>
          <a:noFill/>
        </p:spPr>
        <p:txBody>
          <a:bodyPr wrap="square" lIns="18288" tIns="0" rIns="18288" bIns="0" anchor="t">
            <a:noAutofit/>
          </a:bodyPr>
          <a:lstStyle/>
          <a:p>
            <a:pPr algn="ctr">
              <a:lnSpc>
                <a:spcPct val="100000"/>
              </a:lnSpc>
              <a:spcBef>
                <a:spcPts val="0"/>
              </a:spcBef>
              <a:spcAft>
                <a:spcPts val="0"/>
              </a:spcAft>
            </a:pPr>
            <a:r>
              <a:rPr sz="740" b="1" i="0">
                <a:solidFill>
                  <a:srgbClr val="0A3B5E"/>
                </a:solidFill>
              </a:rPr>
              <a:t>awe – Agent-Workflow Executor</a:t>
            </a:r>
          </a:p>
        </p:txBody>
      </p:sp>
      <p:sp>
        <p:nvSpPr>
          <p:cNvPr id="46" name="TextBox 45"/>
          <p:cNvSpPr txBox="1"/>
          <p:nvPr/>
        </p:nvSpPr>
        <p:spPr>
          <a:xfrm>
            <a:off x="3511296" y="3090672"/>
            <a:ext cx="1719072" cy="530352"/>
          </a:xfrm>
          <a:prstGeom prst="rect">
            <a:avLst/>
          </a:prstGeom>
          <a:noFill/>
        </p:spPr>
        <p:txBody>
          <a:bodyPr wrap="square" lIns="18288" tIns="0" rIns="18288" bIns="0" anchor="t">
            <a:noAutofit/>
          </a:bodyPr>
          <a:lstStyle/>
          <a:p>
            <a:pPr algn="ctr">
              <a:lnSpc>
                <a:spcPct val="100000"/>
              </a:lnSpc>
              <a:spcBef>
                <a:spcPts val="0"/>
              </a:spcBef>
              <a:spcAft>
                <a:spcPts val="0"/>
              </a:spcAft>
            </a:pPr>
            <a:r>
              <a:rPr sz="610" b="0" i="0">
                <a:solidFill>
                  <a:srgbClr val="0A3B5E"/>
                </a:solidFill>
              </a:rPr>
              <a:t>runs agents + workflows · LLM calls via LiteLLM proxy</a:t>
            </a:r>
          </a:p>
        </p:txBody>
      </p:sp>
      <p:sp>
        <p:nvSpPr>
          <p:cNvPr id="47" name="Rounded Rectangle 46"/>
          <p:cNvSpPr/>
          <p:nvPr/>
        </p:nvSpPr>
        <p:spPr>
          <a:xfrm>
            <a:off x="3456432" y="3767328"/>
            <a:ext cx="1828800" cy="877824"/>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474720" y="3808476"/>
            <a:ext cx="1792224" cy="292608"/>
          </a:xfrm>
          <a:prstGeom prst="rect">
            <a:avLst/>
          </a:prstGeom>
          <a:noFill/>
        </p:spPr>
        <p:txBody>
          <a:bodyPr wrap="square" lIns="18288" tIns="0" rIns="18288" bIns="0" anchor="t">
            <a:noAutofit/>
          </a:bodyPr>
          <a:lstStyle/>
          <a:p>
            <a:pPr algn="ctr">
              <a:lnSpc>
                <a:spcPct val="100000"/>
              </a:lnSpc>
              <a:spcBef>
                <a:spcPts val="0"/>
              </a:spcBef>
              <a:spcAft>
                <a:spcPts val="0"/>
              </a:spcAft>
            </a:pPr>
            <a:r>
              <a:rPr sz="740" b="1" i="0">
                <a:solidFill>
                  <a:srgbClr val="0A3B5E"/>
                </a:solidFill>
              </a:rPr>
              <a:t>str – Secure Tool Runtime</a:t>
            </a:r>
          </a:p>
        </p:txBody>
      </p:sp>
      <p:sp>
        <p:nvSpPr>
          <p:cNvPr id="49" name="TextBox 48"/>
          <p:cNvSpPr txBox="1"/>
          <p:nvPr/>
        </p:nvSpPr>
        <p:spPr>
          <a:xfrm>
            <a:off x="3511296" y="4114800"/>
            <a:ext cx="1719072" cy="512063"/>
          </a:xfrm>
          <a:prstGeom prst="rect">
            <a:avLst/>
          </a:prstGeom>
          <a:noFill/>
        </p:spPr>
        <p:txBody>
          <a:bodyPr wrap="square" lIns="18288" tIns="0" rIns="18288" bIns="0" anchor="t">
            <a:noAutofit/>
          </a:bodyPr>
          <a:lstStyle/>
          <a:p>
            <a:pPr algn="ctr">
              <a:lnSpc>
                <a:spcPct val="100000"/>
              </a:lnSpc>
              <a:spcBef>
                <a:spcPts val="0"/>
              </a:spcBef>
              <a:spcAft>
                <a:spcPts val="0"/>
              </a:spcAft>
            </a:pPr>
            <a:r>
              <a:rPr sz="610" b="0" i="0">
                <a:solidFill>
                  <a:srgbClr val="0A3B5E"/>
                </a:solidFill>
              </a:rPr>
              <a:t>sandboxed tool execution (SQL tool, skill bundles)</a:t>
            </a:r>
          </a:p>
        </p:txBody>
      </p:sp>
      <p:cxnSp>
        <p:nvCxnSpPr>
          <p:cNvPr id="50" name="Connector 49"/>
          <p:cNvCxnSpPr/>
          <p:nvPr/>
        </p:nvCxnSpPr>
        <p:spPr>
          <a:xfrm>
            <a:off x="3310128" y="2487168"/>
            <a:ext cx="146304"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054096" y="2340864"/>
            <a:ext cx="950976" cy="13716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single backend</a:t>
            </a:r>
          </a:p>
        </p:txBody>
      </p:sp>
      <p:sp>
        <p:nvSpPr>
          <p:cNvPr id="52" name="Rounded Rectangle 51"/>
          <p:cNvSpPr/>
          <p:nvPr/>
        </p:nvSpPr>
        <p:spPr>
          <a:xfrm>
            <a:off x="3456432" y="4700016"/>
            <a:ext cx="731520" cy="173736"/>
          </a:xfrm>
          <a:prstGeom prst="roundRect">
            <a:avLst>
              <a:gd name="adj" fmla="val 50000"/>
            </a:avLst>
          </a:prstGeom>
          <a:solidFill>
            <a:srgbClr val="FFFFFF"/>
          </a:solidFill>
          <a:ln w="9525">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3" name="Picture 52" descr="go.png"/>
          <p:cNvPicPr>
            <a:picLocks noChangeAspect="1"/>
          </p:cNvPicPr>
          <p:nvPr/>
        </p:nvPicPr>
        <p:blipFill>
          <a:blip r:embed="rId5"/>
          <a:stretch>
            <a:fillRect/>
          </a:stretch>
        </p:blipFill>
        <p:spPr>
          <a:xfrm>
            <a:off x="3529584" y="4722876"/>
            <a:ext cx="327657" cy="123444"/>
          </a:xfrm>
          <a:prstGeom prst="rect">
            <a:avLst/>
          </a:prstGeom>
        </p:spPr>
      </p:pic>
      <p:sp>
        <p:nvSpPr>
          <p:cNvPr id="54" name="TextBox 53"/>
          <p:cNvSpPr txBox="1"/>
          <p:nvPr/>
        </p:nvSpPr>
        <p:spPr>
          <a:xfrm>
            <a:off x="3877056" y="4695444"/>
            <a:ext cx="329184" cy="173736"/>
          </a:xfrm>
          <a:prstGeom prst="rect">
            <a:avLst/>
          </a:prstGeom>
          <a:noFill/>
        </p:spPr>
        <p:txBody>
          <a:bodyPr wrap="square" lIns="18288" tIns="0" rIns="18288" bIns="0" anchor="ctr">
            <a:noAutofit/>
          </a:bodyPr>
          <a:lstStyle/>
          <a:p>
            <a:pPr algn="l">
              <a:lnSpc>
                <a:spcPct val="100000"/>
              </a:lnSpc>
              <a:spcBef>
                <a:spcPts val="0"/>
              </a:spcBef>
              <a:spcAft>
                <a:spcPts val="0"/>
              </a:spcAft>
            </a:pPr>
            <a:r>
              <a:rPr sz="630" b="1" i="0">
                <a:solidFill>
                  <a:srgbClr val="0A3B5E"/>
                </a:solidFill>
              </a:rPr>
              <a:t>stack</a:t>
            </a:r>
          </a:p>
        </p:txBody>
      </p:sp>
      <p:sp>
        <p:nvSpPr>
          <p:cNvPr id="55" name="mcp-badge"/>
          <p:cNvSpPr/>
          <p:nvPr/>
        </p:nvSpPr>
        <p:spPr>
          <a:xfrm>
            <a:off x="5431536" y="1700784"/>
            <a:ext cx="1380744" cy="914400"/>
          </a:xfrm>
          <a:prstGeom prst="roundRect">
            <a:avLst>
              <a:gd name="adj" fmla="val 1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noAutofit/>
          </a:bodyPr>
          <a:lstStyle/>
          <a:p>
            <a:pPr algn="ctr">
              <a:lnSpc>
                <a:spcPct val="100000"/>
              </a:lnSpc>
              <a:spcBef>
                <a:spcPts val="0"/>
              </a:spcBef>
              <a:spcAft>
                <a:spcPts val="0"/>
              </a:spcAft>
            </a:pPr>
            <a:r>
              <a:rPr sz="730" b="1" i="0">
                <a:solidFill>
                  <a:srgbClr val="0A3B5E"/>
                </a:solidFill>
              </a:rPr>
              <a:t>MCP Entrypoint /gw/dev</a:t>
            </a:r>
          </a:p>
          <a:p>
            <a:pPr algn="ctr">
              <a:lnSpc>
                <a:spcPct val="100000"/>
              </a:lnSpc>
              <a:spcBef>
                <a:spcPts val="0"/>
              </a:spcBef>
              <a:spcAft>
                <a:spcPts val="0"/>
              </a:spcAft>
            </a:pPr>
            <a:r>
              <a:rPr sz="590" b="0" i="0">
                <a:solidFill>
                  <a:srgbClr val="0A3B5E"/>
                </a:solidFill>
              </a:rPr>
              <a:t>Streamable HTTP · OAuth 2.1 (PKCE + dynamic client registration) · tools = agent skills, RBAC-filtered per user</a:t>
            </a:r>
          </a:p>
        </p:txBody>
      </p:sp>
      <p:cxnSp>
        <p:nvCxnSpPr>
          <p:cNvPr id="56" name="Connector 55"/>
          <p:cNvCxnSpPr/>
          <p:nvPr/>
        </p:nvCxnSpPr>
        <p:spPr>
          <a:xfrm>
            <a:off x="5285232" y="2157984"/>
            <a:ext cx="146304" cy="0"/>
          </a:xfrm>
          <a:prstGeom prst="line">
            <a:avLst/>
          </a:prstGeom>
          <a:ln w="31750">
            <a:solidFill>
              <a:srgbClr val="00C895"/>
            </a:solidFill>
          </a:ln>
          <a:effectLst/>
        </p:spPr>
        <p:style>
          <a:lnRef idx="2">
            <a:schemeClr val="accent1"/>
          </a:lnRef>
          <a:fillRef idx="0">
            <a:schemeClr val="accent1"/>
          </a:fillRef>
          <a:effectRef idx="1">
            <a:schemeClr val="accent1"/>
          </a:effectRef>
          <a:fontRef idx="minor">
            <a:schemeClr val="tx1"/>
          </a:fontRef>
        </p:style>
      </p:cxnSp>
      <p:sp>
        <p:nvSpPr>
          <p:cNvPr id="57" name="pg"/>
          <p:cNvSpPr/>
          <p:nvPr/>
        </p:nvSpPr>
        <p:spPr>
          <a:xfrm>
            <a:off x="5431536" y="3200400"/>
            <a:ext cx="1380744" cy="731520"/>
          </a:xfrm>
          <a:prstGeom prst="can">
            <a:avLst>
              <a:gd name="adj" fmla="val 18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8" name="Picture 57" descr="postgresql.png"/>
          <p:cNvPicPr>
            <a:picLocks noChangeAspect="1"/>
          </p:cNvPicPr>
          <p:nvPr/>
        </p:nvPicPr>
        <p:blipFill>
          <a:blip r:embed="rId10"/>
          <a:stretch>
            <a:fillRect/>
          </a:stretch>
        </p:blipFill>
        <p:spPr>
          <a:xfrm>
            <a:off x="5486400" y="3493008"/>
            <a:ext cx="230779" cy="237744"/>
          </a:xfrm>
          <a:prstGeom prst="rect">
            <a:avLst/>
          </a:prstGeom>
        </p:spPr>
      </p:pic>
      <p:sp>
        <p:nvSpPr>
          <p:cNvPr id="59" name="TextBox 58"/>
          <p:cNvSpPr txBox="1"/>
          <p:nvPr/>
        </p:nvSpPr>
        <p:spPr>
          <a:xfrm>
            <a:off x="5742432" y="3319272"/>
            <a:ext cx="1033271"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680" b="1" i="0">
                <a:solidFill>
                  <a:srgbClr val="0A3B5E"/>
                </a:solidFill>
              </a:rPr>
              <a:t>PostgreSQL – Platform DB</a:t>
            </a:r>
          </a:p>
        </p:txBody>
      </p:sp>
      <p:sp>
        <p:nvSpPr>
          <p:cNvPr id="60" name="TextBox 59"/>
          <p:cNvSpPr txBox="1"/>
          <p:nvPr/>
        </p:nvSpPr>
        <p:spPr>
          <a:xfrm>
            <a:off x="5742432" y="3566160"/>
            <a:ext cx="1033271"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agents, workflows, connectors, RBAC (StatefulSet, bundled)</a:t>
            </a:r>
          </a:p>
        </p:txBody>
      </p:sp>
      <p:sp>
        <p:nvSpPr>
          <p:cNvPr id="61" name="sw"/>
          <p:cNvSpPr/>
          <p:nvPr/>
        </p:nvSpPr>
        <p:spPr>
          <a:xfrm>
            <a:off x="5431536" y="4059936"/>
            <a:ext cx="1380744" cy="713232"/>
          </a:xfrm>
          <a:prstGeom prst="can">
            <a:avLst>
              <a:gd name="adj" fmla="val 18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seaweedfs.png"/>
          <p:cNvPicPr>
            <a:picLocks noChangeAspect="1"/>
          </p:cNvPicPr>
          <p:nvPr/>
        </p:nvPicPr>
        <p:blipFill>
          <a:blip r:embed="rId11"/>
          <a:stretch>
            <a:fillRect/>
          </a:stretch>
        </p:blipFill>
        <p:spPr>
          <a:xfrm>
            <a:off x="5486400" y="4352544"/>
            <a:ext cx="219456" cy="219456"/>
          </a:xfrm>
          <a:prstGeom prst="rect">
            <a:avLst/>
          </a:prstGeom>
        </p:spPr>
      </p:pic>
      <p:sp>
        <p:nvSpPr>
          <p:cNvPr id="63" name="TextBox 62"/>
          <p:cNvSpPr txBox="1"/>
          <p:nvPr/>
        </p:nvSpPr>
        <p:spPr>
          <a:xfrm>
            <a:off x="5742432" y="4178808"/>
            <a:ext cx="1033271"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680" b="1" i="0">
                <a:solidFill>
                  <a:srgbClr val="0A3B5E"/>
                </a:solidFill>
              </a:rPr>
              <a:t>SeaweedFS – S3 artifact store</a:t>
            </a:r>
          </a:p>
        </p:txBody>
      </p:sp>
      <p:sp>
        <p:nvSpPr>
          <p:cNvPr id="64" name="TextBox 63"/>
          <p:cNvSpPr txBox="1"/>
          <p:nvPr/>
        </p:nvSpPr>
        <p:spPr>
          <a:xfrm>
            <a:off x="5742432" y="4425696"/>
            <a:ext cx="1033271"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charts, CSVs, reports · v3.97</a:t>
            </a:r>
          </a:p>
        </p:txBody>
      </p:sp>
      <p:cxnSp>
        <p:nvCxnSpPr>
          <p:cNvPr id="65" name="Connector 64"/>
          <p:cNvCxnSpPr/>
          <p:nvPr/>
        </p:nvCxnSpPr>
        <p:spPr>
          <a:xfrm>
            <a:off x="5248656" y="2615184"/>
            <a:ext cx="283464" cy="585216"/>
          </a:xfrm>
          <a:prstGeom prst="line">
            <a:avLst/>
          </a:prstGeom>
          <a:ln w="1143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285232" y="3310128"/>
            <a:ext cx="146304" cy="109728"/>
          </a:xfrm>
          <a:prstGeom prst="line">
            <a:avLst/>
          </a:prstGeom>
          <a:ln w="1143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5212080" y="3639312"/>
            <a:ext cx="384048" cy="475488"/>
          </a:xfrm>
          <a:prstGeom prst="line">
            <a:avLst/>
          </a:prstGeom>
          <a:ln w="1143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8" name="llm-cloud"/>
          <p:cNvSpPr/>
          <p:nvPr/>
        </p:nvSpPr>
        <p:spPr>
          <a:xfrm>
            <a:off x="6967728" y="1719072"/>
            <a:ext cx="1335024" cy="1060704"/>
          </a:xfrm>
          <a:prstGeom prst="cloud">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Picture 68" descr="claude.png"/>
          <p:cNvPicPr>
            <a:picLocks noChangeAspect="1"/>
          </p:cNvPicPr>
          <p:nvPr/>
        </p:nvPicPr>
        <p:blipFill>
          <a:blip r:embed="rId4"/>
          <a:stretch>
            <a:fillRect/>
          </a:stretch>
        </p:blipFill>
        <p:spPr>
          <a:xfrm>
            <a:off x="7543800" y="1901952"/>
            <a:ext cx="182880" cy="182880"/>
          </a:xfrm>
          <a:prstGeom prst="rect">
            <a:avLst/>
          </a:prstGeom>
        </p:spPr>
      </p:pic>
      <p:sp>
        <p:nvSpPr>
          <p:cNvPr id="70" name="TextBox 69"/>
          <p:cNvSpPr txBox="1"/>
          <p:nvPr/>
        </p:nvSpPr>
        <p:spPr>
          <a:xfrm>
            <a:off x="7077456" y="2121408"/>
            <a:ext cx="1115568" cy="512064"/>
          </a:xfrm>
          <a:prstGeom prst="rect">
            <a:avLst/>
          </a:prstGeom>
          <a:noFill/>
        </p:spPr>
        <p:txBody>
          <a:bodyPr wrap="square" lIns="18288" tIns="0" rIns="18288" bIns="0" anchor="t">
            <a:noAutofit/>
          </a:bodyPr>
          <a:lstStyle/>
          <a:p>
            <a:pPr algn="ctr">
              <a:lnSpc>
                <a:spcPct val="100000"/>
              </a:lnSpc>
              <a:spcBef>
                <a:spcPts val="0"/>
              </a:spcBef>
              <a:spcAft>
                <a:spcPts val="0"/>
              </a:spcAft>
            </a:pPr>
            <a:r>
              <a:rPr sz="680" b="1" i="0">
                <a:solidFill>
                  <a:srgbClr val="0A3B5E"/>
                </a:solidFill>
              </a:rPr>
              <a:t>LLM Service</a:t>
            </a:r>
          </a:p>
          <a:p>
            <a:pPr algn="ctr">
              <a:lnSpc>
                <a:spcPct val="100000"/>
              </a:lnSpc>
              <a:spcBef>
                <a:spcPts val="0"/>
              </a:spcBef>
              <a:spcAft>
                <a:spcPts val="0"/>
              </a:spcAft>
            </a:pPr>
            <a:r>
              <a:rPr sz="570" b="0" i="0">
                <a:solidFill>
                  <a:srgbClr val="0A3B5E"/>
                </a:solidFill>
              </a:rPr>
              <a:t>LiteLLM proxy → Claude (Anthropic)</a:t>
            </a:r>
          </a:p>
        </p:txBody>
      </p:sp>
      <p:cxnSp>
        <p:nvCxnSpPr>
          <p:cNvPr id="71" name="Connector 70"/>
          <p:cNvCxnSpPr/>
          <p:nvPr/>
        </p:nvCxnSpPr>
        <p:spPr>
          <a:xfrm flipV="1">
            <a:off x="5285232" y="2761488"/>
            <a:ext cx="1901952" cy="256032"/>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5486400" y="2788920"/>
            <a:ext cx="1316736" cy="246888"/>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LLM calls (Claude via LiteLLM proxy)</a:t>
            </a:r>
          </a:p>
        </p:txBody>
      </p:sp>
      <p:sp>
        <p:nvSpPr>
          <p:cNvPr id="73" name="TextBox 72"/>
          <p:cNvSpPr txBox="1"/>
          <p:nvPr/>
        </p:nvSpPr>
        <p:spPr>
          <a:xfrm>
            <a:off x="8485632" y="1243584"/>
            <a:ext cx="2743200"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Lab Infrastructure Services</a:t>
            </a:r>
          </a:p>
          <a:p>
            <a:pPr algn="l">
              <a:lnSpc>
                <a:spcPct val="100000"/>
              </a:lnSpc>
              <a:spcBef>
                <a:spcPts val="0"/>
              </a:spcBef>
              <a:spcAft>
                <a:spcPts val="0"/>
              </a:spcAft>
            </a:pPr>
            <a:r>
              <a:rPr sz="580" b="0" i="0">
                <a:solidFill>
                  <a:srgbClr val="0A3B5E"/>
                </a:solidFill>
              </a:rPr>
              <a:t>companion repo solace-lab-infrastructure</a:t>
            </a:r>
          </a:p>
        </p:txBody>
      </p:sp>
      <p:sp>
        <p:nvSpPr>
          <p:cNvPr id="74" name="Rounded Rectangle 73"/>
          <p:cNvSpPr/>
          <p:nvPr/>
        </p:nvSpPr>
        <p:spPr>
          <a:xfrm>
            <a:off x="8503920" y="1609344"/>
            <a:ext cx="3346704" cy="640080"/>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Picture 74" descr="keycloak.png"/>
          <p:cNvPicPr>
            <a:picLocks noChangeAspect="1"/>
          </p:cNvPicPr>
          <p:nvPr/>
        </p:nvPicPr>
        <p:blipFill>
          <a:blip r:embed="rId12"/>
          <a:stretch>
            <a:fillRect/>
          </a:stretch>
        </p:blipFill>
        <p:spPr>
          <a:xfrm>
            <a:off x="8595360" y="1792224"/>
            <a:ext cx="304324" cy="274320"/>
          </a:xfrm>
          <a:prstGeom prst="rect">
            <a:avLst/>
          </a:prstGeom>
        </p:spPr>
      </p:pic>
      <p:sp>
        <p:nvSpPr>
          <p:cNvPr id="76" name="TextBox 75"/>
          <p:cNvSpPr txBox="1"/>
          <p:nvPr/>
        </p:nvSpPr>
        <p:spPr>
          <a:xfrm>
            <a:off x="8963691" y="1655064"/>
            <a:ext cx="2850356"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Keycloak – OIDC IdP auth.solace.lab</a:t>
            </a:r>
          </a:p>
        </p:txBody>
      </p:sp>
      <p:sp>
        <p:nvSpPr>
          <p:cNvPr id="77" name="TextBox 76"/>
          <p:cNvSpPr txBox="1"/>
          <p:nvPr/>
        </p:nvSpPr>
        <p:spPr>
          <a:xfrm>
            <a:off x="8963691" y="1828800"/>
            <a:ext cx="2850356" cy="402335"/>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realm solace-lab · WebUI login, CLI login, MCP OAuth</a:t>
            </a:r>
          </a:p>
        </p:txBody>
      </p:sp>
      <p:sp>
        <p:nvSpPr>
          <p:cNvPr id="78" name="Rounded Rectangle 77"/>
          <p:cNvSpPr/>
          <p:nvPr/>
        </p:nvSpPr>
        <p:spPr>
          <a:xfrm>
            <a:off x="8503920" y="2340864"/>
            <a:ext cx="3346704" cy="56692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558784" y="2386584"/>
            <a:ext cx="3255264"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cert-manager + lab CA</a:t>
            </a:r>
          </a:p>
        </p:txBody>
      </p:sp>
      <p:sp>
        <p:nvSpPr>
          <p:cNvPr id="80" name="TextBox 79"/>
          <p:cNvSpPr txBox="1"/>
          <p:nvPr/>
        </p:nvSpPr>
        <p:spPr>
          <a:xfrm>
            <a:off x="8558784" y="2560320"/>
            <a:ext cx="3255264"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certificates + trust bundle injection (Kyverno)</a:t>
            </a:r>
          </a:p>
        </p:txBody>
      </p:sp>
      <p:sp>
        <p:nvSpPr>
          <p:cNvPr id="81" name="Rounded Rectangle 80"/>
          <p:cNvSpPr/>
          <p:nvPr/>
        </p:nvSpPr>
        <p:spPr>
          <a:xfrm>
            <a:off x="8503920" y="2999232"/>
            <a:ext cx="3346704" cy="530352"/>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558784" y="3044951"/>
            <a:ext cx="3255264"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Private Registry – registry.solace.lab</a:t>
            </a:r>
          </a:p>
        </p:txBody>
      </p:sp>
      <p:sp>
        <p:nvSpPr>
          <p:cNvPr id="83" name="TextBox 82"/>
          <p:cNvSpPr txBox="1"/>
          <p:nvPr/>
        </p:nvSpPr>
        <p:spPr>
          <a:xfrm>
            <a:off x="8558784" y="3218687"/>
            <a:ext cx="3255264" cy="292607"/>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offline SAM images</a:t>
            </a:r>
          </a:p>
        </p:txBody>
      </p:sp>
      <p:sp>
        <p:nvSpPr>
          <p:cNvPr id="84" name="grafana-stack"/>
          <p:cNvSpPr/>
          <p:nvPr/>
        </p:nvSpPr>
        <p:spPr>
          <a:xfrm>
            <a:off x="8503920" y="3621024"/>
            <a:ext cx="3346704" cy="1207008"/>
          </a:xfrm>
          <a:prstGeom prst="roundRect">
            <a:avLst>
              <a:gd name="adj" fmla="val 8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Picture 84" descr="grafana.png"/>
          <p:cNvPicPr>
            <a:picLocks noChangeAspect="1"/>
          </p:cNvPicPr>
          <p:nvPr/>
        </p:nvPicPr>
        <p:blipFill>
          <a:blip r:embed="rId13"/>
          <a:stretch>
            <a:fillRect/>
          </a:stretch>
        </p:blipFill>
        <p:spPr>
          <a:xfrm>
            <a:off x="8613648" y="3675887"/>
            <a:ext cx="228921" cy="237744"/>
          </a:xfrm>
          <a:prstGeom prst="rect">
            <a:avLst/>
          </a:prstGeom>
        </p:spPr>
      </p:pic>
      <p:sp>
        <p:nvSpPr>
          <p:cNvPr id="86" name="TextBox 85"/>
          <p:cNvSpPr txBox="1"/>
          <p:nvPr/>
        </p:nvSpPr>
        <p:spPr>
          <a:xfrm>
            <a:off x="8906256" y="3675887"/>
            <a:ext cx="2926080"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Grafana Stack – namespace monitoring</a:t>
            </a:r>
          </a:p>
          <a:p>
            <a:pPr algn="l">
              <a:lnSpc>
                <a:spcPct val="100000"/>
              </a:lnSpc>
              <a:spcBef>
                <a:spcPts val="0"/>
              </a:spcBef>
              <a:spcAft>
                <a:spcPts val="0"/>
              </a:spcAft>
            </a:pPr>
            <a:r>
              <a:rPr sz="580" b="0" i="0">
                <a:solidFill>
                  <a:srgbClr val="0A3B5E"/>
                </a:solidFill>
              </a:rPr>
              <a:t>Grafana as single frontend over:</a:t>
            </a:r>
          </a:p>
        </p:txBody>
      </p:sp>
      <p:pic>
        <p:nvPicPr>
          <p:cNvPr id="87" name="Picture 86" descr="prometheus.png"/>
          <p:cNvPicPr>
            <a:picLocks noChangeAspect="1"/>
          </p:cNvPicPr>
          <p:nvPr/>
        </p:nvPicPr>
        <p:blipFill>
          <a:blip r:embed="rId14"/>
          <a:stretch>
            <a:fillRect/>
          </a:stretch>
        </p:blipFill>
        <p:spPr>
          <a:xfrm>
            <a:off x="8996070" y="4059936"/>
            <a:ext cx="240994" cy="237744"/>
          </a:xfrm>
          <a:prstGeom prst="rect">
            <a:avLst/>
          </a:prstGeom>
        </p:spPr>
      </p:pic>
      <p:sp>
        <p:nvSpPr>
          <p:cNvPr id="88" name="TextBox 87"/>
          <p:cNvSpPr txBox="1"/>
          <p:nvPr/>
        </p:nvSpPr>
        <p:spPr>
          <a:xfrm>
            <a:off x="8613648" y="4315968"/>
            <a:ext cx="1005840" cy="365760"/>
          </a:xfrm>
          <a:prstGeom prst="rect">
            <a:avLst/>
          </a:prstGeom>
          <a:noFill/>
        </p:spPr>
        <p:txBody>
          <a:bodyPr wrap="square" lIns="18288" tIns="0" rIns="18288" bIns="0" anchor="t">
            <a:noAutofit/>
          </a:bodyPr>
          <a:lstStyle/>
          <a:p>
            <a:pPr algn="ctr">
              <a:lnSpc>
                <a:spcPct val="100000"/>
              </a:lnSpc>
              <a:spcBef>
                <a:spcPts val="0"/>
              </a:spcBef>
              <a:spcAft>
                <a:spcPts val="0"/>
              </a:spcAft>
            </a:pPr>
            <a:r>
              <a:rPr sz="630" b="1" i="0">
                <a:solidFill>
                  <a:srgbClr val="0A3B5E"/>
                </a:solidFill>
              </a:rPr>
              <a:t>Prometheus</a:t>
            </a:r>
          </a:p>
          <a:p>
            <a:pPr algn="ctr">
              <a:lnSpc>
                <a:spcPct val="100000"/>
              </a:lnSpc>
              <a:spcBef>
                <a:spcPts val="0"/>
              </a:spcBef>
              <a:spcAft>
                <a:spcPts val="0"/>
              </a:spcAft>
            </a:pPr>
            <a:r>
              <a:rPr sz="560" b="0" i="0">
                <a:solidFill>
                  <a:srgbClr val="0A3B5E"/>
                </a:solidFill>
              </a:rPr>
              <a:t>metrics/dashboards</a:t>
            </a:r>
          </a:p>
        </p:txBody>
      </p:sp>
      <p:pic>
        <p:nvPicPr>
          <p:cNvPr id="89" name="Picture 88" descr="loki.png"/>
          <p:cNvPicPr>
            <a:picLocks noChangeAspect="1"/>
          </p:cNvPicPr>
          <p:nvPr/>
        </p:nvPicPr>
        <p:blipFill>
          <a:blip r:embed="rId15"/>
          <a:stretch>
            <a:fillRect/>
          </a:stretch>
        </p:blipFill>
        <p:spPr>
          <a:xfrm>
            <a:off x="10094976" y="4059936"/>
            <a:ext cx="237744" cy="237744"/>
          </a:xfrm>
          <a:prstGeom prst="rect">
            <a:avLst/>
          </a:prstGeom>
        </p:spPr>
      </p:pic>
      <p:sp>
        <p:nvSpPr>
          <p:cNvPr id="90" name="TextBox 89"/>
          <p:cNvSpPr txBox="1"/>
          <p:nvPr/>
        </p:nvSpPr>
        <p:spPr>
          <a:xfrm>
            <a:off x="9710928" y="4315968"/>
            <a:ext cx="1005840" cy="365760"/>
          </a:xfrm>
          <a:prstGeom prst="rect">
            <a:avLst/>
          </a:prstGeom>
          <a:noFill/>
        </p:spPr>
        <p:txBody>
          <a:bodyPr wrap="square" lIns="18288" tIns="0" rIns="18288" bIns="0" anchor="t">
            <a:noAutofit/>
          </a:bodyPr>
          <a:lstStyle/>
          <a:p>
            <a:pPr algn="ctr">
              <a:lnSpc>
                <a:spcPct val="100000"/>
              </a:lnSpc>
              <a:spcBef>
                <a:spcPts val="0"/>
              </a:spcBef>
              <a:spcAft>
                <a:spcPts val="0"/>
              </a:spcAft>
            </a:pPr>
            <a:r>
              <a:rPr sz="630" b="1" i="0">
                <a:solidFill>
                  <a:srgbClr val="0A3B5E"/>
                </a:solidFill>
              </a:rPr>
              <a:t>Loki</a:t>
            </a:r>
          </a:p>
          <a:p>
            <a:pPr algn="ctr">
              <a:lnSpc>
                <a:spcPct val="100000"/>
              </a:lnSpc>
              <a:spcBef>
                <a:spcPts val="0"/>
              </a:spcBef>
              <a:spcAft>
                <a:spcPts val="0"/>
              </a:spcAft>
            </a:pPr>
            <a:r>
              <a:rPr sz="560" b="0" i="0">
                <a:solidFill>
                  <a:srgbClr val="0A3B5E"/>
                </a:solidFill>
              </a:rPr>
              <a:t>logs</a:t>
            </a:r>
          </a:p>
        </p:txBody>
      </p:sp>
      <p:pic>
        <p:nvPicPr>
          <p:cNvPr id="91" name="Picture 90" descr="tempo_icon.png"/>
          <p:cNvPicPr>
            <a:picLocks noChangeAspect="1"/>
          </p:cNvPicPr>
          <p:nvPr/>
        </p:nvPicPr>
        <p:blipFill>
          <a:blip r:embed="rId16"/>
          <a:stretch>
            <a:fillRect/>
          </a:stretch>
        </p:blipFill>
        <p:spPr>
          <a:xfrm>
            <a:off x="11181249" y="4059936"/>
            <a:ext cx="259757" cy="237744"/>
          </a:xfrm>
          <a:prstGeom prst="rect">
            <a:avLst/>
          </a:prstGeom>
        </p:spPr>
      </p:pic>
      <p:sp>
        <p:nvSpPr>
          <p:cNvPr id="92" name="TextBox 91"/>
          <p:cNvSpPr txBox="1"/>
          <p:nvPr/>
        </p:nvSpPr>
        <p:spPr>
          <a:xfrm>
            <a:off x="10808208" y="4315968"/>
            <a:ext cx="1005840" cy="365760"/>
          </a:xfrm>
          <a:prstGeom prst="rect">
            <a:avLst/>
          </a:prstGeom>
          <a:noFill/>
        </p:spPr>
        <p:txBody>
          <a:bodyPr wrap="square" lIns="18288" tIns="0" rIns="18288" bIns="0" anchor="t">
            <a:noAutofit/>
          </a:bodyPr>
          <a:lstStyle/>
          <a:p>
            <a:pPr algn="ctr">
              <a:lnSpc>
                <a:spcPct val="100000"/>
              </a:lnSpc>
              <a:spcBef>
                <a:spcPts val="0"/>
              </a:spcBef>
              <a:spcAft>
                <a:spcPts val="0"/>
              </a:spcAft>
            </a:pPr>
            <a:r>
              <a:rPr sz="630" b="1" i="0">
                <a:solidFill>
                  <a:srgbClr val="0A3B5E"/>
                </a:solidFill>
              </a:rPr>
              <a:t>Tempo</a:t>
            </a:r>
          </a:p>
          <a:p>
            <a:pPr algn="ctr">
              <a:lnSpc>
                <a:spcPct val="100000"/>
              </a:lnSpc>
              <a:spcBef>
                <a:spcPts val="0"/>
              </a:spcBef>
              <a:spcAft>
                <a:spcPts val="0"/>
              </a:spcAft>
            </a:pPr>
            <a:r>
              <a:rPr sz="560" b="0" i="0">
                <a:solidFill>
                  <a:srgbClr val="0A3B5E"/>
                </a:solidFill>
              </a:rPr>
              <a:t>traces, OTLP-ready</a:t>
            </a:r>
          </a:p>
        </p:txBody>
      </p:sp>
      <p:cxnSp>
        <p:nvCxnSpPr>
          <p:cNvPr id="93" name="Connector 92"/>
          <p:cNvCxnSpPr/>
          <p:nvPr/>
        </p:nvCxnSpPr>
        <p:spPr>
          <a:xfrm flipV="1">
            <a:off x="6400800" y="1170432"/>
            <a:ext cx="0" cy="530352"/>
          </a:xfrm>
          <a:prstGeom prst="line">
            <a:avLst/>
          </a:prstGeom>
          <a:ln w="13970">
            <a:solidFill>
              <a:srgbClr val="0A3B5E"/>
            </a:solidFill>
          </a:ln>
          <a:effectLst/>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400800" y="1170432"/>
            <a:ext cx="4846320" cy="0"/>
          </a:xfrm>
          <a:prstGeom prst="line">
            <a:avLst/>
          </a:prstGeom>
          <a:ln w="13970">
            <a:solidFill>
              <a:srgbClr val="0A3B5E"/>
            </a:solidFill>
          </a:ln>
          <a:effectLst/>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1247120" y="1170432"/>
            <a:ext cx="0" cy="420624"/>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Rounded Rectangle 95"/>
          <p:cNvSpPr/>
          <p:nvPr/>
        </p:nvSpPr>
        <p:spPr>
          <a:xfrm>
            <a:off x="7818120" y="1101852"/>
            <a:ext cx="457200" cy="13716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80" b="0" i="0">
                <a:solidFill>
                  <a:srgbClr val="0A3B5E"/>
                </a:solidFill>
              </a:rPr>
              <a:t>OIDC</a:t>
            </a:r>
          </a:p>
        </p:txBody>
      </p:sp>
      <p:pic>
        <p:nvPicPr>
          <p:cNvPr id="97" name="Picture 96" descr="solace_green.png"/>
          <p:cNvPicPr>
            <a:picLocks noChangeAspect="1"/>
          </p:cNvPicPr>
          <p:nvPr/>
        </p:nvPicPr>
        <p:blipFill>
          <a:blip r:embed="rId3"/>
          <a:stretch>
            <a:fillRect/>
          </a:stretch>
        </p:blipFill>
        <p:spPr>
          <a:xfrm>
            <a:off x="329184" y="5138928"/>
            <a:ext cx="612983" cy="155448"/>
          </a:xfrm>
          <a:prstGeom prst="rect">
            <a:avLst/>
          </a:prstGeom>
        </p:spPr>
      </p:pic>
      <p:sp>
        <p:nvSpPr>
          <p:cNvPr id="98" name="TextBox 97"/>
          <p:cNvSpPr txBox="1"/>
          <p:nvPr/>
        </p:nvSpPr>
        <p:spPr>
          <a:xfrm>
            <a:off x="310896" y="5321808"/>
            <a:ext cx="1417320" cy="365760"/>
          </a:xfrm>
          <a:prstGeom prst="rect">
            <a:avLst/>
          </a:prstGeom>
          <a:noFill/>
        </p:spPr>
        <p:txBody>
          <a:bodyPr wrap="square" lIns="18288" tIns="0" rIns="18288" bIns="0" anchor="t">
            <a:noAutofit/>
          </a:bodyPr>
          <a:lstStyle/>
          <a:p>
            <a:pPr algn="l">
              <a:lnSpc>
                <a:spcPct val="100000"/>
              </a:lnSpc>
              <a:spcBef>
                <a:spcPts val="0"/>
              </a:spcBef>
              <a:spcAft>
                <a:spcPts val="0"/>
              </a:spcAft>
            </a:pPr>
            <a:r>
              <a:rPr sz="850" b="1" i="0">
                <a:solidFill>
                  <a:srgbClr val="FFFFFF"/>
                </a:solidFill>
              </a:rPr>
              <a:t>Event Mesh</a:t>
            </a:r>
          </a:p>
          <a:p>
            <a:pPr algn="l">
              <a:lnSpc>
                <a:spcPct val="100000"/>
              </a:lnSpc>
              <a:spcBef>
                <a:spcPts val="0"/>
              </a:spcBef>
              <a:spcAft>
                <a:spcPts val="0"/>
              </a:spcAft>
            </a:pPr>
            <a:r>
              <a:rPr sz="650" b="0" i="0">
                <a:solidFill>
                  <a:srgbClr val="FFFFFF"/>
                </a:solidFill>
              </a:rPr>
              <a:t>(Docker)</a:t>
            </a:r>
          </a:p>
        </p:txBody>
      </p:sp>
      <p:sp>
        <p:nvSpPr>
          <p:cNvPr id="99" name="Rounded Rectangle 98"/>
          <p:cNvSpPr/>
          <p:nvPr/>
        </p:nvSpPr>
        <p:spPr>
          <a:xfrm>
            <a:off x="329184" y="5815584"/>
            <a:ext cx="713232" cy="256032"/>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Picture 99" descr="docker.png"/>
          <p:cNvPicPr>
            <a:picLocks noChangeAspect="1"/>
          </p:cNvPicPr>
          <p:nvPr/>
        </p:nvPicPr>
        <p:blipFill>
          <a:blip r:embed="rId17"/>
          <a:stretch>
            <a:fillRect/>
          </a:stretch>
        </p:blipFill>
        <p:spPr>
          <a:xfrm>
            <a:off x="384048" y="5875020"/>
            <a:ext cx="653975" cy="155448"/>
          </a:xfrm>
          <a:prstGeom prst="rect">
            <a:avLst/>
          </a:prstGeom>
        </p:spPr>
      </p:pic>
      <p:sp>
        <p:nvSpPr>
          <p:cNvPr id="101" name="Rounded Rectangle 100"/>
          <p:cNvSpPr/>
          <p:nvPr/>
        </p:nvSpPr>
        <p:spPr>
          <a:xfrm>
            <a:off x="1783080" y="5230368"/>
            <a:ext cx="150876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2" name="Picture 101" descr="solace_tpl.png"/>
          <p:cNvPicPr>
            <a:picLocks noChangeAspect="1"/>
          </p:cNvPicPr>
          <p:nvPr/>
        </p:nvPicPr>
        <p:blipFill>
          <a:blip r:embed="rId18"/>
          <a:stretch>
            <a:fillRect/>
          </a:stretch>
        </p:blipFill>
        <p:spPr>
          <a:xfrm>
            <a:off x="1874519" y="5303520"/>
            <a:ext cx="468752" cy="118872"/>
          </a:xfrm>
          <a:prstGeom prst="rect">
            <a:avLst/>
          </a:prstGeom>
        </p:spPr>
      </p:pic>
      <p:sp>
        <p:nvSpPr>
          <p:cNvPr id="103" name="TextBox 102"/>
          <p:cNvSpPr txBox="1"/>
          <p:nvPr/>
        </p:nvSpPr>
        <p:spPr>
          <a:xfrm>
            <a:off x="2388991" y="5262372"/>
            <a:ext cx="811408" cy="201168"/>
          </a:xfrm>
          <a:prstGeom prst="rect">
            <a:avLst/>
          </a:prstGeom>
          <a:noFill/>
        </p:spPr>
        <p:txBody>
          <a:bodyPr wrap="square" lIns="18288" tIns="0" rIns="18288" bIns="0" anchor="ctr">
            <a:noAutofit/>
          </a:bodyPr>
          <a:lstStyle/>
          <a:p>
            <a:pPr algn="l">
              <a:lnSpc>
                <a:spcPct val="100000"/>
              </a:lnSpc>
              <a:spcBef>
                <a:spcPts val="0"/>
              </a:spcBef>
              <a:spcAft>
                <a:spcPts val="0"/>
              </a:spcAft>
            </a:pPr>
            <a:r>
              <a:rPr sz="730" b="1" i="0">
                <a:solidFill>
                  <a:srgbClr val="0A3B5E"/>
                </a:solidFill>
              </a:rPr>
              <a:t>solace-2</a:t>
            </a:r>
          </a:p>
        </p:txBody>
      </p:sp>
      <p:sp>
        <p:nvSpPr>
          <p:cNvPr id="104" name="TextBox 103"/>
          <p:cNvSpPr txBox="1"/>
          <p:nvPr/>
        </p:nvSpPr>
        <p:spPr>
          <a:xfrm>
            <a:off x="1874519" y="5504688"/>
            <a:ext cx="1325880" cy="566928"/>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Solace PubSub+ broker · DMR-linked</a:t>
            </a:r>
          </a:p>
        </p:txBody>
      </p:sp>
      <p:sp>
        <p:nvSpPr>
          <p:cNvPr id="105" name="Rounded Rectangle 104"/>
          <p:cNvSpPr/>
          <p:nvPr/>
        </p:nvSpPr>
        <p:spPr>
          <a:xfrm>
            <a:off x="4069080" y="5230368"/>
            <a:ext cx="182880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Picture 105" descr="solace_tpl.png"/>
          <p:cNvPicPr>
            <a:picLocks noChangeAspect="1"/>
          </p:cNvPicPr>
          <p:nvPr/>
        </p:nvPicPr>
        <p:blipFill>
          <a:blip r:embed="rId18"/>
          <a:stretch>
            <a:fillRect/>
          </a:stretch>
        </p:blipFill>
        <p:spPr>
          <a:xfrm>
            <a:off x="4160520" y="5303520"/>
            <a:ext cx="468752" cy="118872"/>
          </a:xfrm>
          <a:prstGeom prst="rect">
            <a:avLst/>
          </a:prstGeom>
        </p:spPr>
      </p:pic>
      <p:sp>
        <p:nvSpPr>
          <p:cNvPr id="107" name="TextBox 106"/>
          <p:cNvSpPr txBox="1"/>
          <p:nvPr/>
        </p:nvSpPr>
        <p:spPr>
          <a:xfrm>
            <a:off x="4674991" y="5262372"/>
            <a:ext cx="1131448" cy="201168"/>
          </a:xfrm>
          <a:prstGeom prst="rect">
            <a:avLst/>
          </a:prstGeom>
          <a:noFill/>
        </p:spPr>
        <p:txBody>
          <a:bodyPr wrap="square" lIns="18288" tIns="0" rIns="18288" bIns="0" anchor="ctr">
            <a:noAutofit/>
          </a:bodyPr>
          <a:lstStyle/>
          <a:p>
            <a:pPr algn="l">
              <a:lnSpc>
                <a:spcPct val="100000"/>
              </a:lnSpc>
              <a:spcBef>
                <a:spcPts val="0"/>
              </a:spcBef>
              <a:spcAft>
                <a:spcPts val="0"/>
              </a:spcAft>
            </a:pPr>
            <a:r>
              <a:rPr sz="730" b="1" i="0">
                <a:solidFill>
                  <a:srgbClr val="0A3B5E"/>
                </a:solidFill>
              </a:rPr>
              <a:t>solace-1 · VPN sam</a:t>
            </a:r>
          </a:p>
        </p:txBody>
      </p:sp>
      <p:sp>
        <p:nvSpPr>
          <p:cNvPr id="108" name="TextBox 107"/>
          <p:cNvSpPr txBox="1"/>
          <p:nvPr/>
        </p:nvSpPr>
        <p:spPr>
          <a:xfrm>
            <a:off x="4160520" y="5504688"/>
            <a:ext cx="1645920" cy="566928"/>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external broker for SAM · ws://host.docker.internal:8008</a:t>
            </a:r>
          </a:p>
        </p:txBody>
      </p:sp>
      <p:sp>
        <p:nvSpPr>
          <p:cNvPr id="109" name="otel"/>
          <p:cNvSpPr/>
          <p:nvPr/>
        </p:nvSpPr>
        <p:spPr>
          <a:xfrm>
            <a:off x="7178040" y="5230368"/>
            <a:ext cx="155448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Picture 109" descr="otel.png"/>
          <p:cNvPicPr>
            <a:picLocks noChangeAspect="1"/>
          </p:cNvPicPr>
          <p:nvPr/>
        </p:nvPicPr>
        <p:blipFill>
          <a:blip r:embed="rId19"/>
          <a:stretch>
            <a:fillRect/>
          </a:stretch>
        </p:blipFill>
        <p:spPr>
          <a:xfrm>
            <a:off x="7269480" y="5321808"/>
            <a:ext cx="274320" cy="274320"/>
          </a:xfrm>
          <a:prstGeom prst="rect">
            <a:avLst/>
          </a:prstGeom>
        </p:spPr>
      </p:pic>
      <p:sp>
        <p:nvSpPr>
          <p:cNvPr id="111" name="TextBox 110"/>
          <p:cNvSpPr txBox="1"/>
          <p:nvPr/>
        </p:nvSpPr>
        <p:spPr>
          <a:xfrm>
            <a:off x="7607808" y="5285232"/>
            <a:ext cx="1078992" cy="36576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OTel Collector</a:t>
            </a:r>
          </a:p>
          <a:p>
            <a:pPr algn="l">
              <a:lnSpc>
                <a:spcPct val="100000"/>
              </a:lnSpc>
              <a:spcBef>
                <a:spcPts val="0"/>
              </a:spcBef>
              <a:spcAft>
                <a:spcPts val="0"/>
              </a:spcAft>
            </a:pPr>
            <a:r>
              <a:rPr sz="600" b="0" i="0">
                <a:solidFill>
                  <a:srgbClr val="0A3B5E"/>
                </a:solidFill>
              </a:rPr>
              <a:t>Solace receiver</a:t>
            </a:r>
          </a:p>
        </p:txBody>
      </p:sp>
      <p:cxnSp>
        <p:nvCxnSpPr>
          <p:cNvPr id="112" name="Connector 111"/>
          <p:cNvCxnSpPr/>
          <p:nvPr/>
        </p:nvCxnSpPr>
        <p:spPr>
          <a:xfrm>
            <a:off x="3291840" y="5669280"/>
            <a:ext cx="777240" cy="0"/>
          </a:xfrm>
          <a:prstGeom prst="line">
            <a:avLst/>
          </a:prstGeom>
          <a:ln w="15240">
            <a:solidFill>
              <a:srgbClr val="FFFFFF"/>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3291840" y="5449824"/>
            <a:ext cx="777240" cy="182880"/>
          </a:xfrm>
          <a:prstGeom prst="rect">
            <a:avLst/>
          </a:prstGeom>
          <a:noFill/>
        </p:spPr>
        <p:txBody>
          <a:bodyPr wrap="square" lIns="18288" tIns="0" rIns="18288" bIns="0" anchor="ctr">
            <a:noAutofit/>
          </a:bodyPr>
          <a:lstStyle/>
          <a:p>
            <a:pPr algn="ctr">
              <a:lnSpc>
                <a:spcPct val="100000"/>
              </a:lnSpc>
              <a:spcBef>
                <a:spcPts val="0"/>
              </a:spcBef>
              <a:spcAft>
                <a:spcPts val="0"/>
              </a:spcAft>
            </a:pPr>
            <a:r>
              <a:rPr sz="600" b="1" i="0">
                <a:solidFill>
                  <a:srgbClr val="FFFFFF"/>
                </a:solidFill>
              </a:rPr>
              <a:t>DMR</a:t>
            </a:r>
          </a:p>
        </p:txBody>
      </p:sp>
      <p:cxnSp>
        <p:nvCxnSpPr>
          <p:cNvPr id="114" name="Connector 113"/>
          <p:cNvCxnSpPr/>
          <p:nvPr/>
        </p:nvCxnSpPr>
        <p:spPr>
          <a:xfrm>
            <a:off x="5897880" y="5669280"/>
            <a:ext cx="1280160" cy="0"/>
          </a:xfrm>
          <a:prstGeom prst="line">
            <a:avLst/>
          </a:prstGeom>
          <a:ln w="15240">
            <a:solidFill>
              <a:srgbClr val="FFFF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5870448" y="5303520"/>
            <a:ext cx="1371600" cy="320040"/>
          </a:xfrm>
          <a:prstGeom prst="rect">
            <a:avLst/>
          </a:prstGeom>
          <a:noFill/>
        </p:spPr>
        <p:txBody>
          <a:bodyPr wrap="square" lIns="18288" tIns="0" rIns="18288" bIns="0" anchor="ctr">
            <a:noAutofit/>
          </a:bodyPr>
          <a:lstStyle/>
          <a:p>
            <a:pPr algn="ctr">
              <a:lnSpc>
                <a:spcPct val="100000"/>
              </a:lnSpc>
              <a:spcBef>
                <a:spcPts val="0"/>
              </a:spcBef>
              <a:spcAft>
                <a:spcPts val="0"/>
              </a:spcAft>
            </a:pPr>
            <a:r>
              <a:rPr sz="580" b="0" i="0">
                <a:solidFill>
                  <a:srgbClr val="FFFFFF"/>
                </a:solidFill>
              </a:rPr>
              <a:t>Solace distributed tracing</a:t>
            </a:r>
          </a:p>
        </p:txBody>
      </p:sp>
      <p:cxnSp>
        <p:nvCxnSpPr>
          <p:cNvPr id="116" name="Connector 115"/>
          <p:cNvCxnSpPr/>
          <p:nvPr/>
        </p:nvCxnSpPr>
        <p:spPr>
          <a:xfrm>
            <a:off x="4480560" y="4663440"/>
            <a:ext cx="0" cy="566928"/>
          </a:xfrm>
          <a:prstGeom prst="line">
            <a:avLst/>
          </a:prstGeom>
          <a:ln w="20320">
            <a:solidFill>
              <a:srgbClr val="00C895"/>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7" name="Rounded Rectangle 116"/>
          <p:cNvSpPr/>
          <p:nvPr/>
        </p:nvSpPr>
        <p:spPr>
          <a:xfrm>
            <a:off x="4553712" y="4727448"/>
            <a:ext cx="1188720" cy="256032"/>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80" b="0" i="0">
                <a:solidFill>
                  <a:srgbClr val="0A3B5E"/>
                </a:solidFill>
              </a:rPr>
              <a:t>A2A via Solace (VPN sam)</a:t>
            </a:r>
          </a:p>
        </p:txBody>
      </p:sp>
      <p:cxnSp>
        <p:nvCxnSpPr>
          <p:cNvPr id="118" name="Connector 117"/>
          <p:cNvCxnSpPr/>
          <p:nvPr/>
        </p:nvCxnSpPr>
        <p:spPr>
          <a:xfrm>
            <a:off x="5102352" y="4663440"/>
            <a:ext cx="2139696" cy="548640"/>
          </a:xfrm>
          <a:prstGeom prst="line">
            <a:avLst/>
          </a:prstGeom>
          <a:ln w="16510">
            <a:solidFill>
              <a:srgbClr val="00C895"/>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9" name="Rounded Rectangle 118"/>
          <p:cNvSpPr/>
          <p:nvPr/>
        </p:nvSpPr>
        <p:spPr>
          <a:xfrm>
            <a:off x="5779008" y="4855464"/>
            <a:ext cx="1417320" cy="256032"/>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80" b="0" i="0">
                <a:solidFill>
                  <a:srgbClr val="0A3B5E"/>
                </a:solidFill>
              </a:rPr>
              <a:t>OTLP metrics + logs (target state)</a:t>
            </a:r>
          </a:p>
        </p:txBody>
      </p:sp>
      <p:cxnSp>
        <p:nvCxnSpPr>
          <p:cNvPr id="120" name="Connector 119"/>
          <p:cNvCxnSpPr/>
          <p:nvPr/>
        </p:nvCxnSpPr>
        <p:spPr>
          <a:xfrm flipV="1">
            <a:off x="7589520" y="4846320"/>
            <a:ext cx="1463040" cy="384048"/>
          </a:xfrm>
          <a:prstGeom prst="line">
            <a:avLst/>
          </a:prstGeom>
          <a:ln w="15240">
            <a:solidFill>
              <a:srgbClr val="00C89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8046720" y="4846320"/>
            <a:ext cx="2103120" cy="384048"/>
          </a:xfrm>
          <a:prstGeom prst="line">
            <a:avLst/>
          </a:prstGeom>
          <a:ln w="15240">
            <a:solidFill>
              <a:srgbClr val="00C89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503920" y="4846320"/>
            <a:ext cx="2743200" cy="384048"/>
          </a:xfrm>
          <a:prstGeom prst="line">
            <a:avLst/>
          </a:prstGeom>
          <a:ln w="15240">
            <a:solidFill>
              <a:srgbClr val="00C895"/>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3" name="Rounded Rectangle 122"/>
          <p:cNvSpPr/>
          <p:nvPr/>
        </p:nvSpPr>
        <p:spPr>
          <a:xfrm>
            <a:off x="8732520" y="4887468"/>
            <a:ext cx="566928" cy="12801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60" b="0" i="0">
                <a:solidFill>
                  <a:srgbClr val="0A3B5E"/>
                </a:solidFill>
              </a:rPr>
              <a:t>metrics</a:t>
            </a:r>
          </a:p>
        </p:txBody>
      </p:sp>
      <p:sp>
        <p:nvSpPr>
          <p:cNvPr id="124" name="Rounded Rectangle 123"/>
          <p:cNvSpPr/>
          <p:nvPr/>
        </p:nvSpPr>
        <p:spPr>
          <a:xfrm>
            <a:off x="9802368" y="4887468"/>
            <a:ext cx="457200" cy="12801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60" b="0" i="0">
                <a:solidFill>
                  <a:srgbClr val="0A3B5E"/>
                </a:solidFill>
              </a:rPr>
              <a:t>logs</a:t>
            </a:r>
          </a:p>
        </p:txBody>
      </p:sp>
      <p:sp>
        <p:nvSpPr>
          <p:cNvPr id="125" name="Rounded Rectangle 124"/>
          <p:cNvSpPr/>
          <p:nvPr/>
        </p:nvSpPr>
        <p:spPr>
          <a:xfrm>
            <a:off x="10625328" y="4887468"/>
            <a:ext cx="1188720" cy="12801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60" b="0" i="0">
                <a:solidFill>
                  <a:srgbClr val="0A3B5E"/>
                </a:solidFill>
              </a:rPr>
              <a:t>traces (target state)</a:t>
            </a:r>
          </a:p>
        </p:txBody>
      </p:sp>
      <p:cxnSp>
        <p:nvCxnSpPr>
          <p:cNvPr id="126" name="Connector 125"/>
          <p:cNvCxnSpPr/>
          <p:nvPr/>
        </p:nvCxnSpPr>
        <p:spPr>
          <a:xfrm>
            <a:off x="8961120" y="5577840"/>
            <a:ext cx="402336" cy="0"/>
          </a:xfrm>
          <a:prstGeom prst="line">
            <a:avLst/>
          </a:prstGeom>
          <a:ln w="1651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9418320" y="5504688"/>
            <a:ext cx="1188720" cy="155448"/>
          </a:xfrm>
          <a:prstGeom prst="rect">
            <a:avLst/>
          </a:prstGeom>
          <a:noFill/>
        </p:spPr>
        <p:txBody>
          <a:bodyPr wrap="square" lIns="18288" tIns="0" rIns="18288" bIns="0" anchor="ctr">
            <a:noAutofit/>
          </a:bodyPr>
          <a:lstStyle/>
          <a:p>
            <a:pPr algn="l">
              <a:lnSpc>
                <a:spcPct val="100000"/>
              </a:lnSpc>
              <a:spcBef>
                <a:spcPts val="0"/>
              </a:spcBef>
              <a:spcAft>
                <a:spcPts val="0"/>
              </a:spcAft>
            </a:pPr>
            <a:r>
              <a:rPr sz="600" b="0" i="0">
                <a:solidFill>
                  <a:srgbClr val="FFFFFF"/>
                </a:solidFill>
              </a:rPr>
              <a:t>live verified</a:t>
            </a:r>
          </a:p>
        </p:txBody>
      </p:sp>
      <p:cxnSp>
        <p:nvCxnSpPr>
          <p:cNvPr id="128" name="Connector 127"/>
          <p:cNvCxnSpPr/>
          <p:nvPr/>
        </p:nvCxnSpPr>
        <p:spPr>
          <a:xfrm>
            <a:off x="8961120" y="5779008"/>
            <a:ext cx="402336" cy="0"/>
          </a:xfrm>
          <a:prstGeom prst="line">
            <a:avLst/>
          </a:prstGeom>
          <a:ln w="16510">
            <a:solidFill>
              <a:srgbClr val="FFFFFF"/>
            </a:solidFill>
            <a:prstDash val="dash"/>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9418320" y="5705856"/>
            <a:ext cx="1554480" cy="155448"/>
          </a:xfrm>
          <a:prstGeom prst="rect">
            <a:avLst/>
          </a:prstGeom>
          <a:noFill/>
        </p:spPr>
        <p:txBody>
          <a:bodyPr wrap="square" lIns="18288" tIns="0" rIns="18288" bIns="0" anchor="ctr">
            <a:noAutofit/>
          </a:bodyPr>
          <a:lstStyle/>
          <a:p>
            <a:pPr algn="l">
              <a:lnSpc>
                <a:spcPct val="100000"/>
              </a:lnSpc>
              <a:spcBef>
                <a:spcPts val="0"/>
              </a:spcBef>
              <a:spcAft>
                <a:spcPts val="0"/>
              </a:spcAft>
            </a:pPr>
            <a:r>
              <a:rPr sz="600" b="0" i="0">
                <a:solidFill>
                  <a:srgbClr val="FFFFFF"/>
                </a:solidFill>
              </a:rPr>
              <a:t>target state (planned)</a:t>
            </a:r>
          </a:p>
        </p:txBody>
      </p:sp>
      <p:sp>
        <p:nvSpPr>
          <p:cNvPr id="130" name="TextBox 129"/>
          <p:cNvSpPr txBox="1"/>
          <p:nvPr/>
        </p:nvSpPr>
        <p:spPr>
          <a:xfrm>
            <a:off x="8942832" y="5961888"/>
            <a:ext cx="2926080" cy="219456"/>
          </a:xfrm>
          <a:prstGeom prst="rect">
            <a:avLst/>
          </a:prstGeom>
          <a:noFill/>
        </p:spPr>
        <p:txBody>
          <a:bodyPr wrap="square" lIns="18288" tIns="0" rIns="18288" bIns="0" anchor="ctr">
            <a:noAutofit/>
          </a:bodyPr>
          <a:lstStyle/>
          <a:p>
            <a:pPr algn="l">
              <a:lnSpc>
                <a:spcPct val="100000"/>
              </a:lnSpc>
              <a:spcBef>
                <a:spcPts val="0"/>
              </a:spcBef>
              <a:spcAft>
                <a:spcPts val="0"/>
              </a:spcAft>
            </a:pPr>
            <a:r>
              <a:rPr sz="600" b="0" i="1">
                <a:solidFill>
                  <a:srgbClr val="FFFFFF"/>
                </a:solidFill>
              </a:rPr>
              <a:t>traceID (UUIDv7) correlates every hop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a:t>Retail 360 Use Case – Agents, Workflow, Data</a:t>
            </a:r>
          </a:p>
        </p:txBody>
      </p:sp>
      <p:sp>
        <p:nvSpPr>
          <p:cNvPr id="3" name="TextBox 2"/>
          <p:cNvSpPr txBox="1"/>
          <p:nvPr/>
        </p:nvSpPr>
        <p:spPr>
          <a:xfrm>
            <a:off x="548640" y="822960"/>
            <a:ext cx="7223760" cy="201168"/>
          </a:xfrm>
          <a:prstGeom prst="rect">
            <a:avLst/>
          </a:prstGeom>
          <a:noFill/>
        </p:spPr>
        <p:txBody>
          <a:bodyPr wrap="square" lIns="18288" tIns="0" rIns="18288" bIns="0" anchor="t">
            <a:noAutofit/>
          </a:bodyPr>
          <a:lstStyle/>
          <a:p>
            <a:pPr algn="l">
              <a:lnSpc>
                <a:spcPct val="100000"/>
              </a:lnSpc>
              <a:spcBef>
                <a:spcPts val="0"/>
              </a:spcBef>
              <a:spcAft>
                <a:spcPts val="0"/>
              </a:spcAft>
            </a:pPr>
            <a:r>
              <a:rPr sz="1050" b="0" i="1">
                <a:solidFill>
                  <a:srgbClr val="5A7486"/>
                </a:solidFill>
              </a:rPr>
              <a:t>A business question fans out to three SQL experts in parallel – one executive report comes back.</a:t>
            </a:r>
          </a:p>
        </p:txBody>
      </p:sp>
      <p:pic>
        <p:nvPicPr>
          <p:cNvPr id="4" name="Picture 3" descr="solace_green.png"/>
          <p:cNvPicPr>
            <a:picLocks noChangeAspect="1"/>
          </p:cNvPicPr>
          <p:nvPr/>
        </p:nvPicPr>
        <p:blipFill>
          <a:blip r:embed="rId3"/>
          <a:stretch>
            <a:fillRect/>
          </a:stretch>
        </p:blipFill>
        <p:spPr>
          <a:xfrm>
            <a:off x="9418320" y="914400"/>
            <a:ext cx="612983" cy="155448"/>
          </a:xfrm>
          <a:prstGeom prst="rect">
            <a:avLst/>
          </a:prstGeom>
        </p:spPr>
      </p:pic>
      <p:sp>
        <p:nvSpPr>
          <p:cNvPr id="5" name="TextBox 4"/>
          <p:cNvSpPr txBox="1"/>
          <p:nvPr/>
        </p:nvSpPr>
        <p:spPr>
          <a:xfrm>
            <a:off x="10077023" y="859536"/>
            <a:ext cx="1463040" cy="256032"/>
          </a:xfrm>
          <a:prstGeom prst="rect">
            <a:avLst/>
          </a:prstGeom>
          <a:noFill/>
        </p:spPr>
        <p:txBody>
          <a:bodyPr wrap="square" lIns="18288" tIns="0" rIns="18288" bIns="0" anchor="ctr">
            <a:noAutofit/>
          </a:bodyPr>
          <a:lstStyle/>
          <a:p>
            <a:pPr algn="l">
              <a:lnSpc>
                <a:spcPct val="100000"/>
              </a:lnSpc>
              <a:spcBef>
                <a:spcPts val="0"/>
              </a:spcBef>
              <a:spcAft>
                <a:spcPts val="0"/>
              </a:spcAft>
            </a:pPr>
            <a:r>
              <a:rPr sz="1100" b="1" i="0">
                <a:solidFill>
                  <a:srgbClr val="0A3B5E"/>
                </a:solidFill>
              </a:rPr>
              <a:t>Agent Mesh</a:t>
            </a:r>
          </a:p>
        </p:txBody>
      </p:sp>
      <p:sp>
        <p:nvSpPr>
          <p:cNvPr id="6" name="Rounded Rectangle 5"/>
          <p:cNvSpPr/>
          <p:nvPr/>
        </p:nvSpPr>
        <p:spPr>
          <a:xfrm>
            <a:off x="7818120" y="886968"/>
            <a:ext cx="1572768" cy="219456"/>
          </a:xfrm>
          <a:prstGeom prst="roundRect">
            <a:avLst>
              <a:gd name="adj" fmla="val 5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630" b="1" i="0">
                <a:solidFill>
                  <a:srgbClr val="0A3B5E"/>
                </a:solidFill>
              </a:rPr>
              <a:t>live-verified end-to-end</a:t>
            </a:r>
          </a:p>
        </p:txBody>
      </p:sp>
      <p:sp>
        <p:nvSpPr>
          <p:cNvPr id="7" name="Rounded Rectangle 6"/>
          <p:cNvSpPr/>
          <p:nvPr/>
        </p:nvSpPr>
        <p:spPr>
          <a:xfrm>
            <a:off x="320040" y="1234440"/>
            <a:ext cx="3017520" cy="932688"/>
          </a:xfrm>
          <a:prstGeom prst="roundRect">
            <a:avLst>
              <a:gd name="adj" fmla="val 10000"/>
            </a:avLst>
          </a:prstGeom>
          <a:solidFill>
            <a:srgbClr val="FFF7C2"/>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18288" rtlCol="0" anchor="ctr">
            <a:noAutofit/>
          </a:bodyPr>
          <a:lstStyle/>
          <a:p>
            <a:pPr algn="ctr">
              <a:lnSpc>
                <a:spcPct val="100000"/>
              </a:lnSpc>
              <a:spcBef>
                <a:spcPts val="0"/>
              </a:spcBef>
              <a:spcAft>
                <a:spcPts val="0"/>
              </a:spcAft>
            </a:pPr>
            <a:r>
              <a:rPr sz="600" b="1" i="0">
                <a:solidFill>
                  <a:srgbClr val="5A7486"/>
                </a:solidFill>
              </a:rPr>
              <a:t>User question</a:t>
            </a:r>
          </a:p>
          <a:p>
            <a:pPr algn="ctr">
              <a:lnSpc>
                <a:spcPct val="100000"/>
              </a:lnSpc>
              <a:spcBef>
                <a:spcPts val="0"/>
              </a:spcBef>
              <a:spcAft>
                <a:spcPts val="0"/>
              </a:spcAft>
            </a:pPr>
            <a:r>
              <a:rPr sz="730" b="0" i="1">
                <a:solidFill>
                  <a:srgbClr val="0A3B5E"/>
                </a:solidFill>
              </a:rPr>
              <a:t>“Who are our top 10 customers by lifetime spend – and how do their orders and product margins look?”</a:t>
            </a:r>
          </a:p>
        </p:txBody>
      </p:sp>
      <p:sp>
        <p:nvSpPr>
          <p:cNvPr id="8" name="Rounded Rectangle 7"/>
          <p:cNvSpPr/>
          <p:nvPr/>
        </p:nvSpPr>
        <p:spPr>
          <a:xfrm>
            <a:off x="3657600" y="1298448"/>
            <a:ext cx="1554480" cy="804672"/>
          </a:xfrm>
          <a:prstGeom prst="roundRect">
            <a:avLst>
              <a:gd name="adj" fmla="val 10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1389888"/>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780" b="1" i="0">
                <a:solidFill>
                  <a:srgbClr val="0A3B5E"/>
                </a:solidFill>
              </a:rPr>
              <a:t>WebUI chat</a:t>
            </a:r>
          </a:p>
        </p:txBody>
      </p:sp>
      <p:sp>
        <p:nvSpPr>
          <p:cNvPr id="10" name="TextBox 9"/>
          <p:cNvSpPr txBox="1"/>
          <p:nvPr/>
        </p:nvSpPr>
        <p:spPr>
          <a:xfrm>
            <a:off x="3657600" y="1563624"/>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https://sam.solace.lab</a:t>
            </a:r>
          </a:p>
        </p:txBody>
      </p:sp>
      <p:sp>
        <p:nvSpPr>
          <p:cNvPr id="11" name="Rounded Rectangle 10"/>
          <p:cNvSpPr/>
          <p:nvPr/>
        </p:nvSpPr>
        <p:spPr>
          <a:xfrm>
            <a:off x="5394960" y="1298448"/>
            <a:ext cx="1554480" cy="804672"/>
          </a:xfrm>
          <a:prstGeom prst="roundRect">
            <a:avLst>
              <a:gd name="adj" fmla="val 10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laude.png"/>
          <p:cNvPicPr>
            <a:picLocks noChangeAspect="1"/>
          </p:cNvPicPr>
          <p:nvPr/>
        </p:nvPicPr>
        <p:blipFill>
          <a:blip r:embed="rId4"/>
          <a:stretch>
            <a:fillRect/>
          </a:stretch>
        </p:blipFill>
        <p:spPr>
          <a:xfrm>
            <a:off x="6071616" y="1389888"/>
            <a:ext cx="201168" cy="201168"/>
          </a:xfrm>
          <a:prstGeom prst="rect">
            <a:avLst/>
          </a:prstGeom>
        </p:spPr>
      </p:pic>
      <p:sp>
        <p:nvSpPr>
          <p:cNvPr id="13" name="TextBox 12"/>
          <p:cNvSpPr txBox="1"/>
          <p:nvPr/>
        </p:nvSpPr>
        <p:spPr>
          <a:xfrm>
            <a:off x="5394960" y="1627632"/>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780" b="1" i="0">
                <a:solidFill>
                  <a:srgbClr val="0A3B5E"/>
                </a:solidFill>
              </a:rPr>
              <a:t>Claude Code</a:t>
            </a:r>
          </a:p>
        </p:txBody>
      </p:sp>
      <p:sp>
        <p:nvSpPr>
          <p:cNvPr id="14" name="TextBox 13"/>
          <p:cNvSpPr txBox="1"/>
          <p:nvPr/>
        </p:nvSpPr>
        <p:spPr>
          <a:xfrm>
            <a:off x="5394960" y="1801368"/>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MCP client</a:t>
            </a:r>
          </a:p>
        </p:txBody>
      </p:sp>
      <p:sp>
        <p:nvSpPr>
          <p:cNvPr id="15" name="Rounded Rectangle 14"/>
          <p:cNvSpPr/>
          <p:nvPr/>
        </p:nvSpPr>
        <p:spPr>
          <a:xfrm>
            <a:off x="6528816" y="1225296"/>
            <a:ext cx="475488" cy="155448"/>
          </a:xfrm>
          <a:prstGeom prst="roundRect">
            <a:avLst>
              <a:gd name="adj" fmla="val 5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600" b="1" i="0">
                <a:solidFill>
                  <a:srgbClr val="0A3B5E"/>
                </a:solidFill>
              </a:rPr>
              <a:t>MCP</a:t>
            </a:r>
          </a:p>
        </p:txBody>
      </p:sp>
      <p:sp>
        <p:nvSpPr>
          <p:cNvPr id="16" name="Rounded Rectangle 15"/>
          <p:cNvSpPr/>
          <p:nvPr/>
        </p:nvSpPr>
        <p:spPr>
          <a:xfrm>
            <a:off x="7132320" y="1298448"/>
            <a:ext cx="1554480" cy="804672"/>
          </a:xfrm>
          <a:prstGeom prst="roundRect">
            <a:avLst>
              <a:gd name="adj" fmla="val 10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solace_green.png"/>
          <p:cNvPicPr>
            <a:picLocks noChangeAspect="1"/>
          </p:cNvPicPr>
          <p:nvPr/>
        </p:nvPicPr>
        <p:blipFill>
          <a:blip r:embed="rId3"/>
          <a:stretch>
            <a:fillRect/>
          </a:stretch>
        </p:blipFill>
        <p:spPr>
          <a:xfrm>
            <a:off x="7512923" y="1389888"/>
            <a:ext cx="793272" cy="201168"/>
          </a:xfrm>
          <a:prstGeom prst="rect">
            <a:avLst/>
          </a:prstGeom>
        </p:spPr>
      </p:pic>
      <p:sp>
        <p:nvSpPr>
          <p:cNvPr id="18" name="TextBox 17"/>
          <p:cNvSpPr txBox="1"/>
          <p:nvPr/>
        </p:nvSpPr>
        <p:spPr>
          <a:xfrm>
            <a:off x="7132320" y="1627632"/>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780" b="1" i="0">
                <a:solidFill>
                  <a:srgbClr val="0A3B5E"/>
                </a:solidFill>
              </a:rPr>
              <a:t>SAM Desktop App</a:t>
            </a:r>
          </a:p>
        </p:txBody>
      </p:sp>
      <p:sp>
        <p:nvSpPr>
          <p:cNvPr id="19" name="TextBox 18"/>
          <p:cNvSpPr txBox="1"/>
          <p:nvPr/>
        </p:nvSpPr>
        <p:spPr>
          <a:xfrm>
            <a:off x="7132320" y="1801368"/>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MCP connector</a:t>
            </a:r>
          </a:p>
        </p:txBody>
      </p:sp>
      <p:sp>
        <p:nvSpPr>
          <p:cNvPr id="20" name="Rounded Rectangle 19"/>
          <p:cNvSpPr/>
          <p:nvPr/>
        </p:nvSpPr>
        <p:spPr>
          <a:xfrm>
            <a:off x="8266175" y="1225296"/>
            <a:ext cx="475488" cy="155448"/>
          </a:xfrm>
          <a:prstGeom prst="roundRect">
            <a:avLst>
              <a:gd name="adj" fmla="val 5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600" b="1" i="0">
                <a:solidFill>
                  <a:srgbClr val="0A3B5E"/>
                </a:solidFill>
              </a:rPr>
              <a:t>MCP</a:t>
            </a:r>
          </a:p>
        </p:txBody>
      </p:sp>
      <p:cxnSp>
        <p:nvCxnSpPr>
          <p:cNvPr id="21" name="Connector 20"/>
          <p:cNvCxnSpPr/>
          <p:nvPr/>
        </p:nvCxnSpPr>
        <p:spPr>
          <a:xfrm>
            <a:off x="3337560" y="1700784"/>
            <a:ext cx="320040"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orchestrator"/>
          <p:cNvSpPr/>
          <p:nvPr/>
        </p:nvSpPr>
        <p:spPr>
          <a:xfrm>
            <a:off x="5440680" y="2304288"/>
            <a:ext cx="1645920" cy="512064"/>
          </a:xfrm>
          <a:prstGeom prst="roundRect">
            <a:avLst>
              <a:gd name="adj" fmla="val 10000"/>
            </a:avLst>
          </a:prstGeom>
          <a:solidFill>
            <a:srgbClr val="FFFFFF"/>
          </a:solidFill>
          <a:ln w="15240">
            <a:solidFill>
              <a:srgbClr val="0A3B5E"/>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850" b="1" i="0">
                <a:solidFill>
                  <a:srgbClr val="0A3B5E"/>
                </a:solidFill>
              </a:rPr>
              <a:t>Orchestrator</a:t>
            </a:r>
          </a:p>
          <a:p>
            <a:pPr algn="ctr">
              <a:lnSpc>
                <a:spcPct val="100000"/>
              </a:lnSpc>
              <a:spcBef>
                <a:spcPts val="0"/>
              </a:spcBef>
              <a:spcAft>
                <a:spcPts val="0"/>
              </a:spcAft>
            </a:pPr>
            <a:r>
              <a:rPr sz="620" b="0" i="0">
                <a:solidFill>
                  <a:srgbClr val="0A3B5E"/>
                </a:solidFill>
              </a:rPr>
              <a:t>(delegation)</a:t>
            </a:r>
          </a:p>
        </p:txBody>
      </p:sp>
      <p:cxnSp>
        <p:nvCxnSpPr>
          <p:cNvPr id="23" name="Connector 22"/>
          <p:cNvCxnSpPr/>
          <p:nvPr/>
        </p:nvCxnSpPr>
        <p:spPr>
          <a:xfrm>
            <a:off x="4434840" y="2103120"/>
            <a:ext cx="1371600" cy="201168"/>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263640" y="2103120"/>
            <a:ext cx="0" cy="201168"/>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720840" y="2103120"/>
            <a:ext cx="1188720" cy="201168"/>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workflow"/>
          <p:cNvSpPr/>
          <p:nvPr/>
        </p:nvSpPr>
        <p:spPr>
          <a:xfrm>
            <a:off x="822960" y="2944368"/>
            <a:ext cx="10515600" cy="2286000"/>
          </a:xfrm>
          <a:prstGeom prst="roundRect">
            <a:avLst>
              <a:gd name="adj" fmla="val 5000"/>
            </a:avLst>
          </a:prstGeom>
          <a:solidFill>
            <a:srgbClr val="E9FBE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69264" y="2999232"/>
            <a:ext cx="3108960"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Workflow: retail-360-report (EA)</a:t>
            </a:r>
          </a:p>
        </p:txBody>
      </p:sp>
      <p:sp>
        <p:nvSpPr>
          <p:cNvPr id="28" name="Rounded Rectangle 27"/>
          <p:cNvSpPr/>
          <p:nvPr/>
        </p:nvSpPr>
        <p:spPr>
          <a:xfrm>
            <a:off x="2286000" y="4773168"/>
            <a:ext cx="2057400" cy="384048"/>
          </a:xfrm>
          <a:prstGeom prst="roundRect">
            <a:avLst>
              <a:gd name="adj" fmla="val 14000"/>
            </a:avLst>
          </a:prstGeom>
          <a:solidFill>
            <a:srgbClr val="FFFFFF"/>
          </a:solidFill>
          <a:ln w="11430">
            <a:solidFill>
              <a:srgbClr val="00C89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noAutofit/>
          </a:bodyPr>
          <a:lstStyle/>
          <a:p>
            <a:pPr algn="ctr">
              <a:lnSpc>
                <a:spcPct val="100000"/>
              </a:lnSpc>
              <a:spcBef>
                <a:spcPts val="0"/>
              </a:spcBef>
              <a:spcAft>
                <a:spcPts val="0"/>
              </a:spcAft>
            </a:pPr>
            <a:r>
              <a:rPr sz="620" b="1" i="0">
                <a:solidFill>
                  <a:srgbClr val="0A3B5E"/>
                </a:solidFill>
              </a:rPr>
              <a:t>parallel fan-out · fail_fast: false</a:t>
            </a:r>
          </a:p>
          <a:p>
            <a:pPr algn="ctr">
              <a:lnSpc>
                <a:spcPct val="100000"/>
              </a:lnSpc>
              <a:spcBef>
                <a:spcPts val="0"/>
              </a:spcBef>
              <a:spcAft>
                <a:spcPts val="0"/>
              </a:spcAft>
            </a:pPr>
            <a:r>
              <a:rPr sz="590" b="0" i="0">
                <a:solidFill>
                  <a:srgbClr val="0A3B5E"/>
                </a:solidFill>
              </a:rPr>
              <a:t>a failing domain is flagged transparently by the reporter</a:t>
            </a:r>
          </a:p>
        </p:txBody>
      </p:sp>
      <p:pic>
        <p:nvPicPr>
          <p:cNvPr id="29" name="Picture 28" descr="claude.png"/>
          <p:cNvPicPr>
            <a:picLocks noChangeAspect="1"/>
          </p:cNvPicPr>
          <p:nvPr/>
        </p:nvPicPr>
        <p:blipFill>
          <a:blip r:embed="rId4"/>
          <a:stretch>
            <a:fillRect/>
          </a:stretch>
        </p:blipFill>
        <p:spPr>
          <a:xfrm>
            <a:off x="8339327" y="3031236"/>
            <a:ext cx="118872" cy="118872"/>
          </a:xfrm>
          <a:prstGeom prst="rect">
            <a:avLst/>
          </a:prstGeom>
        </p:spPr>
      </p:pic>
      <p:sp>
        <p:nvSpPr>
          <p:cNvPr id="30" name="TextBox 29"/>
          <p:cNvSpPr txBox="1"/>
          <p:nvPr/>
        </p:nvSpPr>
        <p:spPr>
          <a:xfrm>
            <a:off x="8494776" y="3017520"/>
            <a:ext cx="2788920"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all 4 agents: model alias general (Claude via LiteLLM · max_tokens 16384)</a:t>
            </a:r>
          </a:p>
        </p:txBody>
      </p:sp>
      <p:cxnSp>
        <p:nvCxnSpPr>
          <p:cNvPr id="31" name="Connector 30"/>
          <p:cNvCxnSpPr/>
          <p:nvPr/>
        </p:nvCxnSpPr>
        <p:spPr>
          <a:xfrm>
            <a:off x="6263640" y="2816352"/>
            <a:ext cx="0" cy="347472"/>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208776" y="3163824"/>
            <a:ext cx="109728" cy="109728"/>
          </a:xfrm>
          <a:prstGeom prst="ellipse">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1097280" y="3383280"/>
            <a:ext cx="2468880" cy="82296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2144" y="3429000"/>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Retail CRM Query Expert</a:t>
            </a:r>
          </a:p>
        </p:txBody>
      </p:sp>
      <p:sp>
        <p:nvSpPr>
          <p:cNvPr id="35" name="TextBox 34"/>
          <p:cNvSpPr txBox="1"/>
          <p:nvPr/>
        </p:nvSpPr>
        <p:spPr>
          <a:xfrm>
            <a:off x="1152144" y="3602736"/>
            <a:ext cx="2359152" cy="14630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Skill: Query retail_crm</a:t>
            </a:r>
          </a:p>
        </p:txBody>
      </p:sp>
      <p:sp>
        <p:nvSpPr>
          <p:cNvPr id="36" name="TextBox 35"/>
          <p:cNvSpPr txBox="1"/>
          <p:nvPr/>
        </p:nvSpPr>
        <p:spPr>
          <a:xfrm>
            <a:off x="1152144" y="3749040"/>
            <a:ext cx="2359152" cy="42062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Tools: sql connector · schema skill retail-crm-schema · data_analysis</a:t>
            </a:r>
          </a:p>
        </p:txBody>
      </p:sp>
      <p:sp>
        <p:nvSpPr>
          <p:cNvPr id="37" name="Rounded Rectangle 36"/>
          <p:cNvSpPr/>
          <p:nvPr/>
        </p:nvSpPr>
        <p:spPr>
          <a:xfrm>
            <a:off x="2944368" y="3424428"/>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claude.png"/>
          <p:cNvPicPr>
            <a:picLocks noChangeAspect="1"/>
          </p:cNvPicPr>
          <p:nvPr/>
        </p:nvPicPr>
        <p:blipFill>
          <a:blip r:embed="rId4"/>
          <a:stretch>
            <a:fillRect/>
          </a:stretch>
        </p:blipFill>
        <p:spPr>
          <a:xfrm>
            <a:off x="2971800" y="3442716"/>
            <a:ext cx="118872" cy="118872"/>
          </a:xfrm>
          <a:prstGeom prst="rect">
            <a:avLst/>
          </a:prstGeom>
        </p:spPr>
      </p:pic>
      <p:sp>
        <p:nvSpPr>
          <p:cNvPr id="39" name="TextBox 38"/>
          <p:cNvSpPr txBox="1"/>
          <p:nvPr/>
        </p:nvSpPr>
        <p:spPr>
          <a:xfrm>
            <a:off x="3118104" y="3424428"/>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sp>
        <p:nvSpPr>
          <p:cNvPr id="40" name="Rounded Rectangle 39"/>
          <p:cNvSpPr/>
          <p:nvPr/>
        </p:nvSpPr>
        <p:spPr>
          <a:xfrm>
            <a:off x="4526280" y="3383280"/>
            <a:ext cx="2468880" cy="82296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81144" y="3429000"/>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Retail OMS Query Expert</a:t>
            </a:r>
          </a:p>
        </p:txBody>
      </p:sp>
      <p:sp>
        <p:nvSpPr>
          <p:cNvPr id="42" name="TextBox 41"/>
          <p:cNvSpPr txBox="1"/>
          <p:nvPr/>
        </p:nvSpPr>
        <p:spPr>
          <a:xfrm>
            <a:off x="4581144" y="3602736"/>
            <a:ext cx="2359152" cy="14630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Skill: Query retail_oms</a:t>
            </a:r>
          </a:p>
        </p:txBody>
      </p:sp>
      <p:sp>
        <p:nvSpPr>
          <p:cNvPr id="43" name="TextBox 42"/>
          <p:cNvSpPr txBox="1"/>
          <p:nvPr/>
        </p:nvSpPr>
        <p:spPr>
          <a:xfrm>
            <a:off x="4581144" y="3749040"/>
            <a:ext cx="2359152" cy="42062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Tools: sql connector · schema skill retail-oms-schema (line-item grain!) · data_analysis</a:t>
            </a:r>
          </a:p>
        </p:txBody>
      </p:sp>
      <p:sp>
        <p:nvSpPr>
          <p:cNvPr id="44" name="Rounded Rectangle 43"/>
          <p:cNvSpPr/>
          <p:nvPr/>
        </p:nvSpPr>
        <p:spPr>
          <a:xfrm>
            <a:off x="6373368" y="3424428"/>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5" name="Picture 44" descr="claude.png"/>
          <p:cNvPicPr>
            <a:picLocks noChangeAspect="1"/>
          </p:cNvPicPr>
          <p:nvPr/>
        </p:nvPicPr>
        <p:blipFill>
          <a:blip r:embed="rId4"/>
          <a:stretch>
            <a:fillRect/>
          </a:stretch>
        </p:blipFill>
        <p:spPr>
          <a:xfrm>
            <a:off x="6400800" y="3442716"/>
            <a:ext cx="118872" cy="118872"/>
          </a:xfrm>
          <a:prstGeom prst="rect">
            <a:avLst/>
          </a:prstGeom>
        </p:spPr>
      </p:pic>
      <p:sp>
        <p:nvSpPr>
          <p:cNvPr id="46" name="TextBox 45"/>
          <p:cNvSpPr txBox="1"/>
          <p:nvPr/>
        </p:nvSpPr>
        <p:spPr>
          <a:xfrm>
            <a:off x="6547104" y="3424428"/>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sp>
        <p:nvSpPr>
          <p:cNvPr id="47" name="Rounded Rectangle 46"/>
          <p:cNvSpPr/>
          <p:nvPr/>
        </p:nvSpPr>
        <p:spPr>
          <a:xfrm>
            <a:off x="7955279" y="3383280"/>
            <a:ext cx="2468880" cy="82296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010144" y="3429000"/>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Retail PDM Query Expert</a:t>
            </a:r>
          </a:p>
        </p:txBody>
      </p:sp>
      <p:sp>
        <p:nvSpPr>
          <p:cNvPr id="49" name="TextBox 48"/>
          <p:cNvSpPr txBox="1"/>
          <p:nvPr/>
        </p:nvSpPr>
        <p:spPr>
          <a:xfrm>
            <a:off x="8010144" y="3602736"/>
            <a:ext cx="2359152" cy="14630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Skill: Query retail_pdm</a:t>
            </a:r>
          </a:p>
        </p:txBody>
      </p:sp>
      <p:sp>
        <p:nvSpPr>
          <p:cNvPr id="50" name="TextBox 49"/>
          <p:cNvSpPr txBox="1"/>
          <p:nvPr/>
        </p:nvSpPr>
        <p:spPr>
          <a:xfrm>
            <a:off x="8010144" y="3749040"/>
            <a:ext cx="2359152" cy="42062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Tools: sql connector · schema skill retail-pdm-schema · data_analysis</a:t>
            </a:r>
          </a:p>
        </p:txBody>
      </p:sp>
      <p:sp>
        <p:nvSpPr>
          <p:cNvPr id="51" name="Rounded Rectangle 50"/>
          <p:cNvSpPr/>
          <p:nvPr/>
        </p:nvSpPr>
        <p:spPr>
          <a:xfrm>
            <a:off x="9802367" y="3424428"/>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laude.png"/>
          <p:cNvPicPr>
            <a:picLocks noChangeAspect="1"/>
          </p:cNvPicPr>
          <p:nvPr/>
        </p:nvPicPr>
        <p:blipFill>
          <a:blip r:embed="rId4"/>
          <a:stretch>
            <a:fillRect/>
          </a:stretch>
        </p:blipFill>
        <p:spPr>
          <a:xfrm>
            <a:off x="9829799" y="3442716"/>
            <a:ext cx="118872" cy="118872"/>
          </a:xfrm>
          <a:prstGeom prst="rect">
            <a:avLst/>
          </a:prstGeom>
        </p:spPr>
      </p:pic>
      <p:sp>
        <p:nvSpPr>
          <p:cNvPr id="53" name="TextBox 52"/>
          <p:cNvSpPr txBox="1"/>
          <p:nvPr/>
        </p:nvSpPr>
        <p:spPr>
          <a:xfrm>
            <a:off x="9976103" y="3424428"/>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cxnSp>
        <p:nvCxnSpPr>
          <p:cNvPr id="54" name="Connector 53"/>
          <p:cNvCxnSpPr/>
          <p:nvPr/>
        </p:nvCxnSpPr>
        <p:spPr>
          <a:xfrm flipH="1">
            <a:off x="2331720" y="3218688"/>
            <a:ext cx="3931920" cy="164592"/>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5760720" y="3273552"/>
            <a:ext cx="502920" cy="109728"/>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263640" y="3218688"/>
            <a:ext cx="2926080" cy="164592"/>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7" name="reporter"/>
          <p:cNvSpPr/>
          <p:nvPr/>
        </p:nvSpPr>
        <p:spPr>
          <a:xfrm>
            <a:off x="4434840" y="4498848"/>
            <a:ext cx="2377440" cy="640080"/>
          </a:xfrm>
          <a:prstGeom prst="roundRect">
            <a:avLst>
              <a:gd name="adj" fmla="val 8000"/>
            </a:avLst>
          </a:prstGeom>
          <a:solidFill>
            <a:srgbClr val="FFFFFF"/>
          </a:solidFill>
          <a:ln w="1524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89704" y="4535424"/>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Retail 360 Reporter – merge</a:t>
            </a:r>
          </a:p>
        </p:txBody>
      </p:sp>
      <p:sp>
        <p:nvSpPr>
          <p:cNvPr id="59" name="TextBox 58"/>
          <p:cNvSpPr txBox="1"/>
          <p:nvPr/>
        </p:nvSpPr>
        <p:spPr>
          <a:xfrm>
            <a:off x="4489704" y="4700016"/>
            <a:ext cx="2267712" cy="402336"/>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Skill: Retail 360 synthesis</a:t>
            </a:r>
          </a:p>
          <a:p>
            <a:pPr algn="l">
              <a:lnSpc>
                <a:spcPct val="100000"/>
              </a:lnSpc>
              <a:spcBef>
                <a:spcPts val="0"/>
              </a:spcBef>
              <a:spcAft>
                <a:spcPts val="0"/>
              </a:spcAft>
            </a:pPr>
            <a:r>
              <a:rPr sz="620" b="0" i="0">
                <a:solidFill>
                  <a:srgbClr val="0A3B5E"/>
                </a:solidFill>
              </a:rPr>
              <a:t>Tools: merge + report writing · artifact tools</a:t>
            </a:r>
          </a:p>
        </p:txBody>
      </p:sp>
      <p:sp>
        <p:nvSpPr>
          <p:cNvPr id="60" name="Rounded Rectangle 59"/>
          <p:cNvSpPr/>
          <p:nvPr/>
        </p:nvSpPr>
        <p:spPr>
          <a:xfrm>
            <a:off x="6208776" y="4539996"/>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1" name="Picture 60" descr="claude.png"/>
          <p:cNvPicPr>
            <a:picLocks noChangeAspect="1"/>
          </p:cNvPicPr>
          <p:nvPr/>
        </p:nvPicPr>
        <p:blipFill>
          <a:blip r:embed="rId4"/>
          <a:stretch>
            <a:fillRect/>
          </a:stretch>
        </p:blipFill>
        <p:spPr>
          <a:xfrm>
            <a:off x="6236208" y="4558284"/>
            <a:ext cx="118872" cy="118872"/>
          </a:xfrm>
          <a:prstGeom prst="rect">
            <a:avLst/>
          </a:prstGeom>
        </p:spPr>
      </p:pic>
      <p:sp>
        <p:nvSpPr>
          <p:cNvPr id="62" name="TextBox 61"/>
          <p:cNvSpPr txBox="1"/>
          <p:nvPr/>
        </p:nvSpPr>
        <p:spPr>
          <a:xfrm>
            <a:off x="6382512" y="4539996"/>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cxnSp>
        <p:nvCxnSpPr>
          <p:cNvPr id="63" name="Connector 62"/>
          <p:cNvCxnSpPr/>
          <p:nvPr/>
        </p:nvCxnSpPr>
        <p:spPr>
          <a:xfrm>
            <a:off x="2834640" y="4206240"/>
            <a:ext cx="1600200" cy="411480"/>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623560" y="4206240"/>
            <a:ext cx="0" cy="292608"/>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6812280" y="4206240"/>
            <a:ext cx="1965960" cy="384048"/>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8778240" y="4498848"/>
            <a:ext cx="2487168" cy="640080"/>
          </a:xfrm>
          <a:prstGeom prst="roundRect">
            <a:avLst>
              <a:gd name="adj" fmla="val 8000"/>
            </a:avLst>
          </a:prstGeom>
          <a:solidFill>
            <a:srgbClr val="FFF7C2"/>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seaweedfs.png"/>
          <p:cNvPicPr>
            <a:picLocks noChangeAspect="1"/>
          </p:cNvPicPr>
          <p:nvPr/>
        </p:nvPicPr>
        <p:blipFill>
          <a:blip r:embed="rId5"/>
          <a:stretch>
            <a:fillRect/>
          </a:stretch>
        </p:blipFill>
        <p:spPr>
          <a:xfrm>
            <a:off x="8869680" y="4791456"/>
            <a:ext cx="237744" cy="237744"/>
          </a:xfrm>
          <a:prstGeom prst="rect">
            <a:avLst/>
          </a:prstGeom>
        </p:spPr>
      </p:pic>
      <p:sp>
        <p:nvSpPr>
          <p:cNvPr id="68" name="TextBox 67"/>
          <p:cNvSpPr txBox="1"/>
          <p:nvPr/>
        </p:nvSpPr>
        <p:spPr>
          <a:xfrm>
            <a:off x="8851392" y="4535424"/>
            <a:ext cx="237744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Executive report + artifacts</a:t>
            </a:r>
          </a:p>
        </p:txBody>
      </p:sp>
      <p:sp>
        <p:nvSpPr>
          <p:cNvPr id="69" name="TextBox 68"/>
          <p:cNvSpPr txBox="1"/>
          <p:nvPr/>
        </p:nvSpPr>
        <p:spPr>
          <a:xfrm>
            <a:off x="9180576" y="4718304"/>
            <a:ext cx="2011680" cy="402336"/>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CSV results · Plotly chart – stored in the artifact store (SeaweedFS)</a:t>
            </a:r>
          </a:p>
        </p:txBody>
      </p:sp>
      <p:cxnSp>
        <p:nvCxnSpPr>
          <p:cNvPr id="70" name="Connector 69"/>
          <p:cNvCxnSpPr/>
          <p:nvPr/>
        </p:nvCxnSpPr>
        <p:spPr>
          <a:xfrm>
            <a:off x="6812280" y="4818888"/>
            <a:ext cx="1965960" cy="0"/>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1" name="data-zone"/>
          <p:cNvSpPr/>
          <p:nvPr/>
        </p:nvSpPr>
        <p:spPr>
          <a:xfrm>
            <a:off x="320040" y="5358384"/>
            <a:ext cx="11686032" cy="1024128"/>
          </a:xfrm>
          <a:prstGeom prst="roundRect">
            <a:avLst>
              <a:gd name="adj" fmla="val 5000"/>
            </a:avLst>
          </a:prstGeom>
          <a:solidFill>
            <a:srgbClr val="E9EFF3"/>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57200" y="5394960"/>
            <a:ext cx="3291840" cy="219456"/>
          </a:xfrm>
          <a:prstGeom prst="rect">
            <a:avLst/>
          </a:prstGeom>
          <a:noFill/>
        </p:spPr>
        <p:txBody>
          <a:bodyPr wrap="square" lIns="18288" tIns="0" rIns="18288" bIns="0" anchor="t">
            <a:noAutofit/>
          </a:bodyPr>
          <a:lstStyle/>
          <a:p>
            <a:pPr algn="l">
              <a:lnSpc>
                <a:spcPct val="100000"/>
              </a:lnSpc>
              <a:spcBef>
                <a:spcPts val="0"/>
              </a:spcBef>
              <a:spcAft>
                <a:spcPts val="0"/>
              </a:spcAft>
            </a:pPr>
            <a:r>
              <a:rPr sz="850" b="1" i="0">
                <a:solidFill>
                  <a:srgbClr val="0A3B5E"/>
                </a:solidFill>
              </a:rPr>
              <a:t>Connectors + Data (sql/postgres)</a:t>
            </a:r>
          </a:p>
        </p:txBody>
      </p:sp>
      <p:sp>
        <p:nvSpPr>
          <p:cNvPr id="73" name="TextBox 72"/>
          <p:cNvSpPr txBox="1"/>
          <p:nvPr/>
        </p:nvSpPr>
        <p:spPr>
          <a:xfrm>
            <a:off x="3931920" y="5390388"/>
            <a:ext cx="2788920"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1">
                <a:solidFill>
                  <a:srgbClr val="0A3B5E"/>
                </a:solidFill>
              </a:rPr>
              <a:t>One connector per expert = clean data-domain separation · schema knowledge ships as skill bundles, not prompt text.</a:t>
            </a:r>
          </a:p>
        </p:txBody>
      </p:sp>
      <p:sp>
        <p:nvSpPr>
          <p:cNvPr id="74" name="TextBox 73"/>
          <p:cNvSpPr txBox="1"/>
          <p:nvPr/>
        </p:nvSpPr>
        <p:spPr>
          <a:xfrm>
            <a:off x="8503920" y="5390388"/>
            <a:ext cx="3383280"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1">
                <a:solidFill>
                  <a:srgbClr val="0A3B5E"/>
                </a:solidFill>
              </a:rPr>
              <a:t>Postgres runs as a host container (with pgAdmin), deliberately outside the cluster – the connectors show how SAM attaches to existing external databases.</a:t>
            </a:r>
          </a:p>
        </p:txBody>
      </p:sp>
      <p:sp>
        <p:nvSpPr>
          <p:cNvPr id="75" name="Can 74"/>
          <p:cNvSpPr/>
          <p:nvPr/>
        </p:nvSpPr>
        <p:spPr>
          <a:xfrm>
            <a:off x="1097280" y="5705856"/>
            <a:ext cx="2468880" cy="621792"/>
          </a:xfrm>
          <a:prstGeom prst="can">
            <a:avLst>
              <a:gd name="adj" fmla="val 16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6" name="Picture 75" descr="postgresql.png"/>
          <p:cNvPicPr>
            <a:picLocks noChangeAspect="1"/>
          </p:cNvPicPr>
          <p:nvPr/>
        </p:nvPicPr>
        <p:blipFill>
          <a:blip r:embed="rId6"/>
          <a:stretch>
            <a:fillRect/>
          </a:stretch>
        </p:blipFill>
        <p:spPr>
          <a:xfrm>
            <a:off x="1170432" y="5870448"/>
            <a:ext cx="266283" cy="274320"/>
          </a:xfrm>
          <a:prstGeom prst="rect">
            <a:avLst/>
          </a:prstGeom>
        </p:spPr>
      </p:pic>
      <p:sp>
        <p:nvSpPr>
          <p:cNvPr id="77" name="TextBox 76"/>
          <p:cNvSpPr txBox="1"/>
          <p:nvPr/>
        </p:nvSpPr>
        <p:spPr>
          <a:xfrm>
            <a:off x="1499616" y="5792724"/>
            <a:ext cx="2048256"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660" b="1" i="0">
                <a:solidFill>
                  <a:srgbClr val="0A3B5E"/>
                </a:solidFill>
              </a:rPr>
              <a:t>Connector retail-crm  →  DB retail_crm</a:t>
            </a:r>
          </a:p>
        </p:txBody>
      </p:sp>
      <p:sp>
        <p:nvSpPr>
          <p:cNvPr id="78" name="TextBox 77"/>
          <p:cNvSpPr txBox="1"/>
          <p:nvPr/>
        </p:nvSpPr>
        <p:spPr>
          <a:xfrm>
            <a:off x="1499616" y="5984748"/>
            <a:ext cx="2048256"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customers, loyalty tiers, preferences, lifetime spend</a:t>
            </a:r>
          </a:p>
        </p:txBody>
      </p:sp>
      <p:sp>
        <p:nvSpPr>
          <p:cNvPr id="79" name="Can 78"/>
          <p:cNvSpPr/>
          <p:nvPr/>
        </p:nvSpPr>
        <p:spPr>
          <a:xfrm>
            <a:off x="4526280" y="5705856"/>
            <a:ext cx="2468880" cy="621792"/>
          </a:xfrm>
          <a:prstGeom prst="can">
            <a:avLst>
              <a:gd name="adj" fmla="val 16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0" name="Picture 79" descr="postgresql.png"/>
          <p:cNvPicPr>
            <a:picLocks noChangeAspect="1"/>
          </p:cNvPicPr>
          <p:nvPr/>
        </p:nvPicPr>
        <p:blipFill>
          <a:blip r:embed="rId6"/>
          <a:stretch>
            <a:fillRect/>
          </a:stretch>
        </p:blipFill>
        <p:spPr>
          <a:xfrm>
            <a:off x="4599432" y="5870448"/>
            <a:ext cx="266283" cy="274320"/>
          </a:xfrm>
          <a:prstGeom prst="rect">
            <a:avLst/>
          </a:prstGeom>
        </p:spPr>
      </p:pic>
      <p:sp>
        <p:nvSpPr>
          <p:cNvPr id="81" name="TextBox 80"/>
          <p:cNvSpPr txBox="1"/>
          <p:nvPr/>
        </p:nvSpPr>
        <p:spPr>
          <a:xfrm>
            <a:off x="4928616" y="5792724"/>
            <a:ext cx="2048256"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660" b="1" i="0">
                <a:solidFill>
                  <a:srgbClr val="0A3B5E"/>
                </a:solidFill>
              </a:rPr>
              <a:t>Connector retail-oms  →  DB retail_oms</a:t>
            </a:r>
          </a:p>
        </p:txBody>
      </p:sp>
      <p:sp>
        <p:nvSpPr>
          <p:cNvPr id="82" name="TextBox 81"/>
          <p:cNvSpPr txBox="1"/>
          <p:nvPr/>
        </p:nvSpPr>
        <p:spPr>
          <a:xfrm>
            <a:off x="4928616" y="5984748"/>
            <a:ext cx="2048256"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orders (line-item grain), stores, payments</a:t>
            </a:r>
          </a:p>
        </p:txBody>
      </p:sp>
      <p:sp>
        <p:nvSpPr>
          <p:cNvPr id="83" name="Can 82"/>
          <p:cNvSpPr/>
          <p:nvPr/>
        </p:nvSpPr>
        <p:spPr>
          <a:xfrm>
            <a:off x="7955279" y="5705856"/>
            <a:ext cx="2468880" cy="621792"/>
          </a:xfrm>
          <a:prstGeom prst="can">
            <a:avLst>
              <a:gd name="adj" fmla="val 16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4" name="Picture 83" descr="postgresql.png"/>
          <p:cNvPicPr>
            <a:picLocks noChangeAspect="1"/>
          </p:cNvPicPr>
          <p:nvPr/>
        </p:nvPicPr>
        <p:blipFill>
          <a:blip r:embed="rId6"/>
          <a:stretch>
            <a:fillRect/>
          </a:stretch>
        </p:blipFill>
        <p:spPr>
          <a:xfrm>
            <a:off x="8028431" y="5870448"/>
            <a:ext cx="266283" cy="274320"/>
          </a:xfrm>
          <a:prstGeom prst="rect">
            <a:avLst/>
          </a:prstGeom>
        </p:spPr>
      </p:pic>
      <p:sp>
        <p:nvSpPr>
          <p:cNvPr id="85" name="TextBox 84"/>
          <p:cNvSpPr txBox="1"/>
          <p:nvPr/>
        </p:nvSpPr>
        <p:spPr>
          <a:xfrm>
            <a:off x="8357615" y="5792724"/>
            <a:ext cx="2048256"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660" b="1" i="0">
                <a:solidFill>
                  <a:srgbClr val="0A3B5E"/>
                </a:solidFill>
              </a:rPr>
              <a:t>Connector retail-pdm  →  DB retail_pdm</a:t>
            </a:r>
          </a:p>
        </p:txBody>
      </p:sp>
      <p:sp>
        <p:nvSpPr>
          <p:cNvPr id="86" name="TextBox 85"/>
          <p:cNvSpPr txBox="1"/>
          <p:nvPr/>
        </p:nvSpPr>
        <p:spPr>
          <a:xfrm>
            <a:off x="8357615" y="5984748"/>
            <a:ext cx="2048256"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products, inventory status, prices, margins, suppliers</a:t>
            </a:r>
          </a:p>
        </p:txBody>
      </p:sp>
      <p:cxnSp>
        <p:nvCxnSpPr>
          <p:cNvPr id="87" name="Connector 86"/>
          <p:cNvCxnSpPr/>
          <p:nvPr/>
        </p:nvCxnSpPr>
        <p:spPr>
          <a:xfrm>
            <a:off x="2011680" y="4206240"/>
            <a:ext cx="0" cy="1499616"/>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6903720" y="4206240"/>
            <a:ext cx="0" cy="1499616"/>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8183879" y="4206240"/>
            <a:ext cx="0" cy="1499616"/>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0" name="Rounded Rectangle 89"/>
          <p:cNvSpPr/>
          <p:nvPr/>
        </p:nvSpPr>
        <p:spPr>
          <a:xfrm>
            <a:off x="2468880" y="6437376"/>
            <a:ext cx="8001000" cy="274320"/>
          </a:xfrm>
          <a:prstGeom prst="roundRect">
            <a:avLst>
              <a:gd name="adj" fmla="val 50000"/>
            </a:avLst>
          </a:prstGeom>
          <a:solidFill>
            <a:srgbClr val="E9FBEF"/>
          </a:solidFill>
          <a:ln w="11430">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1" name="Picture 90" descr="keycloak.png"/>
          <p:cNvPicPr>
            <a:picLocks noChangeAspect="1"/>
          </p:cNvPicPr>
          <p:nvPr/>
        </p:nvPicPr>
        <p:blipFill>
          <a:blip r:embed="rId7"/>
          <a:stretch>
            <a:fillRect/>
          </a:stretch>
        </p:blipFill>
        <p:spPr>
          <a:xfrm>
            <a:off x="2615184" y="6496812"/>
            <a:ext cx="162306" cy="146304"/>
          </a:xfrm>
          <a:prstGeom prst="rect">
            <a:avLst/>
          </a:prstGeom>
        </p:spPr>
      </p:pic>
      <p:sp>
        <p:nvSpPr>
          <p:cNvPr id="92" name="TextBox 91"/>
          <p:cNvSpPr txBox="1"/>
          <p:nvPr/>
        </p:nvSpPr>
        <p:spPr>
          <a:xfrm>
            <a:off x="2834640" y="6441948"/>
            <a:ext cx="7543800" cy="256032"/>
          </a:xfrm>
          <a:prstGeom prst="rect">
            <a:avLst/>
          </a:prstGeom>
          <a:noFill/>
        </p:spPr>
        <p:txBody>
          <a:bodyPr wrap="square" lIns="18288" tIns="0" rIns="18288" bIns="0" anchor="ctr">
            <a:noAutofit/>
          </a:bodyPr>
          <a:lstStyle/>
          <a:p>
            <a:pPr algn="l">
              <a:lnSpc>
                <a:spcPct val="100000"/>
              </a:lnSpc>
              <a:spcBef>
                <a:spcPts val="0"/>
              </a:spcBef>
              <a:spcAft>
                <a:spcPts val="0"/>
              </a:spcAft>
            </a:pPr>
            <a:r>
              <a:rPr sz="590" b="0" i="0">
                <a:solidFill>
                  <a:srgbClr val="0A3B5E"/>
                </a:solidFill>
              </a:rPr>
              <a:t>RBAC v2: agent:*:invoke + workflow:*:invoke per role · Keycloak groups viewer / data_engineer / power_user · MCP access (Claude Code, Desktop App) is RBAC-filtered per user – same rules as in the WebUI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a:t>Event-Driven Retail Ops – from Checkout to Incident Report</a:t>
            </a:r>
          </a:p>
        </p:txBody>
      </p:sp>
      <p:sp>
        <p:nvSpPr>
          <p:cNvPr id="3" name="TextBox 2"/>
          <p:cNvSpPr txBox="1"/>
          <p:nvPr/>
        </p:nvSpPr>
        <p:spPr>
          <a:xfrm>
            <a:off x="548640" y="822960"/>
            <a:ext cx="7223760" cy="201168"/>
          </a:xfrm>
          <a:prstGeom prst="rect">
            <a:avLst/>
          </a:prstGeom>
          <a:noFill/>
        </p:spPr>
        <p:txBody>
          <a:bodyPr wrap="square" lIns="18288" tIns="0" rIns="18288" bIns="0" anchor="t">
            <a:noAutofit/>
          </a:bodyPr>
          <a:lstStyle/>
          <a:p>
            <a:pPr algn="l">
              <a:lnSpc>
                <a:spcPct val="100000"/>
              </a:lnSpc>
              <a:spcBef>
                <a:spcPts val="0"/>
              </a:spcBef>
              <a:spcAft>
                <a:spcPts val="0"/>
              </a:spcAft>
            </a:pPr>
            <a:r>
              <a:rPr sz="1050" b="0" i="1">
                <a:solidFill>
                  <a:srgbClr val="5A7486"/>
                </a:solidFill>
              </a:rPr>
              <a:t>A failed online order triggers a workflow through the event mesh – no polling, no glue code.</a:t>
            </a:r>
          </a:p>
        </p:txBody>
      </p:sp>
      <p:pic>
        <p:nvPicPr>
          <p:cNvPr id="4" name="Picture 3" descr="solace_green.png"/>
          <p:cNvPicPr>
            <a:picLocks noChangeAspect="1"/>
          </p:cNvPicPr>
          <p:nvPr/>
        </p:nvPicPr>
        <p:blipFill>
          <a:blip r:embed="rId3"/>
          <a:stretch>
            <a:fillRect/>
          </a:stretch>
        </p:blipFill>
        <p:spPr>
          <a:xfrm>
            <a:off x="9418320" y="914400"/>
            <a:ext cx="612983" cy="155448"/>
          </a:xfrm>
          <a:prstGeom prst="rect">
            <a:avLst/>
          </a:prstGeom>
        </p:spPr>
      </p:pic>
      <p:sp>
        <p:nvSpPr>
          <p:cNvPr id="5" name="TextBox 4"/>
          <p:cNvSpPr txBox="1"/>
          <p:nvPr/>
        </p:nvSpPr>
        <p:spPr>
          <a:xfrm>
            <a:off x="10077023" y="859536"/>
            <a:ext cx="1463040" cy="256032"/>
          </a:xfrm>
          <a:prstGeom prst="rect">
            <a:avLst/>
          </a:prstGeom>
          <a:noFill/>
        </p:spPr>
        <p:txBody>
          <a:bodyPr wrap="square" lIns="18288" tIns="0" rIns="18288" bIns="0" anchor="ctr">
            <a:noAutofit/>
          </a:bodyPr>
          <a:lstStyle/>
          <a:p>
            <a:pPr algn="l">
              <a:lnSpc>
                <a:spcPct val="100000"/>
              </a:lnSpc>
              <a:spcBef>
                <a:spcPts val="0"/>
              </a:spcBef>
              <a:spcAft>
                <a:spcPts val="0"/>
              </a:spcAft>
            </a:pPr>
            <a:r>
              <a:rPr sz="1100" b="1" i="0">
                <a:solidFill>
                  <a:srgbClr val="0A3B5E"/>
                </a:solidFill>
              </a:rPr>
              <a:t>Agent Mesh</a:t>
            </a:r>
          </a:p>
        </p:txBody>
      </p:sp>
      <p:sp>
        <p:nvSpPr>
          <p:cNvPr id="6" name="Rounded Rectangle 5"/>
          <p:cNvSpPr/>
          <p:nvPr/>
        </p:nvSpPr>
        <p:spPr>
          <a:xfrm>
            <a:off x="7818120" y="886968"/>
            <a:ext cx="1572768" cy="219456"/>
          </a:xfrm>
          <a:prstGeom prst="roundRect">
            <a:avLst>
              <a:gd name="adj" fmla="val 5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630" b="1" i="0">
                <a:solidFill>
                  <a:srgbClr val="0A3B5E"/>
                </a:solidFill>
              </a:rPr>
              <a:t>live-verified end-to-end</a:t>
            </a:r>
          </a:p>
        </p:txBody>
      </p:sp>
      <p:sp>
        <p:nvSpPr>
          <p:cNvPr id="7" name="Rounded Rectangle 6"/>
          <p:cNvSpPr/>
          <p:nvPr/>
        </p:nvSpPr>
        <p:spPr>
          <a:xfrm>
            <a:off x="320040" y="1234440"/>
            <a:ext cx="3017520" cy="932688"/>
          </a:xfrm>
          <a:prstGeom prst="roundRect">
            <a:avLst>
              <a:gd name="adj" fmla="val 10000"/>
            </a:avLst>
          </a:prstGeom>
          <a:solidFill>
            <a:srgbClr val="FFF7C2"/>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18288" rtlCol="0" anchor="ctr">
            <a:noAutofit/>
          </a:bodyPr>
          <a:lstStyle/>
          <a:p>
            <a:pPr algn="ctr">
              <a:lnSpc>
                <a:spcPct val="100000"/>
              </a:lnSpc>
              <a:spcBef>
                <a:spcPts val="0"/>
              </a:spcBef>
              <a:spcAft>
                <a:spcPts val="0"/>
              </a:spcAft>
            </a:pPr>
            <a:r>
              <a:rPr sz="600" b="1" i="0">
                <a:solidFill>
                  <a:srgbClr val="5A7486"/>
                </a:solidFill>
              </a:rPr>
              <a:t>Acme Online Shop (browser)</a:t>
            </a:r>
          </a:p>
          <a:p>
            <a:pPr algn="ctr">
              <a:lnSpc>
                <a:spcPct val="100000"/>
              </a:lnSpc>
              <a:spcBef>
                <a:spcPts val="0"/>
              </a:spcBef>
              <a:spcAft>
                <a:spcPts val="0"/>
              </a:spcAft>
            </a:pPr>
            <a:r>
              <a:rPr sz="730" b="0" i="1">
                <a:solidFill>
                  <a:srgbClr val="0A3B5E"/>
                </a:solidFill>
              </a:rPr>
              <a:t>solclientjs → ws://localhost:8008 · VPN sam · 5 real products – 2 succeed, 3 fail (stock 0, out-of-season, data quality)</a:t>
            </a:r>
          </a:p>
        </p:txBody>
      </p:sp>
      <p:sp>
        <p:nvSpPr>
          <p:cNvPr id="8" name="Rounded Rectangle 7"/>
          <p:cNvSpPr/>
          <p:nvPr/>
        </p:nvSpPr>
        <p:spPr>
          <a:xfrm>
            <a:off x="3657600" y="1298448"/>
            <a:ext cx="1554480" cy="804672"/>
          </a:xfrm>
          <a:prstGeom prst="roundRect">
            <a:avLst>
              <a:gd name="adj" fmla="val 10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1389888"/>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780" b="1" i="0">
                <a:solidFill>
                  <a:srgbClr val="0A3B5E"/>
                </a:solidFill>
              </a:rPr>
              <a:t>created orders</a:t>
            </a:r>
          </a:p>
        </p:txBody>
      </p:sp>
      <p:sp>
        <p:nvSpPr>
          <p:cNvPr id="10" name="TextBox 9"/>
          <p:cNvSpPr txBox="1"/>
          <p:nvPr/>
        </p:nvSpPr>
        <p:spPr>
          <a:xfrm>
            <a:off x="3657600" y="1563624"/>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 OMS confirmation</a:t>
            </a:r>
          </a:p>
        </p:txBody>
      </p:sp>
      <p:sp>
        <p:nvSpPr>
          <p:cNvPr id="11" name="Rounded Rectangle 10"/>
          <p:cNvSpPr/>
          <p:nvPr/>
        </p:nvSpPr>
        <p:spPr>
          <a:xfrm>
            <a:off x="5394960" y="1298448"/>
            <a:ext cx="1554480" cy="804672"/>
          </a:xfrm>
          <a:prstGeom prst="roundRect">
            <a:avLst>
              <a:gd name="adj" fmla="val 10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94960" y="1627632"/>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780" b="1" i="0">
                <a:solidFill>
                  <a:srgbClr val="0A3B5E"/>
                </a:solidFill>
              </a:rPr>
              <a:t>failed orders</a:t>
            </a:r>
          </a:p>
        </p:txBody>
      </p:sp>
      <p:sp>
        <p:nvSpPr>
          <p:cNvPr id="14" name="TextBox 13"/>
          <p:cNvSpPr txBox="1"/>
          <p:nvPr/>
        </p:nvSpPr>
        <p:spPr>
          <a:xfrm>
            <a:off x="5394960" y="1801368"/>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 incident workflow</a:t>
            </a:r>
          </a:p>
        </p:txBody>
      </p:sp>
      <p:sp>
        <p:nvSpPr>
          <p:cNvPr id="15" name="Rounded Rectangle 14"/>
          <p:cNvSpPr/>
          <p:nvPr/>
        </p:nvSpPr>
        <p:spPr>
          <a:xfrm>
            <a:off x="6528816" y="1225296"/>
            <a:ext cx="475488" cy="155448"/>
          </a:xfrm>
          <a:prstGeom prst="roundRect">
            <a:avLst>
              <a:gd name="adj" fmla="val 5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600" b="1" i="0">
                <a:solidFill>
                  <a:srgbClr val="0A3B5E"/>
                </a:solidFill>
              </a:rPr>
              <a:t>topic</a:t>
            </a:r>
          </a:p>
        </p:txBody>
      </p:sp>
      <p:sp>
        <p:nvSpPr>
          <p:cNvPr id="16" name="Rounded Rectangle 15"/>
          <p:cNvSpPr/>
          <p:nvPr/>
        </p:nvSpPr>
        <p:spPr>
          <a:xfrm>
            <a:off x="7132320" y="1298448"/>
            <a:ext cx="1554480" cy="804672"/>
          </a:xfrm>
          <a:prstGeom prst="roundRect">
            <a:avLst>
              <a:gd name="adj" fmla="val 10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132320" y="1627632"/>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780" b="1" i="0">
                <a:solidFill>
                  <a:srgbClr val="0A3B5E"/>
                </a:solidFill>
              </a:rPr>
              <a:t>response events</a:t>
            </a:r>
          </a:p>
        </p:txBody>
      </p:sp>
      <p:sp>
        <p:nvSpPr>
          <p:cNvPr id="19" name="TextBox 18"/>
          <p:cNvSpPr txBox="1"/>
          <p:nvPr/>
        </p:nvSpPr>
        <p:spPr>
          <a:xfrm>
            <a:off x="7132320" y="1801368"/>
            <a:ext cx="1554480" cy="182880"/>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result/&gt; back to shop</a:t>
            </a:r>
          </a:p>
        </p:txBody>
      </p:sp>
      <p:sp>
        <p:nvSpPr>
          <p:cNvPr id="20" name="Rounded Rectangle 19"/>
          <p:cNvSpPr/>
          <p:nvPr/>
        </p:nvSpPr>
        <p:spPr>
          <a:xfrm>
            <a:off x="8266175" y="1225296"/>
            <a:ext cx="475488" cy="155448"/>
          </a:xfrm>
          <a:prstGeom prst="roundRect">
            <a:avLst>
              <a:gd name="adj" fmla="val 5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600" b="1" i="0">
                <a:solidFill>
                  <a:srgbClr val="0A3B5E"/>
                </a:solidFill>
              </a:rPr>
              <a:t>topic</a:t>
            </a:r>
          </a:p>
        </p:txBody>
      </p:sp>
      <p:cxnSp>
        <p:nvCxnSpPr>
          <p:cNvPr id="21" name="Connector 20"/>
          <p:cNvCxnSpPr/>
          <p:nvPr/>
        </p:nvCxnSpPr>
        <p:spPr>
          <a:xfrm>
            <a:off x="3337560" y="1700784"/>
            <a:ext cx="320040"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orchestrator"/>
          <p:cNvSpPr/>
          <p:nvPr/>
        </p:nvSpPr>
        <p:spPr>
          <a:xfrm>
            <a:off x="5440680" y="2304288"/>
            <a:ext cx="1645920" cy="512064"/>
          </a:xfrm>
          <a:prstGeom prst="roundRect">
            <a:avLst>
              <a:gd name="adj" fmla="val 10000"/>
            </a:avLst>
          </a:prstGeom>
          <a:solidFill>
            <a:srgbClr val="FFFFFF"/>
          </a:solidFill>
          <a:ln w="15240">
            <a:solidFill>
              <a:srgbClr val="0A3B5E"/>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850" b="1" i="0">
                <a:solidFill>
                  <a:srgbClr val="0A3B5E"/>
                </a:solidFill>
              </a:rPr>
              <a:t>Event-Mesh-Entrypoint</a:t>
            </a:r>
          </a:p>
          <a:p>
            <a:pPr algn="ctr">
              <a:lnSpc>
                <a:spcPct val="100000"/>
              </a:lnSpc>
              <a:spcBef>
                <a:spcPts val="0"/>
              </a:spcBef>
              <a:spcAft>
                <a:spcPts val="0"/>
              </a:spcAft>
            </a:pPr>
            <a:r>
              <a:rPr sz="620" b="0" i="0">
                <a:solidFill>
                  <a:srgbClr val="0A3B5E"/>
                </a:solidFill>
              </a:rPr>
              <a:t>shop-events · qos 1 · ack on completion</a:t>
            </a:r>
          </a:p>
        </p:txBody>
      </p:sp>
      <p:cxnSp>
        <p:nvCxnSpPr>
          <p:cNvPr id="23" name="Connector 22"/>
          <p:cNvCxnSpPr/>
          <p:nvPr/>
        </p:nvCxnSpPr>
        <p:spPr>
          <a:xfrm>
            <a:off x="4434840" y="2103120"/>
            <a:ext cx="1371600" cy="201168"/>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263640" y="2103120"/>
            <a:ext cx="0" cy="201168"/>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720840" y="2103120"/>
            <a:ext cx="1188720" cy="201168"/>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workflow"/>
          <p:cNvSpPr/>
          <p:nvPr/>
        </p:nvSpPr>
        <p:spPr>
          <a:xfrm>
            <a:off x="822960" y="2944368"/>
            <a:ext cx="10515600" cy="2286000"/>
          </a:xfrm>
          <a:prstGeom prst="roundRect">
            <a:avLst>
              <a:gd name="adj" fmla="val 5000"/>
            </a:avLst>
          </a:prstGeom>
          <a:solidFill>
            <a:srgbClr val="E9FBE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69264" y="2999232"/>
            <a:ext cx="3108960"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Workflow: order-incident-report (event-triggered)</a:t>
            </a:r>
          </a:p>
        </p:txBody>
      </p:sp>
      <p:sp>
        <p:nvSpPr>
          <p:cNvPr id="28" name="Rounded Rectangle 27"/>
          <p:cNvSpPr/>
          <p:nvPr/>
        </p:nvSpPr>
        <p:spPr>
          <a:xfrm>
            <a:off x="2286000" y="4773168"/>
            <a:ext cx="2057400" cy="384048"/>
          </a:xfrm>
          <a:prstGeom prst="roundRect">
            <a:avLst>
              <a:gd name="adj" fmla="val 14000"/>
            </a:avLst>
          </a:prstGeom>
          <a:solidFill>
            <a:srgbClr val="FFFFFF"/>
          </a:solidFill>
          <a:ln w="11430">
            <a:solidFill>
              <a:srgbClr val="00C89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noAutofit/>
          </a:bodyPr>
          <a:lstStyle/>
          <a:p>
            <a:pPr algn="ctr">
              <a:lnSpc>
                <a:spcPct val="100000"/>
              </a:lnSpc>
              <a:spcBef>
                <a:spcPts val="0"/>
              </a:spcBef>
              <a:spcAft>
                <a:spcPts val="0"/>
              </a:spcAft>
            </a:pPr>
            <a:r>
              <a:rPr sz="620" b="1" i="0">
                <a:solidFill>
                  <a:srgbClr val="0A3B5E"/>
                </a:solidFill>
              </a:rPr>
              <a:t>parallel fan-out · fail_fast: false</a:t>
            </a:r>
          </a:p>
          <a:p>
            <a:pPr algn="ctr">
              <a:lnSpc>
                <a:spcPct val="100000"/>
              </a:lnSpc>
              <a:spcBef>
                <a:spcPts val="0"/>
              </a:spcBef>
              <a:spcAft>
                <a:spcPts val="0"/>
              </a:spcAft>
            </a:pPr>
            <a:r>
              <a:rPr sz="590" b="0" i="0">
                <a:solidFill>
                  <a:srgbClr val="0A3B5E"/>
                </a:solidFill>
              </a:rPr>
              <a:t>POS section degrades gracefully until the Builder creates the agent</a:t>
            </a:r>
          </a:p>
        </p:txBody>
      </p:sp>
      <p:pic>
        <p:nvPicPr>
          <p:cNvPr id="29" name="Picture 28" descr="claude.png"/>
          <p:cNvPicPr>
            <a:picLocks noChangeAspect="1"/>
          </p:cNvPicPr>
          <p:nvPr/>
        </p:nvPicPr>
        <p:blipFill>
          <a:blip r:embed="rId4"/>
          <a:stretch>
            <a:fillRect/>
          </a:stretch>
        </p:blipFill>
        <p:spPr>
          <a:xfrm>
            <a:off x="8339327" y="3031236"/>
            <a:ext cx="118872" cy="118872"/>
          </a:xfrm>
          <a:prstGeom prst="rect">
            <a:avLst/>
          </a:prstGeom>
        </p:spPr>
      </p:pic>
      <p:sp>
        <p:nvSpPr>
          <p:cNvPr id="30" name="TextBox 29"/>
          <p:cNvSpPr txBox="1"/>
          <p:nvPr/>
        </p:nvSpPr>
        <p:spPr>
          <a:xfrm>
            <a:off x="8494776" y="3017520"/>
            <a:ext cx="2788920"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agents: model alias general · Retail POS Analyst is built LIVE in the AI Builder</a:t>
            </a:r>
          </a:p>
        </p:txBody>
      </p:sp>
      <p:cxnSp>
        <p:nvCxnSpPr>
          <p:cNvPr id="31" name="Connector 30"/>
          <p:cNvCxnSpPr/>
          <p:nvPr/>
        </p:nvCxnSpPr>
        <p:spPr>
          <a:xfrm>
            <a:off x="6263640" y="2816352"/>
            <a:ext cx="0" cy="347472"/>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208776" y="3163824"/>
            <a:ext cx="109728" cy="109728"/>
          </a:xfrm>
          <a:prstGeom prst="ellipse">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1097280" y="3383280"/>
            <a:ext cx="2468880" cy="82296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52144" y="3429000"/>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Retail OMS Query Expert</a:t>
            </a:r>
          </a:p>
        </p:txBody>
      </p:sp>
      <p:sp>
        <p:nvSpPr>
          <p:cNvPr id="35" name="TextBox 34"/>
          <p:cNvSpPr txBox="1"/>
          <p:nvPr/>
        </p:nvSpPr>
        <p:spPr>
          <a:xfrm>
            <a:off x="1152144" y="3602736"/>
            <a:ext cx="2359152" cy="14630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Order context (retail_oms)</a:t>
            </a:r>
          </a:p>
        </p:txBody>
      </p:sp>
      <p:sp>
        <p:nvSpPr>
          <p:cNvPr id="36" name="TextBox 35"/>
          <p:cNvSpPr txBox="1"/>
          <p:nvPr/>
        </p:nvSpPr>
        <p:spPr>
          <a:xfrm>
            <a:off x="1152144" y="3749040"/>
            <a:ext cx="2359152" cy="42062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customer + product history · anything unusual about the order?</a:t>
            </a:r>
          </a:p>
        </p:txBody>
      </p:sp>
      <p:sp>
        <p:nvSpPr>
          <p:cNvPr id="37" name="Rounded Rectangle 36"/>
          <p:cNvSpPr/>
          <p:nvPr/>
        </p:nvSpPr>
        <p:spPr>
          <a:xfrm>
            <a:off x="2944368" y="3424428"/>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claude.png"/>
          <p:cNvPicPr>
            <a:picLocks noChangeAspect="1"/>
          </p:cNvPicPr>
          <p:nvPr/>
        </p:nvPicPr>
        <p:blipFill>
          <a:blip r:embed="rId4"/>
          <a:stretch>
            <a:fillRect/>
          </a:stretch>
        </p:blipFill>
        <p:spPr>
          <a:xfrm>
            <a:off x="2971800" y="3442716"/>
            <a:ext cx="118872" cy="118872"/>
          </a:xfrm>
          <a:prstGeom prst="rect">
            <a:avLst/>
          </a:prstGeom>
        </p:spPr>
      </p:pic>
      <p:sp>
        <p:nvSpPr>
          <p:cNvPr id="39" name="TextBox 38"/>
          <p:cNvSpPr txBox="1"/>
          <p:nvPr/>
        </p:nvSpPr>
        <p:spPr>
          <a:xfrm>
            <a:off x="3118104" y="3424428"/>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sp>
        <p:nvSpPr>
          <p:cNvPr id="40" name="Rounded Rectangle 39"/>
          <p:cNvSpPr/>
          <p:nvPr/>
        </p:nvSpPr>
        <p:spPr>
          <a:xfrm>
            <a:off x="4526280" y="3383280"/>
            <a:ext cx="2468880" cy="82296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81144" y="3429000"/>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Retail PDM Query Expert</a:t>
            </a:r>
          </a:p>
        </p:txBody>
      </p:sp>
      <p:sp>
        <p:nvSpPr>
          <p:cNvPr id="42" name="TextBox 41"/>
          <p:cNvSpPr txBox="1"/>
          <p:nvPr/>
        </p:nvSpPr>
        <p:spPr>
          <a:xfrm>
            <a:off x="4581144" y="3602736"/>
            <a:ext cx="2359152" cy="14630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Product master (retail_pdm)</a:t>
            </a:r>
          </a:p>
        </p:txBody>
      </p:sp>
      <p:sp>
        <p:nvSpPr>
          <p:cNvPr id="43" name="TextBox 42"/>
          <p:cNvSpPr txBox="1"/>
          <p:nvPr/>
        </p:nvSpPr>
        <p:spPr>
          <a:xfrm>
            <a:off x="4581144" y="3749040"/>
            <a:ext cx="2359152" cy="42062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stock, inventory_status, seasonality, margin vs. the failure reason</a:t>
            </a:r>
          </a:p>
        </p:txBody>
      </p:sp>
      <p:sp>
        <p:nvSpPr>
          <p:cNvPr id="44" name="Rounded Rectangle 43"/>
          <p:cNvSpPr/>
          <p:nvPr/>
        </p:nvSpPr>
        <p:spPr>
          <a:xfrm>
            <a:off x="6373368" y="3424428"/>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5" name="Picture 44" descr="claude.png"/>
          <p:cNvPicPr>
            <a:picLocks noChangeAspect="1"/>
          </p:cNvPicPr>
          <p:nvPr/>
        </p:nvPicPr>
        <p:blipFill>
          <a:blip r:embed="rId4"/>
          <a:stretch>
            <a:fillRect/>
          </a:stretch>
        </p:blipFill>
        <p:spPr>
          <a:xfrm>
            <a:off x="6400800" y="3442716"/>
            <a:ext cx="118872" cy="118872"/>
          </a:xfrm>
          <a:prstGeom prst="rect">
            <a:avLst/>
          </a:prstGeom>
        </p:spPr>
      </p:pic>
      <p:sp>
        <p:nvSpPr>
          <p:cNvPr id="46" name="TextBox 45"/>
          <p:cNvSpPr txBox="1"/>
          <p:nvPr/>
        </p:nvSpPr>
        <p:spPr>
          <a:xfrm>
            <a:off x="6547104" y="3424428"/>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sp>
        <p:nvSpPr>
          <p:cNvPr id="47" name="Rounded Rectangle 46"/>
          <p:cNvSpPr/>
          <p:nvPr/>
        </p:nvSpPr>
        <p:spPr>
          <a:xfrm>
            <a:off x="7955279" y="3383280"/>
            <a:ext cx="2468880" cy="82296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010144" y="3429000"/>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Retail POS Analyst (NEW)</a:t>
            </a:r>
          </a:p>
        </p:txBody>
      </p:sp>
      <p:sp>
        <p:nvSpPr>
          <p:cNvPr id="49" name="TextBox 48"/>
          <p:cNvSpPr txBox="1"/>
          <p:nvPr/>
        </p:nvSpPr>
        <p:spPr>
          <a:xfrm>
            <a:off x="8010144" y="3602736"/>
            <a:ext cx="2359152" cy="14630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POSLOG · MongoDB (Experimental)</a:t>
            </a:r>
          </a:p>
        </p:txBody>
      </p:sp>
      <p:sp>
        <p:nvSpPr>
          <p:cNvPr id="50" name="TextBox 49"/>
          <p:cNvSpPr txBox="1"/>
          <p:nvPr/>
        </p:nvSpPr>
        <p:spPr>
          <a:xfrm>
            <a:off x="8010144" y="3749040"/>
            <a:ext cx="2359152" cy="420624"/>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in-store reality: register sales, voids, fractional bulk quantities</a:t>
            </a:r>
          </a:p>
        </p:txBody>
      </p:sp>
      <p:sp>
        <p:nvSpPr>
          <p:cNvPr id="51" name="Rounded Rectangle 50"/>
          <p:cNvSpPr/>
          <p:nvPr/>
        </p:nvSpPr>
        <p:spPr>
          <a:xfrm>
            <a:off x="9802367" y="3424428"/>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laude.png"/>
          <p:cNvPicPr>
            <a:picLocks noChangeAspect="1"/>
          </p:cNvPicPr>
          <p:nvPr/>
        </p:nvPicPr>
        <p:blipFill>
          <a:blip r:embed="rId4"/>
          <a:stretch>
            <a:fillRect/>
          </a:stretch>
        </p:blipFill>
        <p:spPr>
          <a:xfrm>
            <a:off x="9829799" y="3442716"/>
            <a:ext cx="118872" cy="118872"/>
          </a:xfrm>
          <a:prstGeom prst="rect">
            <a:avLst/>
          </a:prstGeom>
        </p:spPr>
      </p:pic>
      <p:sp>
        <p:nvSpPr>
          <p:cNvPr id="53" name="TextBox 52"/>
          <p:cNvSpPr txBox="1"/>
          <p:nvPr/>
        </p:nvSpPr>
        <p:spPr>
          <a:xfrm>
            <a:off x="9976103" y="3424428"/>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cxnSp>
        <p:nvCxnSpPr>
          <p:cNvPr id="54" name="Connector 53"/>
          <p:cNvCxnSpPr/>
          <p:nvPr/>
        </p:nvCxnSpPr>
        <p:spPr>
          <a:xfrm flipH="1">
            <a:off x="2331720" y="3218688"/>
            <a:ext cx="3931920" cy="164592"/>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5760720" y="3273552"/>
            <a:ext cx="502920" cy="109728"/>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263640" y="3218688"/>
            <a:ext cx="2926080" cy="164592"/>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7" name="reporter"/>
          <p:cNvSpPr/>
          <p:nvPr/>
        </p:nvSpPr>
        <p:spPr>
          <a:xfrm>
            <a:off x="4434840" y="4498848"/>
            <a:ext cx="2377440" cy="640080"/>
          </a:xfrm>
          <a:prstGeom prst="roundRect">
            <a:avLst>
              <a:gd name="adj" fmla="val 8000"/>
            </a:avLst>
          </a:prstGeom>
          <a:solidFill>
            <a:srgbClr val="FFFFFF"/>
          </a:solidFill>
          <a:ln w="1524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89704" y="4535424"/>
            <a:ext cx="178308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Order Incident Reporter – merge</a:t>
            </a:r>
          </a:p>
        </p:txBody>
      </p:sp>
      <p:sp>
        <p:nvSpPr>
          <p:cNvPr id="59" name="TextBox 58"/>
          <p:cNvSpPr txBox="1"/>
          <p:nvPr/>
        </p:nvSpPr>
        <p:spPr>
          <a:xfrm>
            <a:off x="4489704" y="4700016"/>
            <a:ext cx="2267712" cy="402336"/>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Severity · root cause · recommendation</a:t>
            </a:r>
          </a:p>
          <a:p>
            <a:pPr algn="l">
              <a:lnSpc>
                <a:spcPct val="100000"/>
              </a:lnSpc>
              <a:spcBef>
                <a:spcPts val="0"/>
              </a:spcBef>
              <a:spcAft>
                <a:spcPts val="0"/>
              </a:spcAft>
            </a:pPr>
            <a:r>
              <a:rPr sz="620" b="0" i="0">
                <a:solidFill>
                  <a:srgbClr val="0A3B5E"/>
                </a:solidFill>
              </a:rPr>
              <a:t>artifact incident-&lt;order_id&gt;.md</a:t>
            </a:r>
          </a:p>
        </p:txBody>
      </p:sp>
      <p:sp>
        <p:nvSpPr>
          <p:cNvPr id="60" name="Rounded Rectangle 59"/>
          <p:cNvSpPr/>
          <p:nvPr/>
        </p:nvSpPr>
        <p:spPr>
          <a:xfrm>
            <a:off x="6208776" y="4539996"/>
            <a:ext cx="566928" cy="164592"/>
          </a:xfrm>
          <a:prstGeom prst="roundRect">
            <a:avLst>
              <a:gd name="adj" fmla="val 50000"/>
            </a:avLst>
          </a:prstGeom>
          <a:solidFill>
            <a:srgbClr val="E9FBEF"/>
          </a:solidFill>
          <a:ln w="9525">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1" name="Picture 60" descr="claude.png"/>
          <p:cNvPicPr>
            <a:picLocks noChangeAspect="1"/>
          </p:cNvPicPr>
          <p:nvPr/>
        </p:nvPicPr>
        <p:blipFill>
          <a:blip r:embed="rId4"/>
          <a:stretch>
            <a:fillRect/>
          </a:stretch>
        </p:blipFill>
        <p:spPr>
          <a:xfrm>
            <a:off x="6236208" y="4558284"/>
            <a:ext cx="118872" cy="118872"/>
          </a:xfrm>
          <a:prstGeom prst="rect">
            <a:avLst/>
          </a:prstGeom>
        </p:spPr>
      </p:pic>
      <p:sp>
        <p:nvSpPr>
          <p:cNvPr id="62" name="TextBox 61"/>
          <p:cNvSpPr txBox="1"/>
          <p:nvPr/>
        </p:nvSpPr>
        <p:spPr>
          <a:xfrm>
            <a:off x="6382512" y="4539996"/>
            <a:ext cx="402336" cy="164592"/>
          </a:xfrm>
          <a:prstGeom prst="rect">
            <a:avLst/>
          </a:prstGeom>
          <a:noFill/>
        </p:spPr>
        <p:txBody>
          <a:bodyPr wrap="square" lIns="18288" tIns="0" rIns="18288" bIns="0" anchor="ctr">
            <a:noAutofit/>
          </a:bodyPr>
          <a:lstStyle/>
          <a:p>
            <a:pPr algn="l">
              <a:lnSpc>
                <a:spcPct val="100000"/>
              </a:lnSpc>
              <a:spcBef>
                <a:spcPts val="0"/>
              </a:spcBef>
              <a:spcAft>
                <a:spcPts val="0"/>
              </a:spcAft>
            </a:pPr>
            <a:r>
              <a:rPr sz="560" b="0" i="0">
                <a:solidFill>
                  <a:srgbClr val="0A3B5E"/>
                </a:solidFill>
              </a:rPr>
              <a:t>general</a:t>
            </a:r>
          </a:p>
        </p:txBody>
      </p:sp>
      <p:cxnSp>
        <p:nvCxnSpPr>
          <p:cNvPr id="63" name="Connector 62"/>
          <p:cNvCxnSpPr/>
          <p:nvPr/>
        </p:nvCxnSpPr>
        <p:spPr>
          <a:xfrm>
            <a:off x="2834640" y="4206240"/>
            <a:ext cx="1600200" cy="411480"/>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623560" y="4206240"/>
            <a:ext cx="0" cy="292608"/>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6812280" y="4206240"/>
            <a:ext cx="1965960" cy="384048"/>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8778240" y="4498848"/>
            <a:ext cx="2487168" cy="640080"/>
          </a:xfrm>
          <a:prstGeom prst="roundRect">
            <a:avLst>
              <a:gd name="adj" fmla="val 8000"/>
            </a:avLst>
          </a:prstGeom>
          <a:solidFill>
            <a:srgbClr val="FFF7C2"/>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Picture 66" descr="seaweedfs.png"/>
          <p:cNvPicPr>
            <a:picLocks noChangeAspect="1"/>
          </p:cNvPicPr>
          <p:nvPr/>
        </p:nvPicPr>
        <p:blipFill>
          <a:blip r:embed="rId5"/>
          <a:stretch>
            <a:fillRect/>
          </a:stretch>
        </p:blipFill>
        <p:spPr>
          <a:xfrm>
            <a:off x="8869680" y="4791456"/>
            <a:ext cx="237744" cy="237744"/>
          </a:xfrm>
          <a:prstGeom prst="rect">
            <a:avLst/>
          </a:prstGeom>
        </p:spPr>
      </p:pic>
      <p:sp>
        <p:nvSpPr>
          <p:cNvPr id="68" name="TextBox 67"/>
          <p:cNvSpPr txBox="1"/>
          <p:nvPr/>
        </p:nvSpPr>
        <p:spPr>
          <a:xfrm>
            <a:off x="8851392" y="4535424"/>
            <a:ext cx="2377440" cy="164592"/>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Incident report + response event</a:t>
            </a:r>
          </a:p>
        </p:txBody>
      </p:sp>
      <p:sp>
        <p:nvSpPr>
          <p:cNvPr id="69" name="TextBox 68"/>
          <p:cNvSpPr txBox="1"/>
          <p:nvPr/>
        </p:nvSpPr>
        <p:spPr>
          <a:xfrm>
            <a:off x="9180576" y="4718304"/>
            <a:ext cx="2011680" cy="402336"/>
          </a:xfrm>
          <a:prstGeom prst="rect">
            <a:avLst/>
          </a:prstGeom>
          <a:noFill/>
        </p:spPr>
        <p:txBody>
          <a:bodyPr wrap="square" lIns="18288" tIns="0" rIns="18288" bIns="0" anchor="t">
            <a:noAutofit/>
          </a:bodyPr>
          <a:lstStyle/>
          <a:p>
            <a:pPr algn="l">
              <a:lnSpc>
                <a:spcPct val="100000"/>
              </a:lnSpc>
              <a:spcBef>
                <a:spcPts val="0"/>
              </a:spcBef>
              <a:spcAft>
                <a:spcPts val="0"/>
              </a:spcAft>
            </a:pPr>
            <a:r>
              <a:rPr sz="620" b="0" i="0">
                <a:solidFill>
                  <a:srgbClr val="0A3B5E"/>
                </a:solidFill>
              </a:rPr>
              <a:t>artifact (SeaweedFS) · result topic to the shop · OMS team: SAM UI · devs: Claude Code (MCP)</a:t>
            </a:r>
          </a:p>
        </p:txBody>
      </p:sp>
      <p:cxnSp>
        <p:nvCxnSpPr>
          <p:cNvPr id="70" name="Connector 69"/>
          <p:cNvCxnSpPr/>
          <p:nvPr/>
        </p:nvCxnSpPr>
        <p:spPr>
          <a:xfrm>
            <a:off x="6812280" y="4818888"/>
            <a:ext cx="1965960" cy="0"/>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1" name="data-zone"/>
          <p:cNvSpPr/>
          <p:nvPr/>
        </p:nvSpPr>
        <p:spPr>
          <a:xfrm>
            <a:off x="320040" y="5358384"/>
            <a:ext cx="11686032" cy="1024128"/>
          </a:xfrm>
          <a:prstGeom prst="roundRect">
            <a:avLst>
              <a:gd name="adj" fmla="val 5000"/>
            </a:avLst>
          </a:prstGeom>
          <a:solidFill>
            <a:srgbClr val="E9EFF3"/>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57200" y="5394960"/>
            <a:ext cx="3291840" cy="219456"/>
          </a:xfrm>
          <a:prstGeom prst="rect">
            <a:avLst/>
          </a:prstGeom>
          <a:noFill/>
        </p:spPr>
        <p:txBody>
          <a:bodyPr wrap="square" lIns="18288" tIns="0" rIns="18288" bIns="0" anchor="t">
            <a:noAutofit/>
          </a:bodyPr>
          <a:lstStyle/>
          <a:p>
            <a:pPr algn="l">
              <a:lnSpc>
                <a:spcPct val="100000"/>
              </a:lnSpc>
              <a:spcBef>
                <a:spcPts val="0"/>
              </a:spcBef>
              <a:spcAft>
                <a:spcPts val="0"/>
              </a:spcAft>
            </a:pPr>
            <a:r>
              <a:rPr sz="850" b="1" i="0">
                <a:solidFill>
                  <a:srgbClr val="0A3B5E"/>
                </a:solidFill>
              </a:rPr>
              <a:t>Connectors + Data (sql/postgres + document_db/mongodb)</a:t>
            </a:r>
          </a:p>
        </p:txBody>
      </p:sp>
      <p:sp>
        <p:nvSpPr>
          <p:cNvPr id="73" name="TextBox 72"/>
          <p:cNvSpPr txBox="1"/>
          <p:nvPr/>
        </p:nvSpPr>
        <p:spPr>
          <a:xfrm>
            <a:off x="3931920" y="5390388"/>
            <a:ext cx="2788920"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1">
                <a:solidFill>
                  <a:srgbClr val="0A3B5E"/>
                </a:solidFill>
              </a:rPr>
              <a:t>created orders get a short OMS confirmation – every outcome returns as an event to the browser</a:t>
            </a:r>
          </a:p>
        </p:txBody>
      </p:sp>
      <p:sp>
        <p:nvSpPr>
          <p:cNvPr id="74" name="TextBox 73"/>
          <p:cNvSpPr txBox="1"/>
          <p:nvPr/>
        </p:nvSpPr>
        <p:spPr>
          <a:xfrm>
            <a:off x="8503920" y="5390388"/>
            <a:ext cx="3383280"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1">
                <a:solidFill>
                  <a:srgbClr val="0A3B5E"/>
                </a:solidFill>
              </a:rPr>
              <a:t>MongoDB retail_pos runs as a host container – POSLOG receipts matching the retail data</a:t>
            </a:r>
          </a:p>
        </p:txBody>
      </p:sp>
      <p:sp>
        <p:nvSpPr>
          <p:cNvPr id="75" name="Can 74"/>
          <p:cNvSpPr/>
          <p:nvPr/>
        </p:nvSpPr>
        <p:spPr>
          <a:xfrm>
            <a:off x="1097280" y="5705856"/>
            <a:ext cx="2468880" cy="621792"/>
          </a:xfrm>
          <a:prstGeom prst="can">
            <a:avLst>
              <a:gd name="adj" fmla="val 16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6" name="Picture 75" descr="postgresql.png"/>
          <p:cNvPicPr>
            <a:picLocks noChangeAspect="1"/>
          </p:cNvPicPr>
          <p:nvPr/>
        </p:nvPicPr>
        <p:blipFill>
          <a:blip r:embed="rId6"/>
          <a:stretch>
            <a:fillRect/>
          </a:stretch>
        </p:blipFill>
        <p:spPr>
          <a:xfrm>
            <a:off x="1170432" y="5870448"/>
            <a:ext cx="266283" cy="274320"/>
          </a:xfrm>
          <a:prstGeom prst="rect">
            <a:avLst/>
          </a:prstGeom>
        </p:spPr>
      </p:pic>
      <p:sp>
        <p:nvSpPr>
          <p:cNvPr id="77" name="TextBox 76"/>
          <p:cNvSpPr txBox="1"/>
          <p:nvPr/>
        </p:nvSpPr>
        <p:spPr>
          <a:xfrm>
            <a:off x="1499616" y="5792724"/>
            <a:ext cx="2048256"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660" b="1" i="0">
                <a:solidFill>
                  <a:srgbClr val="0A3B5E"/>
                </a:solidFill>
              </a:rPr>
              <a:t>Connector retail-oms  →  DB retail_oms</a:t>
            </a:r>
          </a:p>
        </p:txBody>
      </p:sp>
      <p:sp>
        <p:nvSpPr>
          <p:cNvPr id="78" name="TextBox 77"/>
          <p:cNvSpPr txBox="1"/>
          <p:nvPr/>
        </p:nvSpPr>
        <p:spPr>
          <a:xfrm>
            <a:off x="1499616" y="5984748"/>
            <a:ext cx="2048256"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orders (line-item grain), stores, payments</a:t>
            </a:r>
          </a:p>
        </p:txBody>
      </p:sp>
      <p:sp>
        <p:nvSpPr>
          <p:cNvPr id="79" name="Can 78"/>
          <p:cNvSpPr/>
          <p:nvPr/>
        </p:nvSpPr>
        <p:spPr>
          <a:xfrm>
            <a:off x="4526280" y="5705856"/>
            <a:ext cx="2468880" cy="621792"/>
          </a:xfrm>
          <a:prstGeom prst="can">
            <a:avLst>
              <a:gd name="adj" fmla="val 16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0" name="Picture 79" descr="postgresql.png"/>
          <p:cNvPicPr>
            <a:picLocks noChangeAspect="1"/>
          </p:cNvPicPr>
          <p:nvPr/>
        </p:nvPicPr>
        <p:blipFill>
          <a:blip r:embed="rId6"/>
          <a:stretch>
            <a:fillRect/>
          </a:stretch>
        </p:blipFill>
        <p:spPr>
          <a:xfrm>
            <a:off x="4599432" y="5870448"/>
            <a:ext cx="266283" cy="274320"/>
          </a:xfrm>
          <a:prstGeom prst="rect">
            <a:avLst/>
          </a:prstGeom>
        </p:spPr>
      </p:pic>
      <p:sp>
        <p:nvSpPr>
          <p:cNvPr id="81" name="TextBox 80"/>
          <p:cNvSpPr txBox="1"/>
          <p:nvPr/>
        </p:nvSpPr>
        <p:spPr>
          <a:xfrm>
            <a:off x="4928616" y="5792724"/>
            <a:ext cx="2048256"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660" b="1" i="0">
                <a:solidFill>
                  <a:srgbClr val="0A3B5E"/>
                </a:solidFill>
              </a:rPr>
              <a:t>Connector retail-pdm  →  DB retail_pdm</a:t>
            </a:r>
          </a:p>
        </p:txBody>
      </p:sp>
      <p:sp>
        <p:nvSpPr>
          <p:cNvPr id="82" name="TextBox 81"/>
          <p:cNvSpPr txBox="1"/>
          <p:nvPr/>
        </p:nvSpPr>
        <p:spPr>
          <a:xfrm>
            <a:off x="4928616" y="5984748"/>
            <a:ext cx="2048256"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products, inventory status, seasonality, margins</a:t>
            </a:r>
          </a:p>
        </p:txBody>
      </p:sp>
      <p:sp>
        <p:nvSpPr>
          <p:cNvPr id="83" name="Can 82"/>
          <p:cNvSpPr/>
          <p:nvPr/>
        </p:nvSpPr>
        <p:spPr>
          <a:xfrm>
            <a:off x="7955279" y="5705856"/>
            <a:ext cx="2468880" cy="621792"/>
          </a:xfrm>
          <a:prstGeom prst="can">
            <a:avLst>
              <a:gd name="adj" fmla="val 16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4" name="Picture 83" descr="postgresql.png"/>
          <p:cNvPicPr>
            <a:picLocks noChangeAspect="1"/>
          </p:cNvPicPr>
          <p:nvPr/>
        </p:nvPicPr>
        <p:blipFill>
          <a:blip r:embed="rId6"/>
          <a:stretch>
            <a:fillRect/>
          </a:stretch>
        </p:blipFill>
        <p:spPr>
          <a:xfrm>
            <a:off x="8028431" y="5870448"/>
            <a:ext cx="266283" cy="274320"/>
          </a:xfrm>
          <a:prstGeom prst="rect">
            <a:avLst/>
          </a:prstGeom>
        </p:spPr>
      </p:pic>
      <p:sp>
        <p:nvSpPr>
          <p:cNvPr id="85" name="TextBox 84"/>
          <p:cNvSpPr txBox="1"/>
          <p:nvPr/>
        </p:nvSpPr>
        <p:spPr>
          <a:xfrm>
            <a:off x="8357615" y="5792724"/>
            <a:ext cx="2048256" cy="292608"/>
          </a:xfrm>
          <a:prstGeom prst="rect">
            <a:avLst/>
          </a:prstGeom>
          <a:noFill/>
        </p:spPr>
        <p:txBody>
          <a:bodyPr wrap="square" lIns="18288" tIns="0" rIns="18288" bIns="0" anchor="t">
            <a:noAutofit/>
          </a:bodyPr>
          <a:lstStyle/>
          <a:p>
            <a:pPr algn="l">
              <a:lnSpc>
                <a:spcPct val="100000"/>
              </a:lnSpc>
              <a:spcBef>
                <a:spcPts val="0"/>
              </a:spcBef>
              <a:spcAft>
                <a:spcPts val="0"/>
              </a:spcAft>
            </a:pPr>
            <a:r>
              <a:rPr sz="660" b="1" i="0">
                <a:solidFill>
                  <a:srgbClr val="0A3B5E"/>
                </a:solidFill>
              </a:rPr>
              <a:t>Connector retail-poslog  →  MongoDB retail_pos</a:t>
            </a:r>
          </a:p>
        </p:txBody>
      </p:sp>
      <p:sp>
        <p:nvSpPr>
          <p:cNvPr id="86" name="TextBox 85"/>
          <p:cNvSpPr txBox="1"/>
          <p:nvPr/>
        </p:nvSpPr>
        <p:spPr>
          <a:xfrm>
            <a:off x="8357615" y="5984748"/>
            <a:ext cx="2048256"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poslog_transactions: receipts, lines, tender, voids</a:t>
            </a:r>
          </a:p>
        </p:txBody>
      </p:sp>
      <p:cxnSp>
        <p:nvCxnSpPr>
          <p:cNvPr id="87" name="Connector 86"/>
          <p:cNvCxnSpPr/>
          <p:nvPr/>
        </p:nvCxnSpPr>
        <p:spPr>
          <a:xfrm>
            <a:off x="2011680" y="4206240"/>
            <a:ext cx="0" cy="1499616"/>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6903720" y="4206240"/>
            <a:ext cx="0" cy="1499616"/>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8183879" y="4206240"/>
            <a:ext cx="0" cy="1499616"/>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0" name="Rounded Rectangle 89"/>
          <p:cNvSpPr/>
          <p:nvPr/>
        </p:nvSpPr>
        <p:spPr>
          <a:xfrm>
            <a:off x="2468880" y="6437376"/>
            <a:ext cx="8001000" cy="274320"/>
          </a:xfrm>
          <a:prstGeom prst="roundRect">
            <a:avLst>
              <a:gd name="adj" fmla="val 50000"/>
            </a:avLst>
          </a:prstGeom>
          <a:solidFill>
            <a:srgbClr val="E9FBEF"/>
          </a:solidFill>
          <a:ln w="11430">
            <a:solidFill>
              <a:srgbClr val="00C8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1" name="Picture 90" descr="keycloak.png"/>
          <p:cNvPicPr>
            <a:picLocks noChangeAspect="1"/>
          </p:cNvPicPr>
          <p:nvPr/>
        </p:nvPicPr>
        <p:blipFill>
          <a:blip r:embed="rId7"/>
          <a:stretch>
            <a:fillRect/>
          </a:stretch>
        </p:blipFill>
        <p:spPr>
          <a:xfrm>
            <a:off x="2615184" y="6496812"/>
            <a:ext cx="162306" cy="146304"/>
          </a:xfrm>
          <a:prstGeom prst="rect">
            <a:avLst/>
          </a:prstGeom>
        </p:spPr>
      </p:pic>
      <p:sp>
        <p:nvSpPr>
          <p:cNvPr id="92" name="TextBox 91"/>
          <p:cNvSpPr txBox="1"/>
          <p:nvPr/>
        </p:nvSpPr>
        <p:spPr>
          <a:xfrm>
            <a:off x="2834640" y="6441948"/>
            <a:ext cx="7543800" cy="256032"/>
          </a:xfrm>
          <a:prstGeom prst="rect">
            <a:avLst/>
          </a:prstGeom>
          <a:noFill/>
        </p:spPr>
        <p:txBody>
          <a:bodyPr wrap="square" lIns="18288" tIns="0" rIns="18288" bIns="0" anchor="ctr">
            <a:noAutofit/>
          </a:bodyPr>
          <a:lstStyle/>
          <a:p>
            <a:pPr algn="l">
              <a:lnSpc>
                <a:spcPct val="100000"/>
              </a:lnSpc>
              <a:spcBef>
                <a:spcPts val="0"/>
              </a:spcBef>
              <a:spcAft>
                <a:spcPts val="0"/>
              </a:spcAft>
            </a:pPr>
            <a:r>
              <a:rPr sz="590" b="0" i="0">
                <a:solidFill>
                  <a:srgbClr val="0A3B5E"/>
                </a:solidFill>
              </a:rPr>
              <a:t>Personas: OMS team = SAM UI (viewer) · developers = Claude Code via MCP · builder = power_user · multi-LLM via model aliases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The Demo, mapped to the AI Worker Lifecycle</a:t>
            </a:r>
            <a:br>
              <a:rPr lang="en-US"/>
            </a:br>
            <a:r>
              <a:rPr lang="en-US" sz="2400"/>
              <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Grafana dashboards · offline evals</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(coming soon!)</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event-triggered workflow · A2A delegation</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rgbClr val="5A7486"/>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work in progress – not in this demo</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schema skills + POSLOG introspection</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MongoDB connector · model binding · RBAC</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Builder prompt defines the POS Analyst role</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theme/theme1.xml><?xml version="1.0" encoding="utf-8"?>
<a:theme xmlns:a="http://schemas.openxmlformats.org/drawingml/2006/main" name="Solace Cover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Solace PPT Template - v2.3" id="{6ED5406F-02DB-0040-8A15-E91D241744F1}" vid="{C7064155-23FD-BF44-B3E0-18CB5DA18D1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ompetitors xmlns="3a815f5c-a5cd-4b90-880c-94b0fde8c1f2" xsi:nil="true"/>
    <Industry xmlns="3a815f5c-a5cd-4b90-880c-94b0fde8c1f2" xsi:nil="true"/>
    <Product_x002f_Feature_x002f_Function_x0020__x0028_Multi-select_x0029_ xmlns="3a815f5c-a5cd-4b90-880c-94b0fde8c1f2" xsi:nil="true"/>
    <Partner xmlns="3a815f5c-a5cd-4b90-880c-94b0fde8c1f2" xsi:nil="true"/>
    <lcf76f155ced4ddcb4097134ff3c332f xmlns="22c9c32c-1409-489b-8a0e-8e72e0a66b7a">
      <Terms xmlns="http://schemas.microsoft.com/office/infopath/2007/PartnerControls"/>
    </lcf76f155ced4ddcb4097134ff3c332f>
    <TaxCatchAll xmlns="3a815f5c-a5cd-4b90-880c-94b0fde8c1f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A436CFE72F23C489C3D6E05FEE7A7E7" ma:contentTypeVersion="26" ma:contentTypeDescription="Create a new document." ma:contentTypeScope="" ma:versionID="a2048592e12e647f808186a62f2da4c8">
  <xsd:schema xmlns:xsd="http://www.w3.org/2001/XMLSchema" xmlns:xs="http://www.w3.org/2001/XMLSchema" xmlns:p="http://schemas.microsoft.com/office/2006/metadata/properties" xmlns:ns2="22c9c32c-1409-489b-8a0e-8e72e0a66b7a" xmlns:ns3="3a815f5c-a5cd-4b90-880c-94b0fde8c1f2" targetNamespace="http://schemas.microsoft.com/office/2006/metadata/properties" ma:root="true" ma:fieldsID="c6545fdc1f898683995ceceab67032c1" ns2:_="" ns3:_="">
    <xsd:import namespace="22c9c32c-1409-489b-8a0e-8e72e0a66b7a"/>
    <xsd:import namespace="3a815f5c-a5cd-4b90-880c-94b0fde8c1f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3:Industry" minOccurs="0"/>
                <xsd:element ref="ns3:Competitors" minOccurs="0"/>
                <xsd:element ref="ns3:Partner" minOccurs="0"/>
                <xsd:element ref="ns3:Product_x002f_Feature_x002f_Function_x0020__x0028_Multi-select_x0029_" minOccurs="0"/>
                <xsd:element ref="ns2:MediaServiceObjectDetectorVersions" minOccurs="0"/>
                <xsd:element ref="ns2:lcf76f155ced4ddcb4097134ff3c332f" minOccurs="0"/>
                <xsd:element ref="ns3:TaxCatchAll"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2c9c32c-1409-489b-8a0e-8e72e0a66b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description="" ma:indexed="true"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lcf76f155ced4ddcb4097134ff3c332f" ma:index="26" nillable="true" ma:taxonomy="true" ma:internalName="lcf76f155ced4ddcb4097134ff3c332f" ma:taxonomyFieldName="MediaServiceImageTags" ma:displayName="Image Tags" ma:readOnly="false" ma:fieldId="{5cf76f15-5ced-4ddc-b409-7134ff3c332f}" ma:taxonomyMulti="true" ma:sspId="bc2f205f-3591-4b07-93bc-42e411de0517" ma:termSetId="09814cd3-568e-fe90-9814-8d621ff8fb84" ma:anchorId="fba54fb3-c3e1-fe81-a776-ca4b69148c4d" ma:open="true" ma:isKeyword="false">
      <xsd:complexType>
        <xsd:sequence>
          <xsd:element ref="pc:Terms" minOccurs="0" maxOccurs="1"/>
        </xsd:sequence>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Location" ma:index="29" nillable="true" ma:displayName="Location" ma:indexed="true" ma:internalName="MediaServiceLocation" ma:readOnly="true">
      <xsd:simpleType>
        <xsd:restriction base="dms:Text"/>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815f5c-a5cd-4b90-880c-94b0fde8c1f2"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Industry" ma:index="20" nillable="true" ma:displayName="Solutions" ma:internalName="Industry">
      <xsd:complexType>
        <xsd:complexContent>
          <xsd:extension base="dms:MultiChoice">
            <xsd:sequence>
              <xsd:element name="Value" maxOccurs="unbounded" minOccurs="0" nillable="true">
                <xsd:simpleType>
                  <xsd:restriction base="dms:Choice">
                    <xsd:enumeration value="--IndustryOrVertical--"/>
                    <xsd:enumeration value="Aviation"/>
                    <xsd:enumeration value="Capital Markets"/>
                    <xsd:enumeration value="Post-Trade Processing Modernization"/>
                    <xsd:enumeration value="eFX Modernization"/>
                    <xsd:enumeration value="FX Trading"/>
                    <xsd:enumeration value="Exchanges"/>
                    <xsd:enumeration value="Banking"/>
                    <xsd:enumeration value="Insurance"/>
                    <xsd:enumeration value="Payments"/>
                    <xsd:enumeration value="Telecom"/>
                    <xsd:enumeration value="Transportation and Logistics"/>
                    <xsd:enumeration value="Pharmaceuticals"/>
                    <xsd:enumeration value="Manufacturing"/>
                    <xsd:enumeration value="Retail​​​​​​​"/>
                    <xsd:enumeration value="Consumer Packaged Goods (CPG)"/>
                    <xsd:enumeration value="Energy and Resources"/>
                    <xsd:enumeration value="Gaming"/>
                    <xsd:enumeration value="Government"/>
                    <xsd:enumeration value="--Horizontal Business--"/>
                    <xsd:enumeration value="Real-time Supply Chain"/>
                    <xsd:enumeration value="Real-time Order and Inventory Management - Lead to Cash"/>
                    <xsd:enumeration value="Post Trade Event Mesh"/>
                    <xsd:enumeration value="Real Time Payments Transformation"/>
                    <xsd:enumeration value="Digital Factory"/>
                    <xsd:enumeration value="Hire to retire"/>
                    <xsd:enumeration value="Connected Vehicle - Car, Rail, Marine, Air"/>
                    <xsd:enumeration value="E-comm and Retail Store Transformation"/>
                    <xsd:enumeration value="--Horizontal Technical--"/>
                    <xsd:enumeration value="Middleware Modernization (rip and replace)"/>
                    <xsd:enumeration value="Event Driven IoT​​​​​​​"/>
                    <xsd:enumeration value="Event Driven Integration"/>
                    <xsd:enumeration value="Event Driven Architecture"/>
                    <xsd:enumeration value="Event Driven APIs"/>
                    <xsd:enumeration value="Event Driven Microservices"/>
                    <xsd:enumeration value="Hybrid Cloud"/>
                    <xsd:enumeration value="Event Streaming"/>
                    <xsd:enumeration value="High Performance Messaging"/>
                  </xsd:restriction>
                </xsd:simpleType>
              </xsd:element>
            </xsd:sequence>
          </xsd:extension>
        </xsd:complexContent>
      </xsd:complexType>
    </xsd:element>
    <xsd:element name="Competitors" ma:index="21" nillable="true" ma:displayName="Competitors" ma:description="Competitors or competitor brokers" ma:indexed="true" ma:internalName="Competitors">
      <xsd:simpleType>
        <xsd:restriction base="dms:Text">
          <xsd:maxLength value="255"/>
        </xsd:restriction>
      </xsd:simpleType>
    </xsd:element>
    <xsd:element name="Partner" ma:index="22" nillable="true" ma:displayName="Partner" ma:indexed="true" ma:internalName="Partner">
      <xsd:simpleType>
        <xsd:restriction base="dms:Text">
          <xsd:maxLength value="255"/>
        </xsd:restriction>
      </xsd:simpleType>
    </xsd:element>
    <xsd:element name="Product_x002f_Feature_x002f_Function_x0020__x0028_Multi-select_x0029_" ma:index="23" nillable="true" ma:displayName="Product/Feature/Function (Multi-select)" ma:internalName="Product_x002F_Feature_x002F_Function_x0020__x0028_Multi_x002d_select_x0029_">
      <xsd:complexType>
        <xsd:complexContent>
          <xsd:extension base="dms:MultiChoice">
            <xsd:sequence>
              <xsd:element name="Value" maxOccurs="unbounded" minOccurs="0" nillable="true">
                <xsd:simpleType>
                  <xsd:restriction base="dms:Choice">
                    <xsd:enumeration value="Distributed Tracing"/>
                    <xsd:enumeration value="Event Portal for Solace"/>
                    <xsd:enumeration value="Event Portal for Kafka"/>
                    <xsd:enumeration value="Partitioned Queues"/>
                    <xsd:enumeration value="Support Services"/>
                  </xsd:restriction>
                </xsd:simpleType>
              </xsd:element>
            </xsd:sequence>
          </xsd:extension>
        </xsd:complexContent>
      </xsd:complexType>
    </xsd:element>
    <xsd:element name="TaxCatchAll" ma:index="27" nillable="true" ma:displayName="Taxonomy Catch All Column" ma:hidden="true" ma:list="{021e00c7-3115-49f0-b64a-cb3b8180b352}" ma:internalName="TaxCatchAll" ma:showField="CatchAllData" ma:web="3a815f5c-a5cd-4b90-880c-94b0fde8c1f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87374D4-38C3-4AB6-BA51-B10FCF82067A}">
  <ds:schemaRefs>
    <ds:schemaRef ds:uri="http://schemas.microsoft.com/office/2006/metadata/properties"/>
    <ds:schemaRef ds:uri="http://schemas.microsoft.com/office/infopath/2007/PartnerControls"/>
    <ds:schemaRef ds:uri="3a815f5c-a5cd-4b90-880c-94b0fde8c1f2"/>
    <ds:schemaRef ds:uri="22c9c32c-1409-489b-8a0e-8e72e0a66b7a"/>
  </ds:schemaRefs>
</ds:datastoreItem>
</file>

<file path=customXml/itemProps2.xml><?xml version="1.0" encoding="utf-8"?>
<ds:datastoreItem xmlns:ds="http://schemas.openxmlformats.org/officeDocument/2006/customXml" ds:itemID="{D84DDC01-D87E-4995-8BE8-CDC838272225}">
  <ds:schemaRefs>
    <ds:schemaRef ds:uri="http://schemas.microsoft.com/sharepoint/v3/contenttype/forms"/>
  </ds:schemaRefs>
</ds:datastoreItem>
</file>

<file path=customXml/itemProps3.xml><?xml version="1.0" encoding="utf-8"?>
<ds:datastoreItem xmlns:ds="http://schemas.openxmlformats.org/officeDocument/2006/customXml" ds:itemID="{3C6A39DD-970A-44A1-A020-E572850544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2c9c32c-1409-489b-8a0e-8e72e0a66b7a"/>
    <ds:schemaRef ds:uri="3a815f5c-a5cd-4b90-880c-94b0fde8c1f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1487</Words>
  <Application>Microsoft Macintosh PowerPoint</Application>
  <PresentationFormat>Breitbild</PresentationFormat>
  <Paragraphs>195</Paragraphs>
  <Slides>4</Slides>
  <Notes>4</Notes>
  <HiddenSlides>0</HiddenSlides>
  <MMClips>0</MMClips>
  <ScaleCrop>false</ScaleCrop>
  <HeadingPairs>
    <vt:vector size="6" baseType="variant">
      <vt:variant>
        <vt:lpstr>Verwendete Schriftarten</vt:lpstr>
      </vt:variant>
      <vt:variant>
        <vt:i4>7</vt:i4>
      </vt:variant>
      <vt:variant>
        <vt:lpstr>Design</vt:lpstr>
      </vt:variant>
      <vt:variant>
        <vt:i4>3</vt:i4>
      </vt:variant>
      <vt:variant>
        <vt:lpstr>Folientitel</vt:lpstr>
      </vt:variant>
      <vt:variant>
        <vt:i4>4</vt:i4>
      </vt:variant>
    </vt:vector>
  </HeadingPairs>
  <TitlesOfParts>
    <vt:vector size="14" baseType="lpstr">
      <vt:lpstr>72 Brand Medium</vt:lpstr>
      <vt:lpstr>Aptos</vt:lpstr>
      <vt:lpstr>Arial</vt:lpstr>
      <vt:lpstr>Calibri</vt:lpstr>
      <vt:lpstr>Gill Sans</vt:lpstr>
      <vt:lpstr>open-sans</vt:lpstr>
      <vt:lpstr>Segoe UI</vt:lpstr>
      <vt:lpstr>Solace Covers</vt:lpstr>
      <vt:lpstr>Solace Slides</vt:lpstr>
      <vt:lpstr>1_Solace Slides</vt:lpstr>
      <vt:lpstr>AI Agents are like Microservices –  Event Driven for robustness</vt:lpstr>
      <vt:lpstr>Solace Agent Mesh Vision Managing Your AI Worker Lifecycle</vt:lpstr>
      <vt:lpstr>Solace Agent Mesh v2 on Kubernetes (Go Stack)</vt:lpstr>
      <vt:lpstr>Retail 360 Use Case – Agents, Workflow,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Johnson</dc:creator>
  <cp:lastModifiedBy>EXTERNAL Martens Alexander (Solace, BD/DPA-GOI7)</cp:lastModifiedBy>
  <cp:revision>15</cp:revision>
  <dcterms:created xsi:type="dcterms:W3CDTF">2025-05-07T00:01:48Z</dcterms:created>
  <dcterms:modified xsi:type="dcterms:W3CDTF">2026-07-21T16:01:54Z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0x0101004A436CFE72F23C489C3D6E05FEE7A7E7</vt:lpwstr>
  </property>
</Properties>
</file>